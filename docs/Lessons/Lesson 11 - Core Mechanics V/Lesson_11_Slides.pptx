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your game became genuinely replayable - a real freeze, a real restart. Quick show of hands - who tested a full win-then-restart AND a full lose-then-restart?" [Pause, call on 1-2 volunteers]
"Two things from last week I want you to carry into today. First, game state: when you restart, EVERYTHING that changed has to be put back, including anything extra you added. Second, the bug. Some of you found a round that simply never ends - you destroyed some enemies, let the others escape, and nothing happened: no win, no loss, and R did nothing. Let's give it a name: the Stalemate. Hold that thought. It's still in your game, on purpose, and today it's about to get more interesting." [Do NOT explain the fix. If a student asks, say: 'What has to be true for a round to be over?']
"Today's a big one - by the end of class, your game reaches its second major milestone of the year. Clearing one wave of enemies is about to become clearing several, in a row, before you actually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Lesson 6, your win-check has asked exactly one question: are all the enemies gone? Today, that question grows a second part: gone, AND is this the last wave? If both are true, you really win. If enemies are gone but more waves remain, the round just... continues."
"This is the first time this course asks you to nest one decision inside another. It's a small change in code, but it's a genuinely new shape of thinking - a decision whose answer depends on a second, smaller decision."
[Discussion question] "Can anyone think of a decision in real life that works this way - where the answer to one question depends on a second question nested inside it?" (Examples to draw out if needed: "can I go to the party" depends on "is my homework done," which itself might depend on "do I understand the assignment.")
[Timing checkpoint: wrap by 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next slide: the Activity Diagram] "Here's the whole decision in one picture. An enemy is destroyed: enemies_remaining goes down by one. Is it zero? If not, the wave simply continues. If it is, the wave is cleared - and now the second question: is this the last wave? Yes: the real win, and R restarts as before. No: the next wave. wave goes up by one, enemies_remaining goes back to five, and we call spawn_enemies again. Notice score, lives and game_active are untouched. This is the same picture in every engine, whatever the code looks like."
[Timing checkpoint: wrap by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good news: you're not writing new enemy-spawning code today. You've had it since Lesson 5, and Lesson 10 already made it callable a second way, for restarts. Today it gets a THIRD way to run: every time a wave is cleared, if more waves remain."
[Demo cue: switch to Unity, open last week's project and GameManager.cs]
"Watch. SpawnEnemies() on EnemySpawner already has two callers: Start() and ResetGame(). Today I add three static fields to GameManager: wave, totalWaves and nextWaveRequested. Then I turn RegisterKill()'s win check into an if/else: if wave is at least totalWaves, hasWon and gameActive, exactly as before. Otherwise wave++, enemiesRemaining back to 5, and nextWaveRequested = true." [Build the if/else live]
"Why a flag, and not just spawner.SpawnEnemies() right there? Try it." [Type spawner.SpawnEnemies() inside RegisterKill() and let the compiler complain] "RegisterKill() is static - it belongs to the GameManager class, not to the one GameManager object in the scene, and the Spawner slot we filled in last week belongs to that object. A static method can't see it. So RegisterKill() leaves a note, and GameManager's own Update(), which does belong to the object, checks the note, clears it and calls spawner.SpawnEnemies()." [Add the nextWaveRequested check to Update()] "That's the real cost of static members. We'll come back to it in Semester 2."
[Demo cue: add public Text waveText to HUD.cs, one line in Update(), drag WaveText onto the slot in the Inspector, press Play and clear wave 1 into wave 2]
"Same enemy-creation method, zero changes to it. Three callers in: EnemySpawner's Start(), every restart through ResetGame(), and now every wave clear through GameManager's Update(). That's the whole idea."
[Timing checkpoint: wrap by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next slide: New State, Same Habit] "Last week's habit applies the moment you add anything new. wave and totalWaves are new game state, and they live on the GameManager, just like score and lives, because more than one object cares about them. So: does the restart put wave back to 1? I'll check it right now." [Demo cue: in the Unity demo, reach wave 3, lose, press R, and point at the HUD: it must say Wave: 1. If you forgot ResetGame()'s wave = 1, you will see Wave: 3 - leave that on screen for a moment before fixing it.]
"And if you add a wave message today, an effect, a sound, anything: ask the same two questions. What does it change when the round ends or the wave changes? And what puts it back?"
[Timing checkpoint: wrap by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second to think about everything your game can do now: move, shoot, face a wave of enemies, track a score, survive with limited lives, restart cleanly - and now, face MULTIPLE waves before really winning. That's not a small list. That's the Level 2 Complete milestone from your capstone's design document."
"Back in Lesson 6, Level 1 MVP meant 'a complete, playable loop, start to finish.' Level 2 Complete means something more: a game with actual depth - failure that matters, progress that builds, and a real sense of escalation as more waves arrive. This is the kind of thing that starts to feel like an actual arcade game, not just a working prototype."
"From here through Lesson 15, everything is about making this same loop feel good - sound, animation, difficulty, and polish. The mechanics are done. What's left is making them sing."
[Timing checkpoint: wrap by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Today's goal: clearing a wave spawns a new one, up to 3, and only clearing wave 3 is a real win."
[Hand out engine-specific handouts]
"Test a FULL 3-wave playthrough today, not just wave 1 - and separately, make sure losing your last life mid-wave still works correctly, whichever wave you're on."
"One more thing. The Stalemate is still in there, and now it can freeze the game at any of the three waves. If it starts to annoy you, that's your Level 3. You already know how to find it."
"Questions before we start lab? ... Let's build your second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single most common bug this week: forgetting the wave-count check entirely, so clearing wave 1 immediately shows the win message. Test this explicitly - the win should NOT appear until the final wave.
- Second most common: the wave-advance branch accidentally touching score or lives - only enemies_remaining and the wave counter should change between waves.
- Game-state drift: wave not reset on restart. Have students test restarting from mid-wave-2 or mid-wave-3, not just from a fresh game - restart should always return to wave 1. Point them back to the 'Check Your Game State' list in the Handout.
- The Stalemate: students will start reporting 'my wave never ends.' Confirm it is real, name it, do not hand over the fix, and send them back to their Lesson 10 Level 3 notes. Students who already fixed it should check that the fix works at every wave. Each Key's Level 3 section has the worked fix.
- Engine notes: Godot spawns the next wave with call_deferred (a wave clears mid-collision); Unity requests the next wave with a flag that GameManager's Update() acts on; Scratch broadcasts [spawn enemies]; GameMaker calls spawn_enemies(), with a Function Call block in Visual. A doubled wave in Scratch usually means a spawn script is still on [start game].
- Circulate by engine cluster as usual. At 1:50, call time and do a real celebration share-out - this is the Level 2 Complete milestone. Consider having 2-3 students demo a full 3-wave playthrough from start to finish, the same energy as Lesson 6's milestone share-out.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image" Target="../media/image-13-2.png"/><Relationship Id="rId5" Type="http://schemas.openxmlformats.org/officeDocument/2006/relationships/image" Target="../media/image-13-2.png"/><Relationship Id="rId6" Type="http://schemas.openxmlformats.org/officeDocument/2006/relationships/image" Target="../media/image-13-2.png"/><Relationship Id="rId7" Type="http://schemas.openxmlformats.org/officeDocument/2006/relationships/image" Target="../media/image-13-2.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3.png"/><Relationship Id="rId5" Type="http://schemas.openxmlformats.org/officeDocument/2006/relationships/image" Target="../media/image-16-3.png"/><Relationship Id="rId6" Type="http://schemas.openxmlformats.org/officeDocument/2006/relationships/image" Target="../media/image-16-3.png"/><Relationship Id="rId7" Type="http://schemas.openxmlformats.org/officeDocument/2006/relationships/image" Target="../media/image-16-3.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11</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Core Mechanics V: Wave After Wave</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11  -  Level 2 Complete Milestone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11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Nest a second decision inside an existing win-check</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Reuse spawn_enemies from a third caller: the game itself</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Keep new state (wave) on the GameManager - and reset it</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what the Level 2 Complete milestone means</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the four active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Unity (C#),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reuses the spawn routine from Lesson 10</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This is a milestone lesson - Level 2 Complete!</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10 -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state machines, code reuse/refactoring, game balance and pacing (intermediate).</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0:00 - 0:05</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Lesson 10 recap (game state, the Stalemate)</a:t>
            </a:r>
            <a:endParaRPr lang="en-US" sz="1230" dirty="0"/>
          </a:p>
        </p:txBody>
      </p:sp>
      <p:sp>
        <p:nvSpPr>
          <p:cNvPr id="8" name="Shape 4"/>
          <p:cNvSpPr/>
          <p:nvPr/>
        </p:nvSpPr>
        <p:spPr>
          <a:xfrm>
            <a:off x="548640" y="1883664"/>
            <a:ext cx="11064240" cy="512064"/>
          </a:xfrm>
          <a:prstGeom prst="roundRect">
            <a:avLst>
              <a:gd name="adj" fmla="val 14286"/>
            </a:avLst>
          </a:prstGeom>
          <a:solidFill>
            <a:srgbClr val="FFFFFF"/>
          </a:solidFill>
          <a:ln w="12700">
            <a:solidFill>
              <a:srgbClr val="DCE3EC"/>
            </a:solidFill>
            <a:prstDash val="solid"/>
          </a:ln>
        </p:spPr>
      </p:sp>
      <p:sp>
        <p:nvSpPr>
          <p:cNvPr id="9" name="Text 5"/>
          <p:cNvSpPr/>
          <p:nvPr/>
        </p:nvSpPr>
        <p:spPr>
          <a:xfrm>
            <a:off x="822960" y="188366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0:05 - 0:20</a:t>
            </a:r>
            <a:endParaRPr lang="en-US" sz="1300" dirty="0"/>
          </a:p>
        </p:txBody>
      </p:sp>
      <p:sp>
        <p:nvSpPr>
          <p:cNvPr id="10" name="Text 6"/>
          <p:cNvSpPr/>
          <p:nvPr/>
        </p:nvSpPr>
        <p:spPr>
          <a:xfrm>
            <a:off x="3017520" y="188366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One More Question: Is This the Last Wave?</a:t>
            </a:r>
            <a:endParaRPr lang="en-US" sz="1230" dirty="0"/>
          </a:p>
        </p:txBody>
      </p:sp>
      <p:sp>
        <p:nvSpPr>
          <p:cNvPr id="11" name="Shape 7"/>
          <p:cNvSpPr/>
          <p:nvPr/>
        </p:nvSpPr>
        <p:spPr>
          <a:xfrm>
            <a:off x="548640" y="248716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48716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0:20 - 0:40</a:t>
            </a:r>
            <a:endParaRPr lang="en-US" sz="1300" dirty="0"/>
          </a:p>
        </p:txBody>
      </p:sp>
      <p:sp>
        <p:nvSpPr>
          <p:cNvPr id="13" name="Text 9"/>
          <p:cNvSpPr/>
          <p:nvPr/>
        </p:nvSpPr>
        <p:spPr>
          <a:xfrm>
            <a:off x="3017520" y="248716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The Same Spawn Code, Called a Third Way</a:t>
            </a:r>
            <a:endParaRPr lang="en-US" sz="1230" dirty="0"/>
          </a:p>
        </p:txBody>
      </p:sp>
      <p:sp>
        <p:nvSpPr>
          <p:cNvPr id="14" name="Shape 10"/>
          <p:cNvSpPr/>
          <p:nvPr/>
        </p:nvSpPr>
        <p:spPr>
          <a:xfrm>
            <a:off x="548640" y="309067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309067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0:40 - 0:50</a:t>
            </a:r>
            <a:endParaRPr lang="en-US" sz="1300" dirty="0"/>
          </a:p>
        </p:txBody>
      </p:sp>
      <p:sp>
        <p:nvSpPr>
          <p:cNvPr id="16" name="Text 12"/>
          <p:cNvSpPr/>
          <p:nvPr/>
        </p:nvSpPr>
        <p:spPr>
          <a:xfrm>
            <a:off x="3017520" y="309067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Milestone Moment: What "Level 2 Complete" Actually Means</a:t>
            </a:r>
            <a:endParaRPr lang="en-US" sz="1230" dirty="0"/>
          </a:p>
        </p:txBody>
      </p:sp>
      <p:sp>
        <p:nvSpPr>
          <p:cNvPr id="17" name="Shape 13"/>
          <p:cNvSpPr/>
          <p:nvPr/>
        </p:nvSpPr>
        <p:spPr>
          <a:xfrm>
            <a:off x="548640" y="3694176"/>
            <a:ext cx="11064240" cy="512064"/>
          </a:xfrm>
          <a:prstGeom prst="roundRect">
            <a:avLst>
              <a:gd name="adj" fmla="val 14286"/>
            </a:avLst>
          </a:prstGeom>
          <a:solidFill>
            <a:srgbClr val="FFFFFF"/>
          </a:solidFill>
          <a:ln w="12700">
            <a:solidFill>
              <a:srgbClr val="DCE3EC"/>
            </a:solidFill>
            <a:prstDash val="solid"/>
          </a:ln>
        </p:spPr>
      </p:sp>
      <p:sp>
        <p:nvSpPr>
          <p:cNvPr id="18" name="Text 14"/>
          <p:cNvSpPr/>
          <p:nvPr/>
        </p:nvSpPr>
        <p:spPr>
          <a:xfrm>
            <a:off x="822960" y="3694176"/>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0:50 - 0:55</a:t>
            </a:r>
            <a:endParaRPr lang="en-US" sz="1300" dirty="0"/>
          </a:p>
        </p:txBody>
      </p:sp>
      <p:sp>
        <p:nvSpPr>
          <p:cNvPr id="19" name="Text 15"/>
          <p:cNvSpPr/>
          <p:nvPr/>
        </p:nvSpPr>
        <p:spPr>
          <a:xfrm>
            <a:off x="3017520" y="3694176"/>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Introduce lab exercise, hand out engine-specific handouts</a:t>
            </a:r>
            <a:endParaRPr lang="en-US" sz="1230" dirty="0"/>
          </a:p>
        </p:txBody>
      </p:sp>
      <p:sp>
        <p:nvSpPr>
          <p:cNvPr id="20" name="Shape 16"/>
          <p:cNvSpPr/>
          <p:nvPr/>
        </p:nvSpPr>
        <p:spPr>
          <a:xfrm>
            <a:off x="548640" y="4297680"/>
            <a:ext cx="11064240" cy="420624"/>
          </a:xfrm>
          <a:prstGeom prst="roundRect">
            <a:avLst>
              <a:gd name="adj" fmla="val 17391"/>
            </a:avLst>
          </a:prstGeom>
          <a:solidFill>
            <a:srgbClr val="C99A2E"/>
          </a:solidFill>
          <a:ln w="12700">
            <a:solidFill>
              <a:srgbClr val="DCE3EC"/>
            </a:solidFill>
            <a:prstDash val="solid"/>
          </a:ln>
        </p:spPr>
      </p:sp>
      <p:sp>
        <p:nvSpPr>
          <p:cNvPr id="21" name="Text 17"/>
          <p:cNvSpPr/>
          <p:nvPr/>
        </p:nvSpPr>
        <p:spPr>
          <a:xfrm>
            <a:off x="822960" y="4297680"/>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LAB TIME</a:t>
            </a:r>
            <a:endParaRPr lang="en-US" sz="1250" dirty="0"/>
          </a:p>
        </p:txBody>
      </p:sp>
      <p:sp>
        <p:nvSpPr>
          <p:cNvPr id="22" name="Text 18"/>
          <p:cNvSpPr/>
          <p:nvPr/>
        </p:nvSpPr>
        <p:spPr>
          <a:xfrm>
            <a:off x="3017520" y="4297680"/>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Wave After Wave —</a:t>
            </a:r>
            <a:endParaRPr lang="en-US" sz="1250" dirty="0"/>
          </a:p>
        </p:txBody>
      </p:sp>
      <p:sp>
        <p:nvSpPr>
          <p:cNvPr id="23" name="Shape 19"/>
          <p:cNvSpPr/>
          <p:nvPr/>
        </p:nvSpPr>
        <p:spPr>
          <a:xfrm>
            <a:off x="548640" y="4809744"/>
            <a:ext cx="11064240" cy="512064"/>
          </a:xfrm>
          <a:prstGeom prst="roundRect">
            <a:avLst>
              <a:gd name="adj" fmla="val 14286"/>
            </a:avLst>
          </a:prstGeom>
          <a:solidFill>
            <a:srgbClr val="FFFFFF"/>
          </a:solidFill>
          <a:ln w="12700">
            <a:solidFill>
              <a:srgbClr val="DCE3EC"/>
            </a:solidFill>
            <a:prstDash val="solid"/>
          </a:ln>
        </p:spPr>
      </p:sp>
      <p:sp>
        <p:nvSpPr>
          <p:cNvPr id="24" name="Text 20"/>
          <p:cNvSpPr/>
          <p:nvPr/>
        </p:nvSpPr>
        <p:spPr>
          <a:xfrm>
            <a:off x="822960" y="480974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0:55 - 1:50</a:t>
            </a:r>
            <a:endParaRPr lang="en-US" sz="1300" dirty="0"/>
          </a:p>
        </p:txBody>
      </p:sp>
      <p:sp>
        <p:nvSpPr>
          <p:cNvPr id="25" name="Text 21"/>
          <p:cNvSpPr/>
          <p:nvPr/>
        </p:nvSpPr>
        <p:spPr>
          <a:xfrm>
            <a:off x="3017520" y="480974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Build multiple waves, reaching the milestone</a:t>
            </a:r>
            <a:endParaRPr lang="en-US" sz="1230" dirty="0"/>
          </a:p>
        </p:txBody>
      </p:sp>
      <p:sp>
        <p:nvSpPr>
          <p:cNvPr id="26" name="Shape 22"/>
          <p:cNvSpPr/>
          <p:nvPr/>
        </p:nvSpPr>
        <p:spPr>
          <a:xfrm>
            <a:off x="548640" y="5413248"/>
            <a:ext cx="11064240" cy="512064"/>
          </a:xfrm>
          <a:prstGeom prst="roundRect">
            <a:avLst>
              <a:gd name="adj" fmla="val 14286"/>
            </a:avLst>
          </a:prstGeom>
          <a:solidFill>
            <a:srgbClr val="FFFFFF"/>
          </a:solidFill>
          <a:ln w="12700">
            <a:solidFill>
              <a:srgbClr val="DCE3EC"/>
            </a:solidFill>
            <a:prstDash val="solid"/>
          </a:ln>
        </p:spPr>
      </p:sp>
      <p:sp>
        <p:nvSpPr>
          <p:cNvPr id="27" name="Text 23"/>
          <p:cNvSpPr/>
          <p:nvPr/>
        </p:nvSpPr>
        <p:spPr>
          <a:xfrm>
            <a:off x="822960" y="541324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28" name="Text 24"/>
          <p:cNvSpPr/>
          <p:nvPr/>
        </p:nvSpPr>
        <p:spPr>
          <a:xfrm>
            <a:off x="3017520" y="541324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Exit check: milestone celebration share-out</a:t>
            </a:r>
            <a:endParaRPr lang="en-US" sz="123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10 recap - your game got genuinely replayable.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10:</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54864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game_active flag that freezes gameplay, and one reset routine run by R</a:t>
            </a:r>
            <a:endParaRPr lang="en-US" sz="1500" dirty="0"/>
          </a:p>
        </p:txBody>
      </p:sp>
      <p:pic>
        <p:nvPicPr>
          <p:cNvPr id="9" name="Image 2" descr="icons/check.png">    </p:cNvPr>
          <p:cNvPicPr>
            <a:picLocks noChangeAspect="1"/>
          </p:cNvPicPr>
          <p:nvPr/>
        </p:nvPicPr>
        <p:blipFill>
          <a:blip r:embed="rId3"/>
          <a:stretch>
            <a:fillRect/>
          </a:stretch>
        </p:blipFill>
        <p:spPr>
          <a:xfrm>
            <a:off x="548640" y="2432304"/>
            <a:ext cx="365760" cy="365760"/>
          </a:xfrm>
          <a:prstGeom prst="rect">
            <a:avLst/>
          </a:prstGeom>
        </p:spPr>
      </p:pic>
      <p:sp>
        <p:nvSpPr>
          <p:cNvPr id="10" name="Text 5"/>
          <p:cNvSpPr/>
          <p:nvPr/>
        </p:nvSpPr>
        <p:spPr>
          <a:xfrm>
            <a:off x="1051560" y="2359152"/>
            <a:ext cx="10332720" cy="54864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Game state: everything that changed must be put back on restart</a:t>
            </a:r>
            <a:endParaRPr lang="en-US" sz="1500" dirty="0"/>
          </a:p>
        </p:txBody>
      </p:sp>
      <p:pic>
        <p:nvPicPr>
          <p:cNvPr id="11" name="Image 3" descr="icons/check.png">    </p:cNvPr>
          <p:cNvPicPr>
            <a:picLocks noChangeAspect="1"/>
          </p:cNvPicPr>
          <p:nvPr/>
        </p:nvPicPr>
        <p:blipFill>
          <a:blip r:embed="rId4"/>
          <a:stretch>
            <a:fillRect/>
          </a:stretch>
        </p:blipFill>
        <p:spPr>
          <a:xfrm>
            <a:off x="548640" y="3035808"/>
            <a:ext cx="365760" cy="365760"/>
          </a:xfrm>
          <a:prstGeom prst="rect">
            <a:avLst/>
          </a:prstGeom>
        </p:spPr>
      </p:pic>
      <p:sp>
        <p:nvSpPr>
          <p:cNvPr id="12" name="Text 6"/>
          <p:cNvSpPr/>
          <p:nvPr/>
        </p:nvSpPr>
        <p:spPr>
          <a:xfrm>
            <a:off x="1051560" y="2962656"/>
            <a:ext cx="10332720" cy="54864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The Stalemate: last week's Level 3 bug - still in your game, on purpose</a:t>
            </a:r>
            <a:endParaRPr lang="en-US" sz="1500" dirty="0"/>
          </a:p>
        </p:txBody>
      </p:sp>
      <p:pic>
        <p:nvPicPr>
          <p:cNvPr id="13" name="Image 4" descr="icons/check.png">    </p:cNvPr>
          <p:cNvPicPr>
            <a:picLocks noChangeAspect="1"/>
          </p:cNvPicPr>
          <p:nvPr/>
        </p:nvPicPr>
        <p:blipFill>
          <a:blip r:embed="rId5"/>
          <a:stretch>
            <a:fillRect/>
          </a:stretch>
        </p:blipFill>
        <p:spPr>
          <a:xfrm>
            <a:off x="548640" y="3639312"/>
            <a:ext cx="365760" cy="365760"/>
          </a:xfrm>
          <a:prstGeom prst="rect">
            <a:avLst/>
          </a:prstGeom>
        </p:spPr>
      </p:pic>
      <p:sp>
        <p:nvSpPr>
          <p:cNvPr id="14" name="Text 7"/>
          <p:cNvSpPr/>
          <p:nvPr/>
        </p:nvSpPr>
        <p:spPr>
          <a:xfrm>
            <a:off x="1051560" y="3566160"/>
            <a:ext cx="10332720" cy="54864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clearing one wave becomes clearing several before you truly win</a:t>
            </a:r>
            <a:endParaRPr lang="en-US" sz="1500" dirty="0"/>
          </a:p>
        </p:txBody>
      </p:sp>
      <p:sp>
        <p:nvSpPr>
          <p:cNvPr id="16" name="Shape 8"/>
          <p:cNvSpPr/>
          <p:nvPr/>
        </p:nvSpPr>
        <p:spPr>
          <a:xfrm>
            <a:off x="548640" y="4343400"/>
            <a:ext cx="11064240" cy="1371600"/>
          </a:xfrm>
          <a:prstGeom prst="roundRect">
            <a:avLst>
              <a:gd name="adj" fmla="val 8000"/>
            </a:avLst>
          </a:prstGeom>
          <a:solidFill>
            <a:srgbClr val="EDF2F8"/>
          </a:solidFill>
          <a:ln/>
        </p:spPr>
      </p:sp>
      <p:pic>
        <p:nvPicPr>
          <p:cNvPr id="17" name="Image 5" descr="icons/wrench.png">    </p:cNvPr>
          <p:cNvPicPr>
            <a:picLocks noChangeAspect="1"/>
          </p:cNvPicPr>
          <p:nvPr/>
        </p:nvPicPr>
        <p:blipFill>
          <a:blip r:embed="rId6"/>
          <a:stretch>
            <a:fillRect/>
          </a:stretch>
        </p:blipFill>
        <p:spPr>
          <a:xfrm>
            <a:off x="777240" y="4572000"/>
            <a:ext cx="548640" cy="548640"/>
          </a:xfrm>
          <a:prstGeom prst="rect">
            <a:avLst/>
          </a:prstGeom>
        </p:spPr>
      </p:pic>
      <p:sp>
        <p:nvSpPr>
          <p:cNvPr id="18" name="Text 9"/>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everything builds on the spawn routine you already have.</a:t>
            </a:r>
            <a:endParaRPr lang="en-US" sz="1400" dirty="0"/>
          </a:p>
        </p:txBody>
      </p:sp>
      <p:sp>
        <p:nvSpPr>
          <p:cNvPr id="19" name="Text 1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0" name="Text 1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21" name="Text 1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One More Question</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Is this actually the last wave?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Nesting a Decision</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15 min</a:t>
            </a:r>
            <a:endParaRPr lang="en-US" sz="1200" dirty="0"/>
          </a:p>
        </p:txBody>
      </p:sp>
      <p:sp>
        <p:nvSpPr>
          <p:cNvPr id="6" name="Shape 3"/>
          <p:cNvSpPr/>
          <p:nvPr/>
        </p:nvSpPr>
        <p:spPr>
          <a:xfrm>
            <a:off x="548640" y="1371600"/>
            <a:ext cx="11064240" cy="1463040"/>
          </a:xfrm>
          <a:prstGeom prst="roundRect">
            <a:avLst>
              <a:gd name="adj" fmla="val 7500"/>
            </a:avLst>
          </a:prstGeom>
          <a:solidFill>
            <a:srgbClr val="EDF2F8"/>
          </a:solidFill>
          <a:ln/>
        </p:spPr>
      </p:sp>
      <p:pic>
        <p:nvPicPr>
          <p:cNvPr id="7" name="Image 1" descr="icons/design.png">    </p:cNvPr>
          <p:cNvPicPr>
            <a:picLocks noChangeAspect="1"/>
          </p:cNvPicPr>
          <p:nvPr/>
        </p:nvPicPr>
        <p:blipFill>
          <a:blip r:embed="rId2"/>
          <a:stretch>
            <a:fillRect/>
          </a:stretch>
        </p:blipFill>
        <p:spPr>
          <a:xfrm>
            <a:off x="777240" y="1600200"/>
            <a:ext cx="502920" cy="502920"/>
          </a:xfrm>
          <a:prstGeom prst="rect">
            <a:avLst/>
          </a:prstGeom>
        </p:spPr>
      </p:pic>
      <p:sp>
        <p:nvSpPr>
          <p:cNvPr id="8" name="Text 4"/>
          <p:cNvSpPr/>
          <p:nvPr/>
        </p:nvSpPr>
        <p:spPr>
          <a:xfrm>
            <a:off x="1463040" y="1508760"/>
            <a:ext cx="9966960" cy="11887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Since Lesson 6: are all enemies gone? Today, a second part: gone, AND is this the last wave? Both true -&gt; real win. Otherwise -&gt; the round continues.</a:t>
            </a:r>
            <a:endParaRPr lang="en-US" sz="1450" dirty="0"/>
          </a:p>
        </p:txBody>
      </p:sp>
      <p:sp>
        <p:nvSpPr>
          <p:cNvPr id="9" name="Text 5"/>
          <p:cNvSpPr/>
          <p:nvPr/>
        </p:nvSpPr>
        <p:spPr>
          <a:xfrm>
            <a:off x="548640" y="3063240"/>
            <a:ext cx="10881360" cy="68580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The first time this course nests one decision inside another - a small code change, a genuinely new shape of thinking.</a:t>
            </a:r>
            <a:endParaRPr lang="en-US" sz="1500" dirty="0"/>
          </a:p>
        </p:txBody>
      </p:sp>
      <p:sp>
        <p:nvSpPr>
          <p:cNvPr id="10" name="Shape 6"/>
          <p:cNvSpPr/>
          <p:nvPr/>
        </p:nvSpPr>
        <p:spPr>
          <a:xfrm>
            <a:off x="548640" y="3931920"/>
            <a:ext cx="11064240" cy="1554480"/>
          </a:xfrm>
          <a:prstGeom prst="roundRect">
            <a:avLst>
              <a:gd name="adj" fmla="val 7059"/>
            </a:avLst>
          </a:prstGeom>
          <a:solidFill>
            <a:srgbClr val="0F2C52"/>
          </a:solidFill>
          <a:ln w="12700">
            <a:solidFill>
              <a:srgbClr val="C99A2E"/>
            </a:solidFill>
            <a:prstDash val="solid"/>
          </a:ln>
        </p:spPr>
      </p:sp>
      <p:pic>
        <p:nvPicPr>
          <p:cNvPr id="11" name="Image 2" descr="icons/chat.png">    </p:cNvPr>
          <p:cNvPicPr>
            <a:picLocks noChangeAspect="1"/>
          </p:cNvPicPr>
          <p:nvPr/>
        </p:nvPicPr>
        <p:blipFill>
          <a:blip r:embed="rId3"/>
          <a:stretch>
            <a:fillRect/>
          </a:stretch>
        </p:blipFill>
        <p:spPr>
          <a:xfrm>
            <a:off x="777240" y="4142232"/>
            <a:ext cx="502920" cy="502920"/>
          </a:xfrm>
          <a:prstGeom prst="rect">
            <a:avLst/>
          </a:prstGeom>
        </p:spPr>
      </p:pic>
      <p:sp>
        <p:nvSpPr>
          <p:cNvPr id="12" name="Text 7"/>
          <p:cNvSpPr/>
          <p:nvPr/>
        </p:nvSpPr>
        <p:spPr>
          <a:xfrm>
            <a:off x="1463040" y="4050792"/>
            <a:ext cx="9966960" cy="137160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can you think of a real-life decision where the answer to one question depends on a second question nested inside it? ("Can I go to the party" depends on "is my homework done," which might depend on "do I understand the assignment.")</a:t>
            </a:r>
            <a:endParaRPr lang="en-US" sz="1300" dirty="0"/>
          </a:p>
        </p:txBody>
      </p:sp>
      <p:sp>
        <p:nvSpPr>
          <p:cNvPr id="14"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16"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The Whole Decision, One Picture</a:t>
            </a:r>
            <a:endParaRPr lang="en-US" sz="3200" dirty="0"/>
          </a:p>
        </p:txBody>
      </p:sp>
      <p:pic>
        <p:nvPicPr>
          <p:cNvPr id="4" name="Image 1" descr="diagram_activity_wave_flow.png">    </p:cNvPr>
          <p:cNvPicPr>
            <a:picLocks noChangeAspect="1"/>
          </p:cNvPicPr>
          <p:nvPr/>
        </p:nvPicPr>
        <p:blipFill>
          <a:blip r:embed="rId2"/>
          <a:stretch>
            <a:fillRect/>
          </a:stretch>
        </p:blipFill>
        <p:spPr>
          <a:xfrm>
            <a:off x="731520" y="1188720"/>
            <a:ext cx="6035040" cy="4828032"/>
          </a:xfrm>
          <a:prstGeom prst="rect">
            <a:avLst/>
          </a:prstGeom>
        </p:spPr>
      </p:pic>
      <p:sp>
        <p:nvSpPr>
          <p:cNvPr id="5" name="Text 1"/>
          <p:cNvSpPr/>
          <p:nvPr/>
        </p:nvSpPr>
        <p:spPr>
          <a:xfrm>
            <a:off x="7132320" y="1371600"/>
            <a:ext cx="4572000" cy="457200"/>
          </a:xfrm>
          <a:prstGeom prst="rect">
            <a:avLst/>
          </a:prstGeom>
          <a:noFill/>
          <a:ln/>
        </p:spPr>
        <p:txBody>
          <a:bodyPr wrap="square" lIns="0" tIns="0" rIns="0" bIns="0" rtlCol="0" anchor="ctr"/>
          <a:lstStyle/>
          <a:p>
            <a:pPr indent="0" marL="0">
              <a:buNone/>
            </a:pPr>
            <a:r>
              <a:rPr lang="en-US" sz="2000" b="1" dirty="0">
                <a:solidFill>
                  <a:srgbClr val="1C4A86"/>
                </a:solidFill>
                <a:latin typeface="Calibri" pitchFamily="34" charset="0"/>
                <a:ea typeface="Calibri" pitchFamily="34" charset="-122"/>
                <a:cs typeface="Calibri" pitchFamily="34" charset="-120"/>
              </a:rPr>
              <a:t>Two questions, in order</a:t>
            </a:r>
            <a:endParaRPr lang="en-US" sz="2000" dirty="0"/>
          </a:p>
        </p:txBody>
      </p:sp>
      <p:sp>
        <p:nvSpPr>
          <p:cNvPr id="6" name="Text 2"/>
          <p:cNvSpPr/>
          <p:nvPr/>
        </p:nvSpPr>
        <p:spPr>
          <a:xfrm>
            <a:off x="7132320" y="1965960"/>
            <a:ext cx="448056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Is the wave cleared? No: carry on.</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Was it the last wave? Yes: the real win.</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No: wave + 1, enemies_remaining = 5, spawn_enemies.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Score, lives and game_active are untouched between waves.</a:t>
            </a:r>
            <a:endParaRPr lang="en-US" sz="1600" dirty="0"/>
          </a:p>
        </p:txBody>
      </p:sp>
      <p:sp>
        <p:nvSpPr>
          <p:cNvPr id="8" name="Text 3"/>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9" name="Text 4"/>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10" name="Text 5"/>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A Third Door In</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The same enemy-spawning code, one more way to call it.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Three Doors, One Room</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No new enemy-spawning code today. You've had it since Lesson 5. Lesson 10 made it callable a second way, for restarts. Today: a THIRD way, every wave clear.</a:t>
            </a:r>
            <a:endParaRPr lang="en-US" sz="1500" dirty="0"/>
          </a:p>
        </p:txBody>
      </p:sp>
      <p:sp>
        <p:nvSpPr>
          <p:cNvPr id="7" name="Shape 4"/>
          <p:cNvSpPr/>
          <p:nvPr/>
        </p:nvSpPr>
        <p:spPr>
          <a:xfrm>
            <a:off x="548640" y="2286000"/>
            <a:ext cx="11064240" cy="1554480"/>
          </a:xfrm>
          <a:prstGeom prst="roundRect">
            <a:avLst>
              <a:gd name="adj" fmla="val 7059"/>
            </a:avLst>
          </a:prstGeom>
          <a:solidFill>
            <a:srgbClr val="EDF2F8"/>
          </a:solidFill>
          <a:ln/>
        </p:spPr>
      </p:sp>
      <p:pic>
        <p:nvPicPr>
          <p:cNvPr id="8" name="Image 1" descr="icons/programming.png">    </p:cNvPr>
          <p:cNvPicPr>
            <a:picLocks noChangeAspect="1"/>
          </p:cNvPicPr>
          <p:nvPr/>
        </p:nvPicPr>
        <p:blipFill>
          <a:blip r:embed="rId2"/>
          <a:stretch>
            <a:fillRect/>
          </a:stretch>
        </p:blipFill>
        <p:spPr>
          <a:xfrm>
            <a:off x="777240" y="2514600"/>
            <a:ext cx="502920" cy="502920"/>
          </a:xfrm>
          <a:prstGeom prst="rect">
            <a:avLst/>
          </a:prstGeom>
        </p:spPr>
      </p:pic>
      <p:sp>
        <p:nvSpPr>
          <p:cNvPr id="9" name="Text 5"/>
          <p:cNvSpPr/>
          <p:nvPr/>
        </p:nvSpPr>
        <p:spPr>
          <a:xfrm>
            <a:off x="1463040" y="2423160"/>
            <a:ext cx="9966960" cy="12801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Unity demo: SpawnEnemies() already has two callers (Start() and ResetGame()). RegisterKill() is static, so it can't use the Spawner slot - it raises nextWaveRequested, and GameManager's Update() spawns the wave.</a:t>
            </a:r>
            <a:endParaRPr lang="en-US" sz="1350" dirty="0"/>
          </a:p>
        </p:txBody>
      </p:sp>
      <p:sp>
        <p:nvSpPr>
          <p:cNvPr id="10" name="Shape 6"/>
          <p:cNvSpPr/>
          <p:nvPr/>
        </p:nvSpPr>
        <p:spPr>
          <a:xfrm>
            <a:off x="548640" y="4023360"/>
            <a:ext cx="11064240" cy="1280160"/>
          </a:xfrm>
          <a:prstGeom prst="roundRect">
            <a:avLst>
              <a:gd name="adj" fmla="val 8571"/>
            </a:avLst>
          </a:prstGeom>
          <a:solidFill>
            <a:srgbClr val="0F2C52"/>
          </a:solidFill>
          <a:ln w="12700">
            <a:solidFill>
              <a:srgbClr val="C99A2E"/>
            </a:solidFill>
            <a:prstDash val="solid"/>
          </a:ln>
        </p:spPr>
      </p:sp>
      <p:sp>
        <p:nvSpPr>
          <p:cNvPr id="11" name="Text 7"/>
          <p:cNvSpPr/>
          <p:nvPr/>
        </p:nvSpPr>
        <p:spPr>
          <a:xfrm>
            <a:off x="822960" y="4206240"/>
            <a:ext cx="10515600" cy="914400"/>
          </a:xfrm>
          <a:prstGeom prst="rect">
            <a:avLst/>
          </a:prstGeom>
          <a:noFill/>
          <a:ln/>
        </p:spPr>
        <p:txBody>
          <a:bodyPr wrap="square" lIns="0" tIns="0" rIns="0" bIns="0" rtlCol="0" anchor="ctr"/>
          <a:lstStyle/>
          <a:p>
            <a:pPr indent="0" marL="0">
              <a:buNone/>
            </a:pPr>
            <a:r>
              <a:rPr lang="en-US" sz="1450" i="1" dirty="0">
                <a:solidFill>
                  <a:srgbClr val="F4F0E6"/>
                </a:solidFill>
                <a:latin typeface="Calibri" pitchFamily="34" charset="0"/>
                <a:ea typeface="Calibri" pitchFamily="34" charset="-122"/>
                <a:cs typeface="Calibri" pitchFamily="34" charset="-120"/>
              </a:rPr>
              <a:t>Same enemy-creation code. Three doors in: the very first game, every restart, and now every wave clear. That's the whole idea.</a:t>
            </a:r>
            <a:endParaRPr lang="en-US" sz="1450" dirty="0"/>
          </a:p>
        </p:txBody>
      </p:sp>
      <p:sp>
        <p:nvSpPr>
          <p:cNvPr id="13"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15"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365760"/>
            <a:ext cx="10972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New State, Same Habit</a:t>
            </a:r>
            <a:endParaRPr lang="en-US" sz="3200" dirty="0"/>
          </a:p>
        </p:txBody>
      </p:sp>
      <p:sp>
        <p:nvSpPr>
          <p:cNvPr id="4" name="Text 1"/>
          <p:cNvSpPr/>
          <p:nvPr/>
        </p:nvSpPr>
        <p:spPr>
          <a:xfrm>
            <a:off x="548640" y="1097280"/>
            <a:ext cx="10972800" cy="457200"/>
          </a:xfrm>
          <a:prstGeom prst="rect">
            <a:avLst/>
          </a:prstGeom>
          <a:noFill/>
          <a:ln/>
        </p:spPr>
        <p:txBody>
          <a:bodyPr wrap="square" lIns="0" tIns="0" rIns="0" bIns="0" rtlCol="0" anchor="ctr"/>
          <a:lstStyle/>
          <a:p>
            <a:pPr indent="0" marL="0">
              <a:buNone/>
            </a:pPr>
            <a:r>
              <a:rPr lang="en-US" sz="1800" i="1" dirty="0">
                <a:solidFill>
                  <a:srgbClr val="5A6472"/>
                </a:solidFill>
                <a:latin typeface="Calibri" pitchFamily="34" charset="0"/>
                <a:ea typeface="Calibri" pitchFamily="34" charset="-122"/>
                <a:cs typeface="Calibri" pitchFamily="34" charset="-120"/>
              </a:rPr>
              <a:t>wave and total_waves are game state too - and they live on the GameManager.</a:t>
            </a:r>
            <a:endParaRPr lang="en-US" sz="1800" dirty="0"/>
          </a:p>
        </p:txBody>
      </p:sp>
      <p:sp>
        <p:nvSpPr>
          <p:cNvPr id="5" name="Shape 2"/>
          <p:cNvSpPr/>
          <p:nvPr/>
        </p:nvSpPr>
        <p:spPr>
          <a:xfrm>
            <a:off x="548640" y="1828800"/>
            <a:ext cx="5394960" cy="1371600"/>
          </a:xfrm>
          <a:prstGeom prst="roundRect">
            <a:avLst>
              <a:gd name="adj" fmla="val 8000"/>
            </a:avLst>
          </a:prstGeom>
          <a:solidFill>
            <a:srgbClr val="EDF2F8"/>
          </a:solidFill>
          <a:ln w="12700">
            <a:solidFill>
              <a:srgbClr val="C99A2E"/>
            </a:solidFill>
            <a:prstDash val="solid"/>
          </a:ln>
        </p:spPr>
      </p:sp>
      <p:sp>
        <p:nvSpPr>
          <p:cNvPr id="6" name="Text 3"/>
          <p:cNvSpPr/>
          <p:nvPr/>
        </p:nvSpPr>
        <p:spPr>
          <a:xfrm>
            <a:off x="777240" y="19659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Does restart reset it?</a:t>
            </a:r>
            <a:endParaRPr lang="en-US" sz="1800" dirty="0"/>
          </a:p>
        </p:txBody>
      </p:sp>
      <p:sp>
        <p:nvSpPr>
          <p:cNvPr id="7" name="Text 4"/>
          <p:cNvSpPr/>
          <p:nvPr/>
        </p:nvSpPr>
        <p:spPr>
          <a:xfrm>
            <a:off x="777240" y="24231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wave must go back to 1 in the one reset routine - test it from wave 3</a:t>
            </a:r>
            <a:endParaRPr lang="en-US" sz="1500" dirty="0"/>
          </a:p>
        </p:txBody>
      </p:sp>
      <p:sp>
        <p:nvSpPr>
          <p:cNvPr id="8" name="Shape 5"/>
          <p:cNvSpPr/>
          <p:nvPr/>
        </p:nvSpPr>
        <p:spPr>
          <a:xfrm>
            <a:off x="6217920" y="1828800"/>
            <a:ext cx="5394960" cy="1371600"/>
          </a:xfrm>
          <a:prstGeom prst="roundRect">
            <a:avLst>
              <a:gd name="adj" fmla="val 8000"/>
            </a:avLst>
          </a:prstGeom>
          <a:solidFill>
            <a:srgbClr val="EDF2F8"/>
          </a:solidFill>
          <a:ln w="12700">
            <a:solidFill>
              <a:srgbClr val="C99A2E"/>
            </a:solidFill>
            <a:prstDash val="solid"/>
          </a:ln>
        </p:spPr>
      </p:sp>
      <p:sp>
        <p:nvSpPr>
          <p:cNvPr id="9" name="Text 6"/>
          <p:cNvSpPr/>
          <p:nvPr/>
        </p:nvSpPr>
        <p:spPr>
          <a:xfrm>
            <a:off x="6446520" y="19659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Who owns it?</a:t>
            </a:r>
            <a:endParaRPr lang="en-US" sz="1800" dirty="0"/>
          </a:p>
        </p:txBody>
      </p:sp>
      <p:sp>
        <p:nvSpPr>
          <p:cNvPr id="10" name="Text 7"/>
          <p:cNvSpPr/>
          <p:nvPr/>
        </p:nvSpPr>
        <p:spPr>
          <a:xfrm>
            <a:off x="6446520" y="24231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The GameManager. Objects report; the manager counts and decides</a:t>
            </a:r>
            <a:endParaRPr lang="en-US" sz="1500" dirty="0"/>
          </a:p>
        </p:txBody>
      </p:sp>
      <p:sp>
        <p:nvSpPr>
          <p:cNvPr id="11" name="Shape 8"/>
          <p:cNvSpPr/>
          <p:nvPr/>
        </p:nvSpPr>
        <p:spPr>
          <a:xfrm>
            <a:off x="548640" y="3429000"/>
            <a:ext cx="5394960" cy="1371600"/>
          </a:xfrm>
          <a:prstGeom prst="roundRect">
            <a:avLst>
              <a:gd name="adj" fmla="val 8000"/>
            </a:avLst>
          </a:prstGeom>
          <a:solidFill>
            <a:srgbClr val="EDF2F8"/>
          </a:solidFill>
          <a:ln w="12700">
            <a:solidFill>
              <a:srgbClr val="C99A2E"/>
            </a:solidFill>
            <a:prstDash val="solid"/>
          </a:ln>
        </p:spPr>
      </p:sp>
      <p:sp>
        <p:nvSpPr>
          <p:cNvPr id="12" name="Text 9"/>
          <p:cNvSpPr/>
          <p:nvPr/>
        </p:nvSpPr>
        <p:spPr>
          <a:xfrm>
            <a:off x="777240" y="35661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Anything extra?</a:t>
            </a:r>
            <a:endParaRPr lang="en-US" sz="1800" dirty="0"/>
          </a:p>
        </p:txBody>
      </p:sp>
      <p:sp>
        <p:nvSpPr>
          <p:cNvPr id="13" name="Text 10"/>
          <p:cNvSpPr/>
          <p:nvPr/>
        </p:nvSpPr>
        <p:spPr>
          <a:xfrm>
            <a:off x="777240" y="40233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 wave message, an effect, a sound - what changes it, and what puts it back?</a:t>
            </a:r>
            <a:endParaRPr lang="en-US" sz="1500" dirty="0"/>
          </a:p>
        </p:txBody>
      </p:sp>
      <p:sp>
        <p:nvSpPr>
          <p:cNvPr id="14" name="Shape 11"/>
          <p:cNvSpPr/>
          <p:nvPr/>
        </p:nvSpPr>
        <p:spPr>
          <a:xfrm>
            <a:off x="6217920" y="3429000"/>
            <a:ext cx="5394960" cy="1371600"/>
          </a:xfrm>
          <a:prstGeom prst="roundRect">
            <a:avLst>
              <a:gd name="adj" fmla="val 8000"/>
            </a:avLst>
          </a:prstGeom>
          <a:solidFill>
            <a:srgbClr val="EDF2F8"/>
          </a:solidFill>
          <a:ln w="12700">
            <a:solidFill>
              <a:srgbClr val="C99A2E"/>
            </a:solidFill>
            <a:prstDash val="solid"/>
          </a:ln>
        </p:spPr>
      </p:sp>
      <p:sp>
        <p:nvSpPr>
          <p:cNvPr id="15" name="Text 12"/>
          <p:cNvSpPr/>
          <p:nvPr/>
        </p:nvSpPr>
        <p:spPr>
          <a:xfrm>
            <a:off x="6446520" y="3566160"/>
            <a:ext cx="4937760" cy="411480"/>
          </a:xfrm>
          <a:prstGeom prst="rect">
            <a:avLst/>
          </a:prstGeom>
          <a:noFill/>
          <a:ln/>
        </p:spPr>
        <p:txBody>
          <a:bodyPr wrap="square" lIns="0" tIns="0" rIns="0" bIns="0" rtlCol="0" anchor="ctr"/>
          <a:lstStyle/>
          <a:p>
            <a:pPr indent="0" marL="0">
              <a:buNone/>
            </a:pPr>
            <a:r>
              <a:rPr lang="en-US" sz="1800" b="1" dirty="0">
                <a:solidFill>
                  <a:srgbClr val="1C4A86"/>
                </a:solidFill>
                <a:latin typeface="Calibri" pitchFamily="34" charset="0"/>
                <a:ea typeface="Calibri" pitchFamily="34" charset="-122"/>
                <a:cs typeface="Calibri" pitchFamily="34" charset="-120"/>
              </a:rPr>
              <a:t>Same two questions</a:t>
            </a:r>
            <a:endParaRPr lang="en-US" sz="1800" dirty="0"/>
          </a:p>
        </p:txBody>
      </p:sp>
      <p:sp>
        <p:nvSpPr>
          <p:cNvPr id="16" name="Text 13"/>
          <p:cNvSpPr/>
          <p:nvPr/>
        </p:nvSpPr>
        <p:spPr>
          <a:xfrm>
            <a:off x="6446520" y="4023360"/>
            <a:ext cx="493776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What changed when the round or wave ended? What changes it back?</a:t>
            </a:r>
            <a:endParaRPr lang="en-US" sz="1500" dirty="0"/>
          </a:p>
        </p:txBody>
      </p:sp>
      <p:sp>
        <p:nvSpPr>
          <p:cNvPr id="17" name="Text 14"/>
          <p:cNvSpPr/>
          <p:nvPr/>
        </p:nvSpPr>
        <p:spPr>
          <a:xfrm>
            <a:off x="548640" y="5120640"/>
            <a:ext cx="11064240" cy="822960"/>
          </a:xfrm>
          <a:prstGeom prst="rect">
            <a:avLst/>
          </a:prstGeom>
          <a:noFill/>
          <a:ln/>
        </p:spPr>
        <p:txBody>
          <a:bodyPr wrap="square" lIns="0" tIns="0" rIns="0" bIns="0" rtlCol="0" anchor="ctr"/>
          <a:lstStyle/>
          <a:p>
            <a:pPr indent="0" marL="0">
              <a:buNone/>
            </a:pPr>
            <a:r>
              <a:rPr lang="en-US" sz="1700" b="1" dirty="0">
                <a:solidFill>
                  <a:srgbClr val="16305C"/>
                </a:solidFill>
                <a:latin typeface="Calibri" pitchFamily="34" charset="0"/>
                <a:ea typeface="Calibri" pitchFamily="34" charset="-122"/>
                <a:cs typeface="Calibri" pitchFamily="34" charset="-120"/>
              </a:rPr>
              <a:t>Test it: reach wave 3, lose, press R. The HUD must say Wave 1.</a:t>
            </a:r>
            <a:endParaRPr lang="en-US" sz="1700" dirty="0"/>
          </a:p>
        </p:txBody>
      </p:sp>
      <p:sp>
        <p:nvSpPr>
          <p:cNvPr id="19" name="Text 1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0" name="Text 1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21" name="Text 1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shiel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Milestone Moment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What finishing Level 2 Complete actually means.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Level 2 Complete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Shape 3"/>
          <p:cNvSpPr/>
          <p:nvPr/>
        </p:nvSpPr>
        <p:spPr>
          <a:xfrm>
            <a:off x="548640" y="1325880"/>
            <a:ext cx="11064240" cy="1828800"/>
          </a:xfrm>
          <a:prstGeom prst="roundRect">
            <a:avLst>
              <a:gd name="adj" fmla="val 6000"/>
            </a:avLst>
          </a:prstGeom>
          <a:solidFill>
            <a:srgbClr val="EDF2F8"/>
          </a:solidFill>
          <a:ln/>
        </p:spPr>
      </p:sp>
      <p:sp>
        <p:nvSpPr>
          <p:cNvPr id="7" name="Text 4"/>
          <p:cNvSpPr/>
          <p:nvPr/>
        </p:nvSpPr>
        <p:spPr>
          <a:xfrm>
            <a:off x="822960" y="1508760"/>
            <a:ext cx="105156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Once multiple waves work today, your game can:</a:t>
            </a:r>
            <a:endParaRPr lang="en-US" sz="1450" dirty="0"/>
          </a:p>
        </p:txBody>
      </p:sp>
      <p:pic>
        <p:nvPicPr>
          <p:cNvPr id="8" name="Image 1" descr="icons/check.png">    </p:cNvPr>
          <p:cNvPicPr>
            <a:picLocks noChangeAspect="1"/>
          </p:cNvPicPr>
          <p:nvPr/>
        </p:nvPicPr>
        <p:blipFill>
          <a:blip r:embed="rId2"/>
          <a:stretch>
            <a:fillRect/>
          </a:stretch>
        </p:blipFill>
        <p:spPr>
          <a:xfrm>
            <a:off x="822960" y="1920240"/>
            <a:ext cx="329184" cy="329184"/>
          </a:xfrm>
          <a:prstGeom prst="rect">
            <a:avLst/>
          </a:prstGeom>
        </p:spPr>
      </p:pic>
      <p:sp>
        <p:nvSpPr>
          <p:cNvPr id="9" name="Text 5"/>
          <p:cNvSpPr/>
          <p:nvPr/>
        </p:nvSpPr>
        <p:spPr>
          <a:xfrm>
            <a:off x="1207008" y="190195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Move &amp; shoot</a:t>
            </a:r>
            <a:endParaRPr lang="en-US" sz="1300" dirty="0"/>
          </a:p>
        </p:txBody>
      </p:sp>
      <p:pic>
        <p:nvPicPr>
          <p:cNvPr id="10" name="Image 2" descr="icons/check.png">    </p:cNvPr>
          <p:cNvPicPr>
            <a:picLocks noChangeAspect="1"/>
          </p:cNvPicPr>
          <p:nvPr/>
        </p:nvPicPr>
        <p:blipFill>
          <a:blip r:embed="rId3"/>
          <a:stretch>
            <a:fillRect/>
          </a:stretch>
        </p:blipFill>
        <p:spPr>
          <a:xfrm>
            <a:off x="4434840" y="1920240"/>
            <a:ext cx="329184" cy="329184"/>
          </a:xfrm>
          <a:prstGeom prst="rect">
            <a:avLst/>
          </a:prstGeom>
        </p:spPr>
      </p:pic>
      <p:sp>
        <p:nvSpPr>
          <p:cNvPr id="11" name="Text 6"/>
          <p:cNvSpPr/>
          <p:nvPr/>
        </p:nvSpPr>
        <p:spPr>
          <a:xfrm>
            <a:off x="4818888" y="190195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Face multiple waves</a:t>
            </a:r>
            <a:endParaRPr lang="en-US" sz="1300" dirty="0"/>
          </a:p>
        </p:txBody>
      </p:sp>
      <p:pic>
        <p:nvPicPr>
          <p:cNvPr id="12" name="Image 3" descr="icons/check.png">    </p:cNvPr>
          <p:cNvPicPr>
            <a:picLocks noChangeAspect="1"/>
          </p:cNvPicPr>
          <p:nvPr/>
        </p:nvPicPr>
        <p:blipFill>
          <a:blip r:embed="rId4"/>
          <a:stretch>
            <a:fillRect/>
          </a:stretch>
        </p:blipFill>
        <p:spPr>
          <a:xfrm>
            <a:off x="8046720" y="1920240"/>
            <a:ext cx="329184" cy="329184"/>
          </a:xfrm>
          <a:prstGeom prst="rect">
            <a:avLst/>
          </a:prstGeom>
        </p:spPr>
      </p:pic>
      <p:sp>
        <p:nvSpPr>
          <p:cNvPr id="13" name="Text 7"/>
          <p:cNvSpPr/>
          <p:nvPr/>
        </p:nvSpPr>
        <p:spPr>
          <a:xfrm>
            <a:off x="8430768" y="190195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Track score</a:t>
            </a:r>
            <a:endParaRPr lang="en-US" sz="1300" dirty="0"/>
          </a:p>
        </p:txBody>
      </p:sp>
      <p:pic>
        <p:nvPicPr>
          <p:cNvPr id="14" name="Image 4" descr="icons/check.png">    </p:cNvPr>
          <p:cNvPicPr>
            <a:picLocks noChangeAspect="1"/>
          </p:cNvPicPr>
          <p:nvPr/>
        </p:nvPicPr>
        <p:blipFill>
          <a:blip r:embed="rId5"/>
          <a:stretch>
            <a:fillRect/>
          </a:stretch>
        </p:blipFill>
        <p:spPr>
          <a:xfrm>
            <a:off x="822960" y="2468880"/>
            <a:ext cx="329184" cy="329184"/>
          </a:xfrm>
          <a:prstGeom prst="rect">
            <a:avLst/>
          </a:prstGeom>
        </p:spPr>
      </p:pic>
      <p:sp>
        <p:nvSpPr>
          <p:cNvPr id="15" name="Text 8"/>
          <p:cNvSpPr/>
          <p:nvPr/>
        </p:nvSpPr>
        <p:spPr>
          <a:xfrm>
            <a:off x="1207008" y="245059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Survive with lives</a:t>
            </a:r>
            <a:endParaRPr lang="en-US" sz="1300" dirty="0"/>
          </a:p>
        </p:txBody>
      </p:sp>
      <p:pic>
        <p:nvPicPr>
          <p:cNvPr id="16" name="Image 5" descr="icons/check.png">    </p:cNvPr>
          <p:cNvPicPr>
            <a:picLocks noChangeAspect="1"/>
          </p:cNvPicPr>
          <p:nvPr/>
        </p:nvPicPr>
        <p:blipFill>
          <a:blip r:embed="rId6"/>
          <a:stretch>
            <a:fillRect/>
          </a:stretch>
        </p:blipFill>
        <p:spPr>
          <a:xfrm>
            <a:off x="4434840" y="2468880"/>
            <a:ext cx="329184" cy="329184"/>
          </a:xfrm>
          <a:prstGeom prst="rect">
            <a:avLst/>
          </a:prstGeom>
        </p:spPr>
      </p:pic>
      <p:sp>
        <p:nvSpPr>
          <p:cNvPr id="17" name="Text 9"/>
          <p:cNvSpPr/>
          <p:nvPr/>
        </p:nvSpPr>
        <p:spPr>
          <a:xfrm>
            <a:off x="4818888" y="245059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Restart cleanly</a:t>
            </a:r>
            <a:endParaRPr lang="en-US" sz="1300" dirty="0"/>
          </a:p>
        </p:txBody>
      </p:sp>
      <p:pic>
        <p:nvPicPr>
          <p:cNvPr id="18" name="Image 6" descr="icons/check.png">    </p:cNvPr>
          <p:cNvPicPr>
            <a:picLocks noChangeAspect="1"/>
          </p:cNvPicPr>
          <p:nvPr/>
        </p:nvPicPr>
        <p:blipFill>
          <a:blip r:embed="rId7"/>
          <a:stretch>
            <a:fillRect/>
          </a:stretch>
        </p:blipFill>
        <p:spPr>
          <a:xfrm>
            <a:off x="8046720" y="2468880"/>
            <a:ext cx="329184" cy="329184"/>
          </a:xfrm>
          <a:prstGeom prst="rect">
            <a:avLst/>
          </a:prstGeom>
        </p:spPr>
      </p:pic>
      <p:sp>
        <p:nvSpPr>
          <p:cNvPr id="19" name="Text 10"/>
          <p:cNvSpPr/>
          <p:nvPr/>
        </p:nvSpPr>
        <p:spPr>
          <a:xfrm>
            <a:off x="8430768" y="2450592"/>
            <a:ext cx="3017520" cy="36576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Truly win or lose</a:t>
            </a:r>
            <a:endParaRPr lang="en-US" sz="1300" dirty="0"/>
          </a:p>
        </p:txBody>
      </p:sp>
      <p:sp>
        <p:nvSpPr>
          <p:cNvPr id="20" name="Shape 11"/>
          <p:cNvSpPr/>
          <p:nvPr/>
        </p:nvSpPr>
        <p:spPr>
          <a:xfrm>
            <a:off x="548640" y="3337560"/>
            <a:ext cx="11064240" cy="2331720"/>
          </a:xfrm>
          <a:prstGeom prst="roundRect">
            <a:avLst>
              <a:gd name="adj" fmla="val 4706"/>
            </a:avLst>
          </a:prstGeom>
          <a:solidFill>
            <a:srgbClr val="0F2C52"/>
          </a:solidFill>
          <a:ln w="12700">
            <a:solidFill>
              <a:srgbClr val="C99A2E"/>
            </a:solidFill>
            <a:prstDash val="solid"/>
          </a:ln>
        </p:spPr>
      </p:sp>
      <p:sp>
        <p:nvSpPr>
          <p:cNvPr id="21" name="Text 12"/>
          <p:cNvSpPr/>
          <p:nvPr/>
        </p:nvSpPr>
        <p:spPr>
          <a:xfrm>
            <a:off x="822960" y="3520440"/>
            <a:ext cx="10515600" cy="1097280"/>
          </a:xfrm>
          <a:prstGeom prst="rect">
            <a:avLst/>
          </a:prstGeom>
          <a:noFill/>
          <a:ln/>
        </p:spPr>
        <p:txBody>
          <a:bodyPr wrap="square" lIns="0" tIns="0" rIns="0" bIns="0" rtlCol="0" anchor="ctr"/>
          <a:lstStyle/>
          <a:p>
            <a:pPr indent="0" marL="0">
              <a:buNone/>
            </a:pPr>
            <a:r>
              <a:rPr lang="en-US" sz="1400" i="1" dirty="0">
                <a:solidFill>
                  <a:srgbClr val="F4F0E6"/>
                </a:solidFill>
                <a:latin typeface="Calibri" pitchFamily="34" charset="0"/>
                <a:ea typeface="Calibri" pitchFamily="34" charset="-122"/>
                <a:cs typeface="Calibri" pitchFamily="34" charset="-120"/>
              </a:rPr>
              <a:t>Level 1 MVP meant a complete, playable loop. Level 2 Complete means real depth - failure that matters, progress that builds, escalation as more waves arrive. This is the kind of thing that starts to feel like an actual arcade game, not just a working prototype.</a:t>
            </a:r>
            <a:endParaRPr lang="en-US" sz="1400" dirty="0"/>
          </a:p>
        </p:txBody>
      </p:sp>
      <p:sp>
        <p:nvSpPr>
          <p:cNvPr id="22" name="Text 13"/>
          <p:cNvSpPr/>
          <p:nvPr/>
        </p:nvSpPr>
        <p:spPr>
          <a:xfrm>
            <a:off x="822960" y="4663440"/>
            <a:ext cx="10515600" cy="914400"/>
          </a:xfrm>
          <a:prstGeom prst="rect">
            <a:avLst/>
          </a:prstGeom>
          <a:noFill/>
          <a:ln/>
        </p:spPr>
        <p:txBody>
          <a:bodyPr wrap="square" lIns="0" tIns="0" rIns="0" bIns="0" rtlCol="0" anchor="ctr"/>
          <a:lstStyle/>
          <a:p>
            <a:pPr indent="0" marL="0">
              <a:buNone/>
            </a:pPr>
            <a:r>
              <a:rPr lang="en-US" sz="1350" b="1" dirty="0">
                <a:solidFill>
                  <a:srgbClr val="E8C25A"/>
                </a:solidFill>
                <a:latin typeface="Calibri" pitchFamily="34" charset="0"/>
                <a:ea typeface="Calibri" pitchFamily="34" charset="-122"/>
                <a:cs typeface="Calibri" pitchFamily="34" charset="-120"/>
              </a:rPr>
              <a:t>From here through Lesson 15: sound, animation, difficulty, and polish. The mechanics are done - what's left is making them sing.</a:t>
            </a:r>
            <a:endParaRPr lang="en-US" sz="1350" dirty="0"/>
          </a:p>
        </p:txBody>
      </p:sp>
      <p:sp>
        <p:nvSpPr>
          <p:cNvPr id="24" name="Text 1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5" name="Text 1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26" name="Text 1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Wave After Wave - building your second milestone.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Wave After Wave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Clearing a wave spawns a fresh one, up to 3 total. Clearing wave 3 is the real win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Clearing a wave spawns a new one, up to 3; wave shown on screen.</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Seamless, correct transitions every time; restart returns to wave 1.</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Fix the Stalemate so it works with waves; a brief wave announcement; tighter reuse.</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Test a FULL 3-wave playthrough today, not just wave 1 - and confirm losing a life mid-wave still works correctly no matter which wave you're on.</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463040"/>
            <a:ext cx="384048" cy="384048"/>
          </a:xfrm>
          <a:prstGeom prst="rect">
            <a:avLst/>
          </a:prstGeom>
        </p:spPr>
      </p:pic>
      <p:sp>
        <p:nvSpPr>
          <p:cNvPr id="6" name="Text 1"/>
          <p:cNvSpPr/>
          <p:nvPr/>
        </p:nvSpPr>
        <p:spPr>
          <a:xfrm>
            <a:off x="1097280" y="1325880"/>
            <a:ext cx="10332720" cy="73152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Most common bug: forgetting the wave-count check, so clearing wave 1 immediately shows the win message. Test this explicitly.</a:t>
            </a:r>
            <a:endParaRPr lang="en-US" sz="1350" dirty="0"/>
          </a:p>
        </p:txBody>
      </p:sp>
      <p:pic>
        <p:nvPicPr>
          <p:cNvPr id="7" name="Image 3" descr="icons/check.png">    </p:cNvPr>
          <p:cNvPicPr>
            <a:picLocks noChangeAspect="1"/>
          </p:cNvPicPr>
          <p:nvPr/>
        </p:nvPicPr>
        <p:blipFill>
          <a:blip r:embed="rId4"/>
          <a:stretch>
            <a:fillRect/>
          </a:stretch>
        </p:blipFill>
        <p:spPr>
          <a:xfrm>
            <a:off x="548640" y="2331720"/>
            <a:ext cx="384048" cy="384048"/>
          </a:xfrm>
          <a:prstGeom prst="rect">
            <a:avLst/>
          </a:prstGeom>
        </p:spPr>
      </p:pic>
      <p:sp>
        <p:nvSpPr>
          <p:cNvPr id="8" name="Text 2"/>
          <p:cNvSpPr/>
          <p:nvPr/>
        </p:nvSpPr>
        <p:spPr>
          <a:xfrm>
            <a:off x="1097280" y="2194560"/>
            <a:ext cx="10332720" cy="73152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Second most common: the wave-advance branch accidentally touching score or lives - only enemies_remaining and wave should change.</a:t>
            </a:r>
            <a:endParaRPr lang="en-US" sz="1350" dirty="0"/>
          </a:p>
        </p:txBody>
      </p:sp>
      <p:pic>
        <p:nvPicPr>
          <p:cNvPr id="9" name="Image 4" descr="icons/check.png">    </p:cNvPr>
          <p:cNvPicPr>
            <a:picLocks noChangeAspect="1"/>
          </p:cNvPicPr>
          <p:nvPr/>
        </p:nvPicPr>
        <p:blipFill>
          <a:blip r:embed="rId5"/>
          <a:stretch>
            <a:fillRect/>
          </a:stretch>
        </p:blipFill>
        <p:spPr>
          <a:xfrm>
            <a:off x="548640" y="3200400"/>
            <a:ext cx="384048" cy="384048"/>
          </a:xfrm>
          <a:prstGeom prst="rect">
            <a:avLst/>
          </a:prstGeom>
        </p:spPr>
      </p:pic>
      <p:sp>
        <p:nvSpPr>
          <p:cNvPr id="10" name="Text 3"/>
          <p:cNvSpPr/>
          <p:nvPr/>
        </p:nvSpPr>
        <p:spPr>
          <a:xfrm>
            <a:off x="1097280" y="3063240"/>
            <a:ext cx="10332720" cy="73152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Game-state drift: test restarting from mid-wave-2 or mid-wave-3 - restart should always return to wave 1.</a:t>
            </a:r>
            <a:endParaRPr lang="en-US" sz="1350" dirty="0"/>
          </a:p>
        </p:txBody>
      </p:sp>
      <p:pic>
        <p:nvPicPr>
          <p:cNvPr id="11" name="Image 5" descr="icons/check.png">    </p:cNvPr>
          <p:cNvPicPr>
            <a:picLocks noChangeAspect="1"/>
          </p:cNvPicPr>
          <p:nvPr/>
        </p:nvPicPr>
        <p:blipFill>
          <a:blip r:embed="rId6"/>
          <a:stretch>
            <a:fillRect/>
          </a:stretch>
        </p:blipFill>
        <p:spPr>
          <a:xfrm>
            <a:off x="548640" y="4069080"/>
            <a:ext cx="384048" cy="384048"/>
          </a:xfrm>
          <a:prstGeom prst="rect">
            <a:avLst/>
          </a:prstGeom>
        </p:spPr>
      </p:pic>
      <p:sp>
        <p:nvSpPr>
          <p:cNvPr id="12" name="Text 4"/>
          <p:cNvSpPr/>
          <p:nvPr/>
        </p:nvSpPr>
        <p:spPr>
          <a:xfrm>
            <a:off x="1097280" y="3931920"/>
            <a:ext cx="10332720" cy="73152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The Stalemate: confirm it is real, name it, don't hand over the fix. Level 3 is where it gets solved.</a:t>
            </a:r>
            <a:endParaRPr lang="en-US" sz="1350" dirty="0"/>
          </a:p>
        </p:txBody>
      </p:sp>
      <p:pic>
        <p:nvPicPr>
          <p:cNvPr id="13" name="Image 6" descr="icons/check.png">    </p:cNvPr>
          <p:cNvPicPr>
            <a:picLocks noChangeAspect="1"/>
          </p:cNvPicPr>
          <p:nvPr/>
        </p:nvPicPr>
        <p:blipFill>
          <a:blip r:embed="rId7"/>
          <a:stretch>
            <a:fillRect/>
          </a:stretch>
        </p:blipFill>
        <p:spPr>
          <a:xfrm>
            <a:off x="548640" y="4937760"/>
            <a:ext cx="384048" cy="384048"/>
          </a:xfrm>
          <a:prstGeom prst="rect">
            <a:avLst/>
          </a:prstGeom>
        </p:spPr>
      </p:pic>
      <p:sp>
        <p:nvSpPr>
          <p:cNvPr id="14" name="Text 5"/>
          <p:cNvSpPr/>
          <p:nvPr/>
        </p:nvSpPr>
        <p:spPr>
          <a:xfrm>
            <a:off x="1097280" y="4800600"/>
            <a:ext cx="10332720" cy="73152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At 1:50, do a real celebration share-out - this is the Level 2 Complete milestone. Consider 2-3 students demoing a full 3-wave playthrough.</a:t>
            </a:r>
            <a:endParaRPr lang="en-US" sz="1350" dirty="0"/>
          </a:p>
        </p:txBody>
      </p:sp>
      <p:sp>
        <p:nvSpPr>
          <p:cNvPr id="16" name="Text 6"/>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7" name="Text 7"/>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11</a:t>
            </a:r>
            <a:endParaRPr lang="en-US" sz="1000" dirty="0"/>
          </a:p>
        </p:txBody>
      </p:sp>
      <p:sp>
        <p:nvSpPr>
          <p:cNvPr id="18" name="Text 8"/>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Level 2 Complete!</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Multiple waves, real stakes, a clean restart - a genuine arcade game, not just a working prototype.</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sound effects - shoot, explosion, game over, wave clear. The polish begins.</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Keep playtesting your full 3-wave run at home if you'd like - try a Level 3 idea if you haven't already.</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11</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2026-10-14T02:58:54Z</dcterms:created>
  <dcterms:modified xsi:type="dcterms:W3CDTF">2026-10-14T02:58:54Z</dcterms:modified>
</cp:coreProperties>
</file>