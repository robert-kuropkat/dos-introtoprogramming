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4508" autoAdjust="0"/>
  </p:normalViewPr>
  <p:slideViewPr>
    <p:cSldViewPr snapToGrid="0" snapToObjects="1">
      <p:cViewPr varScale="1">
        <p:scale>
          <a:sx n="72" d="100"/>
          <a:sy n="72" d="100"/>
        </p:scale>
        <p:origin x="203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324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 "Welcome back! Last week you built a Key Press Reactor and started your Semester 1 project. Quick show of hands - who got their character moving in all 4 directions? Anyone try one of the Level 3 stretch ideas - blinking, sound, recoloring?" </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rgbClr val="FF0000"/>
                </a:solidFill>
                <a:highlight>
                  <a:srgbClr val="FFFF00"/>
                </a:highlight>
                <a:latin typeface="+mn-lt"/>
                <a:ea typeface="+mn-ea"/>
                <a:cs typeface="+mn-cs"/>
              </a:rPr>
              <a:t>[Pause, call on 1-2 volunteers to describe what they tried]</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"Today we're adding the next real piece of your game: shooting. By the end of today, pressing a key will fire something off your character and up the screen. This is also going to teach us something new and important - what happens when your game needs to create new things while it's running, not just at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"Here's a question: when you press your fire button five times fast, you want five separate bullets on screen, right? Not one bullet that teleports around. So where do those five bullets come from?" </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[Pause for guesses]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answer is something almost every engine calls the same thing: an instance. You build ONE definition of what a bullet is - what it looks like, how it behaves - and then, every time you press fire, the engine stamps out a brand new, completely independent COPY of that definition. That's an instance. Change one bullet's position, and it doesn't affect any of the others - they're all separate."</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[Demo cue: </a:t>
            </a:r>
            <a:r>
              <a:rPr lang="en-US" sz="1200" b="0" i="0" u="none" strike="noStrike" kern="1200" baseline="0" dirty="0">
                <a:solidFill>
                  <a:schemeClr val="tx1"/>
                </a:solidFill>
                <a:latin typeface="+mn-lt"/>
                <a:ea typeface="+mn-ea"/>
                <a:cs typeface="+mn-cs"/>
              </a:rPr>
              <a:t>switch to Godot, open a simple project with a Bullet scene already built]</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"Watch the vocabulary here, because it's almost identical across every engine we use. In Godot, the function is literally called instantiate(). " [Show a line of code: var b = </a:t>
            </a:r>
            <a:r>
              <a:rPr lang="en-US" sz="1200" b="0" i="0" u="none" strike="noStrike" kern="1200" baseline="0" dirty="0" err="1">
                <a:solidFill>
                  <a:schemeClr val="tx1"/>
                </a:solidFill>
                <a:latin typeface="+mn-lt"/>
                <a:ea typeface="+mn-ea"/>
                <a:cs typeface="+mn-cs"/>
              </a:rPr>
              <a:t>bullet_scene.instantiate</a:t>
            </a:r>
            <a:r>
              <a:rPr lang="en-US" sz="1200" b="0" i="0" u="none" strike="noStrike" kern="1200" baseline="0" dirty="0">
                <a:solidFill>
                  <a:schemeClr val="tx1"/>
                </a:solidFill>
                <a:latin typeface="+mn-lt"/>
                <a:ea typeface="+mn-ea"/>
                <a:cs typeface="+mn-cs"/>
              </a:rPr>
              <a:t>()] " In </a:t>
            </a:r>
            <a:r>
              <a:rPr lang="en-US" sz="1200" b="0" i="0" u="none" strike="noStrike" kern="1200" baseline="0" dirty="0" err="1">
                <a:solidFill>
                  <a:schemeClr val="tx1"/>
                </a:solidFill>
                <a:latin typeface="+mn-lt"/>
                <a:ea typeface="+mn-ea"/>
                <a:cs typeface="+mn-cs"/>
              </a:rPr>
              <a:t>GameMaker</a:t>
            </a:r>
            <a:r>
              <a:rPr lang="en-US" sz="1200" b="0" i="0" u="none" strike="noStrike" kern="1200" baseline="0" dirty="0">
                <a:solidFill>
                  <a:schemeClr val="tx1"/>
                </a:solidFill>
                <a:latin typeface="+mn-lt"/>
                <a:ea typeface="+mn-ea"/>
                <a:cs typeface="+mn-cs"/>
              </a:rPr>
              <a:t> it's </a:t>
            </a:r>
            <a:r>
              <a:rPr lang="en-US" sz="1200" b="0" i="0" u="none" strike="noStrike" kern="1200" baseline="0" dirty="0" err="1">
                <a:solidFill>
                  <a:schemeClr val="tx1"/>
                </a:solidFill>
                <a:latin typeface="+mn-lt"/>
                <a:ea typeface="+mn-ea"/>
                <a:cs typeface="+mn-cs"/>
              </a:rPr>
              <a:t>instance_create_layer</a:t>
            </a:r>
            <a:r>
              <a:rPr lang="en-US" sz="1200" b="0" i="0" u="none" strike="noStrike" kern="1200" baseline="0" dirty="0">
                <a:solidFill>
                  <a:schemeClr val="tx1"/>
                </a:solidFill>
                <a:latin typeface="+mn-lt"/>
                <a:ea typeface="+mn-ea"/>
                <a:cs typeface="+mn-cs"/>
              </a:rPr>
              <a:t>(). In Unity it's Instantiate() - same word, capital I. Unreal calls it Spawn Actor from Class. All of them mean the exact same thing: take a template, make a new independent copy, place it in the game."</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[Live demo] </a:t>
            </a:r>
            <a:r>
              <a:rPr lang="en-US" sz="1200" b="0" i="0" u="none" strike="noStrike" kern="1200" baseline="0" dirty="0">
                <a:solidFill>
                  <a:schemeClr val="tx1"/>
                </a:solidFill>
                <a:latin typeface="+mn-lt"/>
                <a:ea typeface="+mn-ea"/>
                <a:cs typeface="+mn-cs"/>
              </a:rPr>
              <a:t>"Let's run this and press the fire key a few times." [Press fire repeatedly, point at multiple bullets on screen] "See how they're all moving independently? Each one remembers its own position separately from all the others, and separately from the template they were copied from."</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[Discussion question] </a:t>
            </a:r>
            <a:r>
              <a:rPr lang="en-US" sz="1200" b="0" i="0" u="none" strike="noStrike" kern="1200" baseline="0" dirty="0">
                <a:solidFill>
                  <a:schemeClr val="tx1"/>
                </a:solidFill>
                <a:latin typeface="+mn-lt"/>
                <a:ea typeface="+mn-ea"/>
                <a:cs typeface="+mn-cs"/>
              </a:rPr>
              <a:t>"Where else in a game might you want lots of independent copies of one thing? " (Examples to draw out if needed: enemies, coins/pickups, particles, trees in a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"Now here's the part that trips people up. If every fire button press creates a brand new bullet, and you fire a hundred times over the course of a level... what happens to all those old bullets once they've flown off the top of the screen?" </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[Pause for guesses]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"If you don't do anything - they just stay. Forever. Even after they're invisible, off-screen, and completely useless to the player, the engine is still tracking every single one, still checking its position every frame, still drawing it if it's on-screen. A hundred forgotten bullets doesn't sound like much, but a real game spawning things constantly - bullets, particles, enemies - can pile up thousands of forgotten objects in minutes, and the game slows to a crawl or crashes."</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[Demo cue: </a:t>
            </a:r>
            <a:r>
              <a:rPr lang="en-US" sz="1200" b="0" i="0" u="none" strike="noStrike" kern="1200" baseline="0" dirty="0">
                <a:solidFill>
                  <a:schemeClr val="tx1"/>
                </a:solidFill>
                <a:latin typeface="+mn-lt"/>
                <a:ea typeface="+mn-ea"/>
                <a:cs typeface="+mn-cs"/>
              </a:rPr>
              <a:t>same Godot project] "This is why every engine also gives you an explicit way to remove an instance once you're done with it. In Godot it's called </a:t>
            </a:r>
            <a:r>
              <a:rPr lang="en-US" sz="1200" b="0" i="0" u="none" strike="noStrike" kern="1200" baseline="0" dirty="0" err="1">
                <a:solidFill>
                  <a:schemeClr val="tx1"/>
                </a:solidFill>
                <a:latin typeface="+mn-lt"/>
                <a:ea typeface="+mn-ea"/>
                <a:cs typeface="+mn-cs"/>
              </a:rPr>
              <a:t>queue_free</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GameMaker</a:t>
            </a:r>
            <a:r>
              <a:rPr lang="en-US" sz="1200" b="0" i="0" u="none" strike="noStrike" kern="1200" baseline="0" dirty="0">
                <a:solidFill>
                  <a:schemeClr val="tx1"/>
                </a:solidFill>
                <a:latin typeface="+mn-lt"/>
                <a:ea typeface="+mn-ea"/>
                <a:cs typeface="+mn-cs"/>
              </a:rPr>
              <a:t> calls it </a:t>
            </a:r>
            <a:r>
              <a:rPr lang="en-US" sz="1200" b="0" i="0" u="none" strike="noStrike" kern="1200" baseline="0" dirty="0" err="1">
                <a:solidFill>
                  <a:schemeClr val="tx1"/>
                </a:solidFill>
                <a:latin typeface="+mn-lt"/>
                <a:ea typeface="+mn-ea"/>
                <a:cs typeface="+mn-cs"/>
              </a:rPr>
              <a:t>instance_destroy</a:t>
            </a:r>
            <a:r>
              <a:rPr lang="en-US" sz="1200" b="0" i="0" u="none" strike="noStrike" kern="1200" baseline="0" dirty="0">
                <a:solidFill>
                  <a:schemeClr val="tx1"/>
                </a:solidFill>
                <a:latin typeface="+mn-lt"/>
                <a:ea typeface="+mn-ea"/>
                <a:cs typeface="+mn-cs"/>
              </a:rPr>
              <a:t>(). Unity and Unreal both literally call it Destroy(). Different names, same job: tell the engine 'I'm done with this one, take it off the list.’”</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[Live demo] </a:t>
            </a:r>
            <a:r>
              <a:rPr lang="en-US" sz="1200" b="0" i="0" u="none" strike="noStrike" kern="1200" baseline="0" dirty="0">
                <a:solidFill>
                  <a:schemeClr val="tx1"/>
                </a:solidFill>
                <a:latin typeface="+mn-lt"/>
                <a:ea typeface="+mn-ea"/>
                <a:cs typeface="+mn-cs"/>
              </a:rPr>
              <a:t>"Watch what happens if I comment out the cleanup line and fire a bunch of times." [If feasible, show a debug counter or the scene tree growing; otherwise describe it] "See the count climbing and never coming back down? Now watch with cleanup turned back on." [Re-enable, fire again, show the count staying flat as bullets appear and disappear]</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"So the pattern for anything you spawn at runtime is always two-sided: something that creates it, and something that eventually destroys it. Today, that second half is triggered by the bullet leaving the screen - but later this semester, you'll destroy things for other reasons too, like an enemy getting hit, or a pickup getting collected."</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[Discussion question] </a:t>
            </a:r>
            <a:r>
              <a:rPr lang="en-US" sz="1200" b="0" i="0" u="none" strike="noStrike" kern="1200" baseline="0" dirty="0">
                <a:solidFill>
                  <a:schemeClr val="tx1"/>
                </a:solidFill>
                <a:latin typeface="+mn-lt"/>
                <a:ea typeface="+mn-ea"/>
                <a:cs typeface="+mn-cs"/>
              </a:rPr>
              <a:t>"Can anyone think of a game where you've noticed things get removed after they're used or off-screen? " (Examples: arrows in a shooting game, particle bursts, collected coins.)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"Quick, important one before we go build: when you check whether a key is pressed, there are actually two different questions you could be asking. 'Is this key currently being held down right now?' - that's true for as long as you hold it, checked fresh every single frame. Or: 'did this key just get pressed, this exact frame, for the first time?' - that's only true for one single frame, no matter how long you hold it after."</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"For movement, back in Lesson 2, you wanted the 'currently held' version - hold the key, keep moving. But for firing a bullet, if you use that same 'currently held' check, holding the fire key down for one second at 60 frames a second fires sixty bullets in that one second. That's almost never what you want."</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[Demo cue: </a:t>
            </a:r>
            <a:r>
              <a:rPr lang="en-US" sz="1200" b="0" i="0" u="none" strike="noStrike" kern="1200" baseline="0" dirty="0">
                <a:solidFill>
                  <a:schemeClr val="tx1"/>
                </a:solidFill>
                <a:latin typeface="+mn-lt"/>
                <a:ea typeface="+mn-ea"/>
                <a:cs typeface="+mn-cs"/>
              </a:rPr>
              <a:t>same Godot project] "So firing needs the other check - 'just pressed, this one frame.' In Godot that's </a:t>
            </a:r>
            <a:r>
              <a:rPr lang="en-US" sz="1200" b="0" i="0" u="none" strike="noStrike" kern="1200" baseline="0" dirty="0" err="1">
                <a:solidFill>
                  <a:schemeClr val="tx1"/>
                </a:solidFill>
                <a:latin typeface="+mn-lt"/>
                <a:ea typeface="+mn-ea"/>
                <a:cs typeface="+mn-cs"/>
              </a:rPr>
              <a:t>is_action_just_pressed</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GameMaker</a:t>
            </a:r>
            <a:r>
              <a:rPr lang="en-US" sz="1200" b="0" i="0" u="none" strike="noStrike" kern="1200" baseline="0" dirty="0">
                <a:solidFill>
                  <a:schemeClr val="tx1"/>
                </a:solidFill>
                <a:latin typeface="+mn-lt"/>
                <a:ea typeface="+mn-ea"/>
                <a:cs typeface="+mn-cs"/>
              </a:rPr>
              <a:t> has </a:t>
            </a:r>
            <a:r>
              <a:rPr lang="en-US" sz="1200" b="0" i="0" u="none" strike="noStrike" kern="1200" baseline="0" dirty="0" err="1">
                <a:solidFill>
                  <a:schemeClr val="tx1"/>
                </a:solidFill>
                <a:latin typeface="+mn-lt"/>
                <a:ea typeface="+mn-ea"/>
                <a:cs typeface="+mn-cs"/>
              </a:rPr>
              <a:t>keyboard_check_pressed</a:t>
            </a:r>
            <a:r>
              <a:rPr lang="en-US" sz="1200" b="0" i="0" u="none" strike="noStrike" kern="1200" baseline="0" dirty="0">
                <a:solidFill>
                  <a:schemeClr val="tx1"/>
                </a:solidFill>
                <a:latin typeface="+mn-lt"/>
                <a:ea typeface="+mn-ea"/>
                <a:cs typeface="+mn-cs"/>
              </a:rPr>
              <a:t>() alongside </a:t>
            </a:r>
            <a:r>
              <a:rPr lang="en-US" sz="1200" b="0" i="0" u="none" strike="noStrike" kern="1200" baseline="0" dirty="0" err="1">
                <a:solidFill>
                  <a:schemeClr val="tx1"/>
                </a:solidFill>
                <a:latin typeface="+mn-lt"/>
                <a:ea typeface="+mn-ea"/>
                <a:cs typeface="+mn-cs"/>
              </a:rPr>
              <a:t>keyboard_check</a:t>
            </a:r>
            <a:r>
              <a:rPr lang="en-US" sz="1200" b="0" i="0" u="none" strike="noStrike" kern="1200" baseline="0" dirty="0">
                <a:solidFill>
                  <a:schemeClr val="tx1"/>
                </a:solidFill>
                <a:latin typeface="+mn-lt"/>
                <a:ea typeface="+mn-ea"/>
                <a:cs typeface="+mn-cs"/>
              </a:rPr>
              <a:t>(). Unity's </a:t>
            </a:r>
            <a:r>
              <a:rPr lang="en-US" sz="1200" b="0" i="0" u="none" strike="noStrike" kern="1200" baseline="0" dirty="0" err="1">
                <a:solidFill>
                  <a:schemeClr val="tx1"/>
                </a:solidFill>
                <a:latin typeface="+mn-lt"/>
                <a:ea typeface="+mn-ea"/>
                <a:cs typeface="+mn-cs"/>
              </a:rPr>
              <a:t>Keyboard.current.spaceKey.wasPressedThisFrame</a:t>
            </a:r>
            <a:r>
              <a:rPr lang="en-US" sz="1200" b="0" i="0" u="none" strike="noStrike" kern="1200" baseline="0" dirty="0">
                <a:solidFill>
                  <a:schemeClr val="tx1"/>
                </a:solidFill>
                <a:latin typeface="+mn-lt"/>
                <a:ea typeface="+mn-ea"/>
                <a:cs typeface="+mn-cs"/>
              </a:rPr>
              <a:t> versus .</a:t>
            </a:r>
            <a:r>
              <a:rPr lang="en-US" sz="1200" b="0" i="0" u="none" strike="noStrike" kern="1200" baseline="0" dirty="0" err="1">
                <a:solidFill>
                  <a:schemeClr val="tx1"/>
                </a:solidFill>
                <a:latin typeface="+mn-lt"/>
                <a:ea typeface="+mn-ea"/>
                <a:cs typeface="+mn-cs"/>
              </a:rPr>
              <a:t>isPressed</a:t>
            </a:r>
            <a:r>
              <a:rPr lang="en-US" sz="1200" b="0" i="0" u="none" strike="noStrike" kern="1200" baseline="0" dirty="0">
                <a:solidFill>
                  <a:schemeClr val="tx1"/>
                </a:solidFill>
                <a:latin typeface="+mn-lt"/>
                <a:ea typeface="+mn-ea"/>
                <a:cs typeface="+mn-cs"/>
              </a:rPr>
              <a:t>. Same split, different names, in basically every engine."</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"Your handout today already uses the right one for each engine, so you won't have to guess - but now you'll understand WHY it's written that way instead of just copying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"For lab today, open your own project from last week - not a new one. Everything today gets added on top of the character you already built."</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goal: pressing your fire key spawns a projectile at your character, it flies up the screen on its own, and it cleans itself up once it's gone. Level 1 is getting that working once. Level 2 is making sure it works cleanly every time you press it, with a cooldown so holding the key doesn't flood the screen. Level 3 is polish - a sound, a distinct look for the bullet, or tidying up how the code is organized."</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[Hand out engine-specific handouts]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"One more thing before you start: if your character from Lesson 2 still moves in all 4 directions, that's totally fine to leave as-is. Our actual game only needs Left and Right, so it's also fine to trim it down if you'd rather match the real game exactly - your call, either way works."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"Questions before we start lab? ... Let's go build something that shoots."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single most common bug this week: a held-down fire key spawning dozens of bullets per second. If a student's screen fills up with bullets instantly, this is almost always the cause - check whether they're using the "held" input check instead of the "just pressed" one.</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Second most common: bullets that spawn but never move, or move but never disappear - in every engine, this usually means the movement/cleanup code ended up in the wrong event (e.g. a Create event instead of a Step event, or vice versa).</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Circulate by engine cluster, starting with whichever engine has the most students this week.</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Students who finish Level 2 early should be pointed at the Level 3 ideas on their handout, not given new unrelated work.</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At 1:50, call time and do a 2-minute share-out: ask 2-3 students to show what they built, across different engines if possible.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bg_title_with_vgc.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0" y="502920"/>
            <a:ext cx="12191695" cy="320040"/>
          </a:xfrm>
          <a:prstGeom prst="rect">
            <a:avLst/>
          </a:prstGeom>
          <a:noFill/>
          <a:ln/>
        </p:spPr>
        <p:txBody>
          <a:bodyPr wrap="square" lIns="0" tIns="0" rIns="0" bIns="0" rtlCol="0" anchor="ctr"/>
          <a:lstStyle/>
          <a:p>
            <a:pPr marL="0" indent="0" algn="ctr">
              <a:buNone/>
            </a:pPr>
            <a:r>
              <a:rPr lang="en-US" sz="1300" kern="0" spc="100" dirty="0">
                <a:solidFill>
                  <a:srgbClr val="E8C25A"/>
                </a:solidFill>
                <a:latin typeface="Calibri" pitchFamily="34" charset="0"/>
                <a:ea typeface="Calibri" pitchFamily="34" charset="-122"/>
                <a:cs typeface="Calibri" pitchFamily="34" charset="-120"/>
              </a:rPr>
              <a:t>S O U T H   L A K E   H O M E   E D U C A T O R S</a:t>
            </a:r>
            <a:endParaRPr lang="en-US" sz="1300" dirty="0"/>
          </a:p>
        </p:txBody>
      </p:sp>
      <p:sp>
        <p:nvSpPr>
          <p:cNvPr id="4" name="Text 1"/>
          <p:cNvSpPr/>
          <p:nvPr/>
        </p:nvSpPr>
        <p:spPr>
          <a:xfrm>
            <a:off x="0" y="3383280"/>
            <a:ext cx="12191695" cy="685800"/>
          </a:xfrm>
          <a:prstGeom prst="rect">
            <a:avLst/>
          </a:prstGeom>
          <a:noFill/>
          <a:ln/>
        </p:spPr>
        <p:txBody>
          <a:bodyPr wrap="square" lIns="0" tIns="0" rIns="0" bIns="0" rtlCol="0" anchor="ctr"/>
          <a:lstStyle/>
          <a:p>
            <a:pPr marL="0" indent="0" algn="ctr">
              <a:buNone/>
            </a:pPr>
            <a:r>
              <a:rPr lang="en-US" sz="4400" b="1" dirty="0">
                <a:solidFill>
                  <a:srgbClr val="E8C25A"/>
                </a:solidFill>
                <a:latin typeface="Cambria" pitchFamily="34" charset="0"/>
                <a:ea typeface="Cambria" pitchFamily="34" charset="-122"/>
                <a:cs typeface="Cambria" pitchFamily="34" charset="-120"/>
              </a:rPr>
              <a:t>Lesson 3</a:t>
            </a:r>
            <a:endParaRPr lang="en-US" sz="4400" dirty="0"/>
          </a:p>
        </p:txBody>
      </p:sp>
      <p:sp>
        <p:nvSpPr>
          <p:cNvPr id="5" name="Text 2"/>
          <p:cNvSpPr/>
          <p:nvPr/>
        </p:nvSpPr>
        <p:spPr>
          <a:xfrm>
            <a:off x="914400" y="4114800"/>
            <a:ext cx="10362895" cy="640080"/>
          </a:xfrm>
          <a:prstGeom prst="rect">
            <a:avLst/>
          </a:prstGeom>
          <a:noFill/>
          <a:ln/>
        </p:spPr>
        <p:txBody>
          <a:bodyPr wrap="square" lIns="0" tIns="0" rIns="0" bIns="0" rtlCol="0" anchor="ctr"/>
          <a:lstStyle/>
          <a:p>
            <a:pPr marL="0" indent="0" algn="ctr">
              <a:buNone/>
            </a:pPr>
            <a:r>
              <a:rPr lang="en-US" sz="2200" dirty="0">
                <a:solidFill>
                  <a:srgbClr val="F4F0E6"/>
                </a:solidFill>
                <a:latin typeface="Calibri" pitchFamily="34" charset="0"/>
                <a:ea typeface="Calibri" pitchFamily="34" charset="-122"/>
                <a:cs typeface="Calibri" pitchFamily="34" charset="-120"/>
              </a:rPr>
              <a:t>Programming Basics II: Take Your Shot</a:t>
            </a:r>
            <a:endParaRPr lang="en-US" sz="2200" dirty="0"/>
          </a:p>
        </p:txBody>
      </p:sp>
      <p:sp>
        <p:nvSpPr>
          <p:cNvPr id="6" name="Text 3"/>
          <p:cNvSpPr/>
          <p:nvPr/>
        </p:nvSpPr>
        <p:spPr>
          <a:xfrm>
            <a:off x="0" y="4892040"/>
            <a:ext cx="12191695" cy="365760"/>
          </a:xfrm>
          <a:prstGeom prst="rect">
            <a:avLst/>
          </a:prstGeom>
          <a:noFill/>
          <a:ln/>
        </p:spPr>
        <p:txBody>
          <a:bodyPr wrap="square" lIns="0" tIns="0" rIns="0" bIns="0" rtlCol="0" anchor="ctr"/>
          <a:lstStyle/>
          <a:p>
            <a:pPr marL="0" indent="0" algn="ctr">
              <a:buNone/>
            </a:pPr>
            <a:r>
              <a:rPr lang="en-US" sz="1400" i="1" dirty="0">
                <a:solidFill>
                  <a:srgbClr val="9FB6D6"/>
                </a:solidFill>
                <a:latin typeface="Calibri" pitchFamily="34" charset="0"/>
                <a:ea typeface="Calibri" pitchFamily="34" charset="-122"/>
                <a:cs typeface="Calibri" pitchFamily="34" charset="-120"/>
              </a:rPr>
              <a:t>Semester 1, Week 3</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bg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48640" y="411480"/>
            <a:ext cx="7315200" cy="640080"/>
          </a:xfrm>
          <a:prstGeom prst="rect">
            <a:avLst/>
          </a:prstGeom>
          <a:noFill/>
          <a:ln/>
        </p:spPr>
        <p:txBody>
          <a:bodyPr wrap="square" lIns="0" tIns="0" rIns="0" bIns="0" rtlCol="0" anchor="ctr"/>
          <a:lstStyle/>
          <a:p>
            <a:pPr marL="0" indent="0">
              <a:buNone/>
            </a:pPr>
            <a:r>
              <a:rPr lang="en-US" sz="3800" b="1" dirty="0">
                <a:solidFill>
                  <a:srgbClr val="1C4A86"/>
                </a:solidFill>
                <a:latin typeface="Cambria" pitchFamily="34" charset="0"/>
                <a:ea typeface="Cambria" pitchFamily="34" charset="-122"/>
                <a:cs typeface="Cambria" pitchFamily="34" charset="-120"/>
              </a:rPr>
              <a:t>At a Glance</a:t>
            </a:r>
            <a:endParaRPr lang="en-US" sz="3800" dirty="0"/>
          </a:p>
        </p:txBody>
      </p:sp>
      <p:sp>
        <p:nvSpPr>
          <p:cNvPr id="4" name="Text 1"/>
          <p:cNvSpPr/>
          <p:nvPr/>
        </p:nvSpPr>
        <p:spPr>
          <a:xfrm>
            <a:off x="548640" y="960120"/>
            <a:ext cx="7315200" cy="365760"/>
          </a:xfrm>
          <a:prstGeom prst="rect">
            <a:avLst/>
          </a:prstGeom>
          <a:noFill/>
          <a:ln/>
        </p:spPr>
        <p:txBody>
          <a:bodyPr wrap="square" lIns="0" tIns="0" rIns="0" bIns="0" rtlCol="0" anchor="ctr"/>
          <a:lstStyle/>
          <a:p>
            <a:pPr marL="0" indent="0">
              <a:buNone/>
            </a:pPr>
            <a:r>
              <a:rPr lang="en-US" sz="1500" i="1" dirty="0">
                <a:solidFill>
                  <a:srgbClr val="5A6472"/>
                </a:solidFill>
                <a:latin typeface="Calibri" pitchFamily="34" charset="0"/>
                <a:ea typeface="Calibri" pitchFamily="34" charset="-122"/>
                <a:cs typeface="Calibri" pitchFamily="34" charset="-120"/>
              </a:rPr>
              <a:t>Lesson 3 objectives &amp; materials</a:t>
            </a:r>
            <a:endParaRPr lang="en-US" sz="1500" dirty="0"/>
          </a:p>
        </p:txBody>
      </p:sp>
      <p:sp>
        <p:nvSpPr>
          <p:cNvPr id="5" name="Text 2"/>
          <p:cNvSpPr/>
          <p:nvPr/>
        </p:nvSpPr>
        <p:spPr>
          <a:xfrm>
            <a:off x="548640" y="1508760"/>
            <a:ext cx="6035040" cy="365760"/>
          </a:xfrm>
          <a:prstGeom prst="rect">
            <a:avLst/>
          </a:prstGeom>
          <a:noFill/>
          <a:ln/>
        </p:spPr>
        <p:txBody>
          <a:bodyPr wrap="square" lIns="0" tIns="0" rIns="0" bIns="0" rtlCol="0" anchor="ctr"/>
          <a:lstStyle/>
          <a:p>
            <a:pPr marL="0" indent="0">
              <a:buNone/>
            </a:pPr>
            <a:r>
              <a:rPr lang="en-US" sz="1600" b="1" dirty="0">
                <a:solidFill>
                  <a:srgbClr val="1C4A86"/>
                </a:solidFill>
                <a:latin typeface="Calibri" pitchFamily="34" charset="0"/>
                <a:ea typeface="Calibri" pitchFamily="34" charset="-122"/>
                <a:cs typeface="Calibri" pitchFamily="34" charset="-120"/>
              </a:rPr>
              <a:t>By the end of today, students will:</a:t>
            </a:r>
            <a:endParaRPr lang="en-US" sz="1600" dirty="0"/>
          </a:p>
        </p:txBody>
      </p:sp>
      <p:pic>
        <p:nvPicPr>
          <p:cNvPr id="6" name="Image 1" descr="icons/check.png"/>
          <p:cNvPicPr>
            <a:picLocks noChangeAspect="1"/>
          </p:cNvPicPr>
          <p:nvPr/>
        </p:nvPicPr>
        <p:blipFill>
          <a:blip r:embed="rId4"/>
          <a:stretch>
            <a:fillRect/>
          </a:stretch>
        </p:blipFill>
        <p:spPr>
          <a:xfrm>
            <a:off x="548640" y="1965960"/>
            <a:ext cx="384048" cy="384048"/>
          </a:xfrm>
          <a:prstGeom prst="rect">
            <a:avLst/>
          </a:prstGeom>
        </p:spPr>
      </p:pic>
      <p:sp>
        <p:nvSpPr>
          <p:cNvPr id="7" name="Text 3"/>
          <p:cNvSpPr/>
          <p:nvPr/>
        </p:nvSpPr>
        <p:spPr>
          <a:xfrm>
            <a:off x="1051560" y="1938528"/>
            <a:ext cx="5577840" cy="502920"/>
          </a:xfrm>
          <a:prstGeom prst="rect">
            <a:avLst/>
          </a:prstGeom>
          <a:noFill/>
          <a:ln/>
        </p:spPr>
        <p:txBody>
          <a:bodyPr wrap="square" lIns="0" tIns="0" rIns="0" bIns="0" rtlCol="0" anchor="ctr"/>
          <a:lstStyle/>
          <a:p>
            <a:pPr marL="0" indent="0">
              <a:buNone/>
            </a:pPr>
            <a:r>
              <a:rPr lang="en-US" sz="1450" dirty="0">
                <a:solidFill>
                  <a:srgbClr val="222222"/>
                </a:solidFill>
                <a:latin typeface="Calibri" pitchFamily="34" charset="0"/>
                <a:ea typeface="Calibri" pitchFamily="34" charset="-122"/>
                <a:cs typeface="Calibri" pitchFamily="34" charset="-120"/>
              </a:rPr>
              <a:t>Explain the template/instance relationship</a:t>
            </a:r>
            <a:endParaRPr lang="en-US" sz="1450" dirty="0"/>
          </a:p>
        </p:txBody>
      </p:sp>
      <p:pic>
        <p:nvPicPr>
          <p:cNvPr id="8" name="Image 2" descr="icons/check.png"/>
          <p:cNvPicPr>
            <a:picLocks noChangeAspect="1"/>
          </p:cNvPicPr>
          <p:nvPr/>
        </p:nvPicPr>
        <p:blipFill>
          <a:blip r:embed="rId4"/>
          <a:stretch>
            <a:fillRect/>
          </a:stretch>
        </p:blipFill>
        <p:spPr>
          <a:xfrm>
            <a:off x="548640" y="2532888"/>
            <a:ext cx="384048" cy="384048"/>
          </a:xfrm>
          <a:prstGeom prst="rect">
            <a:avLst/>
          </a:prstGeom>
        </p:spPr>
      </p:pic>
      <p:sp>
        <p:nvSpPr>
          <p:cNvPr id="9" name="Text 4"/>
          <p:cNvSpPr/>
          <p:nvPr/>
        </p:nvSpPr>
        <p:spPr>
          <a:xfrm>
            <a:off x="1051560" y="2505456"/>
            <a:ext cx="5577840" cy="502920"/>
          </a:xfrm>
          <a:prstGeom prst="rect">
            <a:avLst/>
          </a:prstGeom>
          <a:noFill/>
          <a:ln/>
        </p:spPr>
        <p:txBody>
          <a:bodyPr wrap="square" lIns="0" tIns="0" rIns="0" bIns="0" rtlCol="0" anchor="ctr"/>
          <a:lstStyle/>
          <a:p>
            <a:pPr marL="0" indent="0">
              <a:buNone/>
            </a:pPr>
            <a:r>
              <a:rPr lang="en-US" sz="1450" dirty="0">
                <a:solidFill>
                  <a:srgbClr val="222222"/>
                </a:solidFill>
                <a:latin typeface="Calibri" pitchFamily="34" charset="0"/>
                <a:ea typeface="Calibri" pitchFamily="34" charset="-122"/>
                <a:cs typeface="Calibri" pitchFamily="34" charset="-120"/>
              </a:rPr>
              <a:t>Explain why spawned objects must be cleaned up</a:t>
            </a:r>
            <a:endParaRPr lang="en-US" sz="1450" dirty="0"/>
          </a:p>
        </p:txBody>
      </p:sp>
      <p:pic>
        <p:nvPicPr>
          <p:cNvPr id="10" name="Image 3" descr="icons/check.png"/>
          <p:cNvPicPr>
            <a:picLocks noChangeAspect="1"/>
          </p:cNvPicPr>
          <p:nvPr/>
        </p:nvPicPr>
        <p:blipFill>
          <a:blip r:embed="rId4"/>
          <a:stretch>
            <a:fillRect/>
          </a:stretch>
        </p:blipFill>
        <p:spPr>
          <a:xfrm>
            <a:off x="548640" y="3099816"/>
            <a:ext cx="384048" cy="384048"/>
          </a:xfrm>
          <a:prstGeom prst="rect">
            <a:avLst/>
          </a:prstGeom>
        </p:spPr>
      </p:pic>
      <p:sp>
        <p:nvSpPr>
          <p:cNvPr id="11" name="Text 5"/>
          <p:cNvSpPr/>
          <p:nvPr/>
        </p:nvSpPr>
        <p:spPr>
          <a:xfrm>
            <a:off x="1051560" y="3072384"/>
            <a:ext cx="5577840" cy="502920"/>
          </a:xfrm>
          <a:prstGeom prst="rect">
            <a:avLst/>
          </a:prstGeom>
          <a:noFill/>
          <a:ln/>
        </p:spPr>
        <p:txBody>
          <a:bodyPr wrap="square" lIns="0" tIns="0" rIns="0" bIns="0" rtlCol="0" anchor="ctr"/>
          <a:lstStyle/>
          <a:p>
            <a:pPr marL="0" indent="0">
              <a:buNone/>
            </a:pPr>
            <a:r>
              <a:rPr lang="en-US" sz="1450" dirty="0">
                <a:solidFill>
                  <a:srgbClr val="222222"/>
                </a:solidFill>
                <a:latin typeface="Calibri" pitchFamily="34" charset="0"/>
                <a:ea typeface="Calibri" pitchFamily="34" charset="-122"/>
                <a:cs typeface="Calibri" pitchFamily="34" charset="-120"/>
              </a:rPr>
              <a:t>Explain "just pressed" vs. "currently held" input checks</a:t>
            </a:r>
            <a:endParaRPr lang="en-US" sz="1450" dirty="0"/>
          </a:p>
        </p:txBody>
      </p:sp>
      <p:pic>
        <p:nvPicPr>
          <p:cNvPr id="12" name="Image 4" descr="icons/check.png"/>
          <p:cNvPicPr>
            <a:picLocks noChangeAspect="1"/>
          </p:cNvPicPr>
          <p:nvPr/>
        </p:nvPicPr>
        <p:blipFill>
          <a:blip r:embed="rId4"/>
          <a:stretch>
            <a:fillRect/>
          </a:stretch>
        </p:blipFill>
        <p:spPr>
          <a:xfrm>
            <a:off x="548640" y="3666744"/>
            <a:ext cx="384048" cy="384048"/>
          </a:xfrm>
          <a:prstGeom prst="rect">
            <a:avLst/>
          </a:prstGeom>
        </p:spPr>
      </p:pic>
      <p:sp>
        <p:nvSpPr>
          <p:cNvPr id="13" name="Text 6"/>
          <p:cNvSpPr/>
          <p:nvPr/>
        </p:nvSpPr>
        <p:spPr>
          <a:xfrm>
            <a:off x="1051560" y="3639312"/>
            <a:ext cx="5577840" cy="502920"/>
          </a:xfrm>
          <a:prstGeom prst="rect">
            <a:avLst/>
          </a:prstGeom>
          <a:noFill/>
          <a:ln/>
        </p:spPr>
        <p:txBody>
          <a:bodyPr wrap="square" lIns="0" tIns="0" rIns="0" bIns="0" rtlCol="0" anchor="ctr"/>
          <a:lstStyle/>
          <a:p>
            <a:pPr marL="0" indent="0">
              <a:buNone/>
            </a:pPr>
            <a:r>
              <a:rPr lang="en-US" sz="1450" dirty="0">
                <a:solidFill>
                  <a:srgbClr val="222222"/>
                </a:solidFill>
                <a:latin typeface="Calibri" pitchFamily="34" charset="0"/>
                <a:ea typeface="Calibri" pitchFamily="34" charset="-122"/>
                <a:cs typeface="Calibri" pitchFamily="34" charset="-120"/>
              </a:rPr>
              <a:t>Add a working shoot mechanic to their Semester 1 project</a:t>
            </a:r>
            <a:endParaRPr lang="en-US" sz="1450" dirty="0"/>
          </a:p>
        </p:txBody>
      </p:sp>
      <p:sp>
        <p:nvSpPr>
          <p:cNvPr id="14" name="Shape 7"/>
          <p:cNvSpPr/>
          <p:nvPr/>
        </p:nvSpPr>
        <p:spPr>
          <a:xfrm>
            <a:off x="6949440" y="1508760"/>
            <a:ext cx="4709160" cy="4206240"/>
          </a:xfrm>
          <a:prstGeom prst="roundRect">
            <a:avLst>
              <a:gd name="adj" fmla="val 2609"/>
            </a:avLst>
          </a:prstGeom>
          <a:solidFill>
            <a:srgbClr val="EDF2F8"/>
          </a:solidFill>
          <a:ln/>
        </p:spPr>
        <p:txBody>
          <a:bodyPr/>
          <a:lstStyle/>
          <a:p>
            <a:endParaRPr lang="en-US"/>
          </a:p>
        </p:txBody>
      </p:sp>
      <p:sp>
        <p:nvSpPr>
          <p:cNvPr id="15" name="Text 8"/>
          <p:cNvSpPr/>
          <p:nvPr/>
        </p:nvSpPr>
        <p:spPr>
          <a:xfrm>
            <a:off x="7223760" y="1691640"/>
            <a:ext cx="4206240" cy="365760"/>
          </a:xfrm>
          <a:prstGeom prst="rect">
            <a:avLst/>
          </a:prstGeom>
          <a:noFill/>
          <a:ln/>
        </p:spPr>
        <p:txBody>
          <a:bodyPr wrap="square" lIns="0" tIns="0" rIns="0" bIns="0" rtlCol="0" anchor="ctr"/>
          <a:lstStyle/>
          <a:p>
            <a:pPr marL="0" indent="0">
              <a:buNone/>
            </a:pPr>
            <a:r>
              <a:rPr lang="en-US" sz="1500" b="1" dirty="0">
                <a:solidFill>
                  <a:srgbClr val="1C4A86"/>
                </a:solidFill>
                <a:latin typeface="Calibri" pitchFamily="34" charset="0"/>
                <a:ea typeface="Calibri" pitchFamily="34" charset="-122"/>
                <a:cs typeface="Calibri" pitchFamily="34" charset="-120"/>
              </a:rPr>
              <a:t>What We're Using Today</a:t>
            </a:r>
            <a:endParaRPr lang="en-US" sz="1500" dirty="0"/>
          </a:p>
        </p:txBody>
      </p:sp>
      <p:sp>
        <p:nvSpPr>
          <p:cNvPr id="16" name="Text 9"/>
          <p:cNvSpPr/>
          <p:nvPr/>
        </p:nvSpPr>
        <p:spPr>
          <a:xfrm>
            <a:off x="7223760" y="2148840"/>
            <a:ext cx="228600" cy="548640"/>
          </a:xfrm>
          <a:prstGeom prst="rect">
            <a:avLst/>
          </a:prstGeom>
          <a:noFill/>
          <a:ln/>
        </p:spPr>
        <p:txBody>
          <a:bodyPr wrap="square" lIns="0" tIns="0" rIns="0" bIns="0" rtlCol="0" anchor="ctr"/>
          <a:lstStyle/>
          <a:p>
            <a:pPr marL="0" indent="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17" name="Text 10"/>
          <p:cNvSpPr/>
          <p:nvPr/>
        </p:nvSpPr>
        <p:spPr>
          <a:xfrm>
            <a:off x="7498080" y="2148840"/>
            <a:ext cx="4023360" cy="621792"/>
          </a:xfrm>
          <a:prstGeom prst="rect">
            <a:avLst/>
          </a:prstGeom>
          <a:noFill/>
          <a:ln/>
        </p:spPr>
        <p:txBody>
          <a:bodyPr wrap="square" lIns="0" tIns="0" rIns="0" bIns="0" rtlCol="0" anchor="ctr"/>
          <a:lstStyle/>
          <a:p>
            <a:pPr marL="0" indent="0">
              <a:buNone/>
            </a:pPr>
            <a:r>
              <a:rPr lang="en-US" sz="1250" dirty="0">
                <a:solidFill>
                  <a:srgbClr val="222222"/>
                </a:solidFill>
                <a:latin typeface="Calibri" pitchFamily="34" charset="0"/>
                <a:ea typeface="Calibri" pitchFamily="34" charset="-122"/>
                <a:cs typeface="Calibri" pitchFamily="34" charset="-120"/>
              </a:rPr>
              <a:t>Demo laptop with all 8 engines verified</a:t>
            </a:r>
            <a:endParaRPr lang="en-US" sz="1250" dirty="0"/>
          </a:p>
        </p:txBody>
      </p:sp>
      <p:sp>
        <p:nvSpPr>
          <p:cNvPr id="18" name="Text 11"/>
          <p:cNvSpPr/>
          <p:nvPr/>
        </p:nvSpPr>
        <p:spPr>
          <a:xfrm>
            <a:off x="7223760" y="2807208"/>
            <a:ext cx="228600" cy="548640"/>
          </a:xfrm>
          <a:prstGeom prst="rect">
            <a:avLst/>
          </a:prstGeom>
          <a:noFill/>
          <a:ln/>
        </p:spPr>
        <p:txBody>
          <a:bodyPr wrap="square" lIns="0" tIns="0" rIns="0" bIns="0" rtlCol="0" anchor="ctr"/>
          <a:lstStyle/>
          <a:p>
            <a:pPr marL="0" indent="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19" name="Text 12"/>
          <p:cNvSpPr/>
          <p:nvPr/>
        </p:nvSpPr>
        <p:spPr>
          <a:xfrm>
            <a:off x="7498080" y="2807208"/>
            <a:ext cx="4023360" cy="621792"/>
          </a:xfrm>
          <a:prstGeom prst="rect">
            <a:avLst/>
          </a:prstGeom>
          <a:noFill/>
          <a:ln/>
        </p:spPr>
        <p:txBody>
          <a:bodyPr wrap="square" lIns="0" tIns="0" rIns="0" bIns="0" rtlCol="0" anchor="ctr"/>
          <a:lstStyle/>
          <a:p>
            <a:pPr marL="0" indent="0">
              <a:buNone/>
            </a:pPr>
            <a:r>
              <a:rPr lang="en-US" sz="1250" dirty="0">
                <a:solidFill>
                  <a:srgbClr val="222222"/>
                </a:solidFill>
                <a:latin typeface="Calibri" pitchFamily="34" charset="0"/>
                <a:ea typeface="Calibri" pitchFamily="34" charset="-122"/>
                <a:cs typeface="Calibri" pitchFamily="34" charset="-120"/>
              </a:rPr>
              <a:t>Godot, for the live lecture demo</a:t>
            </a:r>
            <a:endParaRPr lang="en-US" sz="1250" dirty="0"/>
          </a:p>
        </p:txBody>
      </p:sp>
      <p:sp>
        <p:nvSpPr>
          <p:cNvPr id="20" name="Text 13"/>
          <p:cNvSpPr/>
          <p:nvPr/>
        </p:nvSpPr>
        <p:spPr>
          <a:xfrm>
            <a:off x="7223760" y="3465576"/>
            <a:ext cx="228600" cy="548640"/>
          </a:xfrm>
          <a:prstGeom prst="rect">
            <a:avLst/>
          </a:prstGeom>
          <a:noFill/>
          <a:ln/>
        </p:spPr>
        <p:txBody>
          <a:bodyPr wrap="square" lIns="0" tIns="0" rIns="0" bIns="0" rtlCol="0" anchor="ctr"/>
          <a:lstStyle/>
          <a:p>
            <a:pPr marL="0" indent="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1" name="Text 14"/>
          <p:cNvSpPr/>
          <p:nvPr/>
        </p:nvSpPr>
        <p:spPr>
          <a:xfrm>
            <a:off x="7498080" y="3465576"/>
            <a:ext cx="4023360" cy="621792"/>
          </a:xfrm>
          <a:prstGeom prst="rect">
            <a:avLst/>
          </a:prstGeom>
          <a:noFill/>
          <a:ln/>
        </p:spPr>
        <p:txBody>
          <a:bodyPr wrap="square" lIns="0" tIns="0" rIns="0" bIns="0" rtlCol="0" anchor="ctr"/>
          <a:lstStyle/>
          <a:p>
            <a:pPr marL="0" indent="0">
              <a:buNone/>
            </a:pPr>
            <a:r>
              <a:rPr lang="en-US" sz="1250" dirty="0">
                <a:solidFill>
                  <a:srgbClr val="222222"/>
                </a:solidFill>
                <a:latin typeface="Calibri" pitchFamily="34" charset="0"/>
                <a:ea typeface="Calibri" pitchFamily="34" charset="-122"/>
                <a:cs typeface="Calibri" pitchFamily="34" charset="-120"/>
              </a:rPr>
              <a:t>Engine-specific Student Handouts, one per student</a:t>
            </a:r>
            <a:endParaRPr lang="en-US" sz="1250" dirty="0"/>
          </a:p>
        </p:txBody>
      </p:sp>
      <p:sp>
        <p:nvSpPr>
          <p:cNvPr id="22" name="Text 15"/>
          <p:cNvSpPr/>
          <p:nvPr/>
        </p:nvSpPr>
        <p:spPr>
          <a:xfrm>
            <a:off x="7223760" y="4123944"/>
            <a:ext cx="228600" cy="548640"/>
          </a:xfrm>
          <a:prstGeom prst="rect">
            <a:avLst/>
          </a:prstGeom>
          <a:noFill/>
          <a:ln/>
        </p:spPr>
        <p:txBody>
          <a:bodyPr wrap="square" lIns="0" tIns="0" rIns="0" bIns="0" rtlCol="0" anchor="ctr"/>
          <a:lstStyle/>
          <a:p>
            <a:pPr marL="0" indent="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3" name="Text 16"/>
          <p:cNvSpPr/>
          <p:nvPr/>
        </p:nvSpPr>
        <p:spPr>
          <a:xfrm>
            <a:off x="7498080" y="4123944"/>
            <a:ext cx="4023360" cy="621792"/>
          </a:xfrm>
          <a:prstGeom prst="rect">
            <a:avLst/>
          </a:prstGeom>
          <a:noFill/>
          <a:ln/>
        </p:spPr>
        <p:txBody>
          <a:bodyPr wrap="square" lIns="0" tIns="0" rIns="0" bIns="0" rtlCol="0" anchor="ctr"/>
          <a:lstStyle/>
          <a:p>
            <a:pPr marL="0" indent="0">
              <a:buNone/>
            </a:pPr>
            <a:r>
              <a:rPr lang="en-US" sz="1250" dirty="0">
                <a:solidFill>
                  <a:srgbClr val="222222"/>
                </a:solidFill>
                <a:latin typeface="Calibri" pitchFamily="34" charset="0"/>
                <a:ea typeface="Calibri" pitchFamily="34" charset="-122"/>
                <a:cs typeface="Calibri" pitchFamily="34" charset="-120"/>
              </a:rPr>
              <a:t>This lesson's Assets folder (new projectile sprite + sound - no download needed)</a:t>
            </a:r>
            <a:endParaRPr lang="en-US" sz="1250" dirty="0"/>
          </a:p>
        </p:txBody>
      </p:sp>
      <p:sp>
        <p:nvSpPr>
          <p:cNvPr id="24" name="Text 17"/>
          <p:cNvSpPr/>
          <p:nvPr/>
        </p:nvSpPr>
        <p:spPr>
          <a:xfrm>
            <a:off x="7223760" y="4782312"/>
            <a:ext cx="228600" cy="548640"/>
          </a:xfrm>
          <a:prstGeom prst="rect">
            <a:avLst/>
          </a:prstGeom>
          <a:noFill/>
          <a:ln/>
        </p:spPr>
        <p:txBody>
          <a:bodyPr wrap="square" lIns="0" tIns="0" rIns="0" bIns="0" rtlCol="0" anchor="ctr"/>
          <a:lstStyle/>
          <a:p>
            <a:pPr marL="0" indent="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5" name="Text 18"/>
          <p:cNvSpPr/>
          <p:nvPr/>
        </p:nvSpPr>
        <p:spPr>
          <a:xfrm>
            <a:off x="7498080" y="4782312"/>
            <a:ext cx="4023360" cy="621792"/>
          </a:xfrm>
          <a:prstGeom prst="rect">
            <a:avLst/>
          </a:prstGeom>
          <a:noFill/>
          <a:ln/>
        </p:spPr>
        <p:txBody>
          <a:bodyPr wrap="square" lIns="0" tIns="0" rIns="0" bIns="0" rtlCol="0" anchor="ctr"/>
          <a:lstStyle/>
          <a:p>
            <a:pPr marL="0" indent="0">
              <a:buNone/>
            </a:pPr>
            <a:r>
              <a:rPr lang="en-US" sz="1250" dirty="0">
                <a:solidFill>
                  <a:srgbClr val="222222"/>
                </a:solidFill>
                <a:latin typeface="Calibri" pitchFamily="34" charset="0"/>
                <a:ea typeface="Calibri" pitchFamily="34" charset="-122"/>
                <a:cs typeface="Calibri" pitchFamily="34" charset="-120"/>
              </a:rPr>
              <a:t>Your own [YourName]Game project from Lesson 2 - not a new one</a:t>
            </a:r>
            <a:endParaRPr lang="en-US" sz="1250" dirty="0"/>
          </a:p>
        </p:txBody>
      </p:sp>
      <p:sp>
        <p:nvSpPr>
          <p:cNvPr id="26" name="Text 19"/>
          <p:cNvSpPr/>
          <p:nvPr/>
        </p:nvSpPr>
        <p:spPr>
          <a:xfrm>
            <a:off x="548640" y="5989320"/>
            <a:ext cx="11064240" cy="457200"/>
          </a:xfrm>
          <a:prstGeom prst="rect">
            <a:avLst/>
          </a:prstGeom>
          <a:noFill/>
          <a:ln/>
        </p:spPr>
        <p:txBody>
          <a:bodyPr wrap="square" lIns="0" tIns="0" rIns="0" bIns="0" rtlCol="0" anchor="ctr"/>
          <a:lstStyle/>
          <a:p>
            <a:pPr marL="0" indent="0">
              <a:buNone/>
            </a:pPr>
            <a:r>
              <a:rPr lang="en-US" sz="1150" i="1" dirty="0">
                <a:solidFill>
                  <a:srgbClr val="5A6472"/>
                </a:solidFill>
                <a:latin typeface="Calibri" pitchFamily="34" charset="0"/>
                <a:ea typeface="Calibri" pitchFamily="34" charset="-122"/>
                <a:cs typeface="Calibri" pitchFamily="34" charset="-120"/>
              </a:rPr>
              <a:t>IGDA framework tie-in:  Programming - object instancing, resource/memory management, input handling (introductory).</a:t>
            </a:r>
            <a:endParaRPr lang="en-US" sz="1150" dirty="0"/>
          </a:p>
        </p:txBody>
      </p:sp>
      <p:sp>
        <p:nvSpPr>
          <p:cNvPr id="27" name="Text 20"/>
          <p:cNvSpPr/>
          <p:nvPr/>
        </p:nvSpPr>
        <p:spPr>
          <a:xfrm>
            <a:off x="457200" y="6528816"/>
            <a:ext cx="4572000" cy="274320"/>
          </a:xfrm>
          <a:prstGeom prst="rect">
            <a:avLst/>
          </a:prstGeom>
          <a:noFill/>
          <a:ln/>
        </p:spPr>
        <p:txBody>
          <a:bodyPr wrap="square" lIns="0" tIns="0" rIns="0" bIns="0" rtlCol="0" anchor="ctr"/>
          <a:lstStyle/>
          <a:p>
            <a:pPr marL="0" indent="0">
              <a:buNone/>
            </a:pPr>
            <a:r>
              <a:rPr lang="en-US" sz="1000" b="1" kern="0" spc="20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8" name="Text 21"/>
          <p:cNvSpPr/>
          <p:nvPr/>
        </p:nvSpPr>
        <p:spPr>
          <a:xfrm>
            <a:off x="10088575" y="6528816"/>
            <a:ext cx="1371600" cy="274320"/>
          </a:xfrm>
          <a:prstGeom prst="rect">
            <a:avLst/>
          </a:prstGeom>
          <a:noFill/>
          <a:ln/>
        </p:spPr>
        <p:txBody>
          <a:bodyPr wrap="square" lIns="0" tIns="0" rIns="0" bIns="0" rtlCol="0" anchor="ctr"/>
          <a:lstStyle/>
          <a:p>
            <a:pPr marL="0" indent="0" algn="r">
              <a:buNone/>
            </a:pPr>
            <a:r>
              <a:rPr lang="en-US" sz="1000" dirty="0">
                <a:solidFill>
                  <a:srgbClr val="5A6472"/>
                </a:solidFill>
                <a:latin typeface="Calibri" pitchFamily="34" charset="0"/>
                <a:ea typeface="Calibri" pitchFamily="34" charset="-122"/>
                <a:cs typeface="Calibri" pitchFamily="34" charset="-120"/>
              </a:rPr>
              <a:t>Lesson 3</a:t>
            </a:r>
            <a:endParaRPr lang="en-US" sz="1000" dirty="0"/>
          </a:p>
        </p:txBody>
      </p:sp>
      <p:sp>
        <p:nvSpPr>
          <p:cNvPr id="29" name="Text 22"/>
          <p:cNvSpPr/>
          <p:nvPr/>
        </p:nvSpPr>
        <p:spPr>
          <a:xfrm>
            <a:off x="11505895" y="6528816"/>
            <a:ext cx="411480" cy="274320"/>
          </a:xfrm>
          <a:prstGeom prst="rect">
            <a:avLst/>
          </a:prstGeom>
          <a:noFill/>
          <a:ln/>
        </p:spPr>
        <p:txBody>
          <a:bodyPr wrap="square" lIns="0" tIns="0" rIns="0" bIns="0" rtlCol="0" anchor="ctr"/>
          <a:lstStyle/>
          <a:p>
            <a:pPr marL="0" indent="0" algn="r">
              <a:buNone/>
            </a:pPr>
            <a:r>
              <a:rPr lang="en-US" sz="1000" dirty="0">
                <a:solidFill>
                  <a:srgbClr val="5A64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bg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48640" y="411480"/>
            <a:ext cx="7315200" cy="640080"/>
          </a:xfrm>
          <a:prstGeom prst="rect">
            <a:avLst/>
          </a:prstGeom>
          <a:noFill/>
          <a:ln/>
        </p:spPr>
        <p:txBody>
          <a:bodyPr wrap="square" lIns="0" tIns="0" rIns="0" bIns="0" rtlCol="0" anchor="ctr"/>
          <a:lstStyle/>
          <a:p>
            <a:pPr marL="0" indent="0">
              <a:buNone/>
            </a:pPr>
            <a:r>
              <a:rPr lang="en-US" sz="3800" b="1" dirty="0">
                <a:solidFill>
                  <a:srgbClr val="1C4A86"/>
                </a:solidFill>
                <a:latin typeface="Cambria" pitchFamily="34" charset="0"/>
                <a:ea typeface="Cambria" pitchFamily="34" charset="-122"/>
                <a:cs typeface="Cambria" pitchFamily="34" charset="-120"/>
              </a:rPr>
              <a:t>Today's Agenda</a:t>
            </a:r>
            <a:endParaRPr lang="en-US" sz="3800" dirty="0"/>
          </a:p>
        </p:txBody>
      </p:sp>
      <p:pic>
        <p:nvPicPr>
          <p:cNvPr id="4" name="Image 1" descr="icons/production.png"/>
          <p:cNvPicPr>
            <a:picLocks noChangeAspect="1"/>
          </p:cNvPicPr>
          <p:nvPr/>
        </p:nvPicPr>
        <p:blipFill>
          <a:blip r:embed="rId4"/>
          <a:stretch>
            <a:fillRect/>
          </a:stretch>
        </p:blipFill>
        <p:spPr>
          <a:xfrm>
            <a:off x="10607040" y="365760"/>
            <a:ext cx="822960" cy="822960"/>
          </a:xfrm>
          <a:prstGeom prst="rect">
            <a:avLst/>
          </a:prstGeom>
        </p:spPr>
      </p:pic>
      <p:sp>
        <p:nvSpPr>
          <p:cNvPr id="5" name="Shape 1"/>
          <p:cNvSpPr/>
          <p:nvPr/>
        </p:nvSpPr>
        <p:spPr>
          <a:xfrm>
            <a:off x="548640" y="1417320"/>
            <a:ext cx="11064240" cy="548640"/>
          </a:xfrm>
          <a:prstGeom prst="roundRect">
            <a:avLst>
              <a:gd name="adj" fmla="val 13333"/>
            </a:avLst>
          </a:prstGeom>
          <a:solidFill>
            <a:srgbClr val="FFFFFF"/>
          </a:solidFill>
          <a:ln w="12700">
            <a:solidFill>
              <a:srgbClr val="DCE3EC"/>
            </a:solidFill>
            <a:prstDash val="solid"/>
          </a:ln>
        </p:spPr>
        <p:txBody>
          <a:bodyPr/>
          <a:lstStyle/>
          <a:p>
            <a:endParaRPr lang="en-US"/>
          </a:p>
        </p:txBody>
      </p:sp>
      <p:sp>
        <p:nvSpPr>
          <p:cNvPr id="6" name="Text 2"/>
          <p:cNvSpPr/>
          <p:nvPr/>
        </p:nvSpPr>
        <p:spPr>
          <a:xfrm>
            <a:off x="822960" y="1417320"/>
            <a:ext cx="2103120" cy="548640"/>
          </a:xfrm>
          <a:prstGeom prst="rect">
            <a:avLst/>
          </a:prstGeom>
          <a:noFill/>
          <a:ln/>
        </p:spPr>
        <p:txBody>
          <a:bodyPr wrap="square" lIns="0" tIns="0" rIns="0" bIns="0" rtlCol="0" anchor="ctr"/>
          <a:lstStyle/>
          <a:p>
            <a:pPr marL="0" indent="0">
              <a:buNone/>
            </a:pPr>
            <a:r>
              <a:rPr lang="en-US" sz="1350" b="1" dirty="0">
                <a:solidFill>
                  <a:srgbClr val="1C4A86"/>
                </a:solidFill>
                <a:latin typeface="Calibri" pitchFamily="34" charset="0"/>
                <a:ea typeface="Calibri" pitchFamily="34" charset="-122"/>
                <a:cs typeface="Calibri" pitchFamily="34" charset="-120"/>
              </a:rPr>
              <a:t>0:00 - 0:05</a:t>
            </a:r>
            <a:endParaRPr lang="en-US" sz="1350" dirty="0"/>
          </a:p>
        </p:txBody>
      </p:sp>
      <p:sp>
        <p:nvSpPr>
          <p:cNvPr id="7" name="Text 3"/>
          <p:cNvSpPr/>
          <p:nvPr/>
        </p:nvSpPr>
        <p:spPr>
          <a:xfrm>
            <a:off x="3017520" y="1417320"/>
            <a:ext cx="8412480" cy="548640"/>
          </a:xfrm>
          <a:prstGeom prst="rect">
            <a:avLst/>
          </a:prstGeom>
          <a:noFill/>
          <a:ln/>
        </p:spPr>
        <p:txBody>
          <a:bodyPr wrap="square" lIns="0" tIns="0" rIns="0" bIns="0" rtlCol="0" anchor="ctr"/>
          <a:lstStyle/>
          <a:p>
            <a:pPr marL="0" indent="0">
              <a:buNone/>
            </a:pPr>
            <a:r>
              <a:rPr lang="en-US" sz="1280" dirty="0">
                <a:solidFill>
                  <a:srgbClr val="222222"/>
                </a:solidFill>
                <a:latin typeface="Calibri" pitchFamily="34" charset="0"/>
                <a:ea typeface="Calibri" pitchFamily="34" charset="-122"/>
                <a:cs typeface="Calibri" pitchFamily="34" charset="-120"/>
              </a:rPr>
              <a:t>Welcome back, Lesson 2 recap, quick share-out</a:t>
            </a:r>
            <a:endParaRPr lang="en-US" sz="1280" dirty="0"/>
          </a:p>
        </p:txBody>
      </p:sp>
      <p:sp>
        <p:nvSpPr>
          <p:cNvPr id="8" name="Shape 4"/>
          <p:cNvSpPr/>
          <p:nvPr/>
        </p:nvSpPr>
        <p:spPr>
          <a:xfrm>
            <a:off x="548640" y="2066544"/>
            <a:ext cx="11064240" cy="548640"/>
          </a:xfrm>
          <a:prstGeom prst="roundRect">
            <a:avLst>
              <a:gd name="adj" fmla="val 13333"/>
            </a:avLst>
          </a:prstGeom>
          <a:solidFill>
            <a:srgbClr val="FFFFFF"/>
          </a:solidFill>
          <a:ln w="12700">
            <a:solidFill>
              <a:srgbClr val="DCE3EC"/>
            </a:solidFill>
            <a:prstDash val="solid"/>
          </a:ln>
        </p:spPr>
        <p:txBody>
          <a:bodyPr/>
          <a:lstStyle/>
          <a:p>
            <a:endParaRPr lang="en-US"/>
          </a:p>
        </p:txBody>
      </p:sp>
      <p:sp>
        <p:nvSpPr>
          <p:cNvPr id="9" name="Text 5"/>
          <p:cNvSpPr/>
          <p:nvPr/>
        </p:nvSpPr>
        <p:spPr>
          <a:xfrm>
            <a:off x="822960" y="2066544"/>
            <a:ext cx="2103120" cy="548640"/>
          </a:xfrm>
          <a:prstGeom prst="rect">
            <a:avLst/>
          </a:prstGeom>
          <a:noFill/>
          <a:ln/>
        </p:spPr>
        <p:txBody>
          <a:bodyPr wrap="square" lIns="0" tIns="0" rIns="0" bIns="0" rtlCol="0" anchor="ctr"/>
          <a:lstStyle/>
          <a:p>
            <a:pPr marL="0" indent="0">
              <a:buNone/>
            </a:pPr>
            <a:r>
              <a:rPr lang="en-US" sz="1350" b="1" dirty="0">
                <a:solidFill>
                  <a:srgbClr val="1C4A86"/>
                </a:solidFill>
                <a:latin typeface="Calibri" pitchFamily="34" charset="0"/>
                <a:ea typeface="Calibri" pitchFamily="34" charset="-122"/>
                <a:cs typeface="Calibri" pitchFamily="34" charset="-120"/>
              </a:rPr>
              <a:t>0:05 - 0:25</a:t>
            </a:r>
            <a:endParaRPr lang="en-US" sz="1350" dirty="0"/>
          </a:p>
        </p:txBody>
      </p:sp>
      <p:sp>
        <p:nvSpPr>
          <p:cNvPr id="10" name="Text 6"/>
          <p:cNvSpPr/>
          <p:nvPr/>
        </p:nvSpPr>
        <p:spPr>
          <a:xfrm>
            <a:off x="3017520" y="2066544"/>
            <a:ext cx="8412480" cy="548640"/>
          </a:xfrm>
          <a:prstGeom prst="rect">
            <a:avLst/>
          </a:prstGeom>
          <a:noFill/>
          <a:ln/>
        </p:spPr>
        <p:txBody>
          <a:bodyPr wrap="square" lIns="0" tIns="0" rIns="0" bIns="0" rtlCol="0" anchor="ctr"/>
          <a:lstStyle/>
          <a:p>
            <a:pPr marL="0" indent="0">
              <a:buNone/>
            </a:pPr>
            <a:r>
              <a:rPr lang="en-US" sz="1280" dirty="0">
                <a:solidFill>
                  <a:srgbClr val="222222"/>
                </a:solidFill>
                <a:latin typeface="Calibri" pitchFamily="34" charset="0"/>
                <a:ea typeface="Calibri" pitchFamily="34" charset="-122"/>
                <a:cs typeface="Calibri" pitchFamily="34" charset="-120"/>
              </a:rPr>
              <a:t>Instances: One Template, Many Copies (live demo in Godot)</a:t>
            </a:r>
            <a:endParaRPr lang="en-US" sz="1280" dirty="0"/>
          </a:p>
        </p:txBody>
      </p:sp>
      <p:sp>
        <p:nvSpPr>
          <p:cNvPr id="11" name="Shape 7"/>
          <p:cNvSpPr/>
          <p:nvPr/>
        </p:nvSpPr>
        <p:spPr>
          <a:xfrm>
            <a:off x="548640" y="2715768"/>
            <a:ext cx="11064240" cy="548640"/>
          </a:xfrm>
          <a:prstGeom prst="roundRect">
            <a:avLst>
              <a:gd name="adj" fmla="val 13333"/>
            </a:avLst>
          </a:prstGeom>
          <a:solidFill>
            <a:srgbClr val="FFFFFF"/>
          </a:solidFill>
          <a:ln w="12700">
            <a:solidFill>
              <a:srgbClr val="DCE3EC"/>
            </a:solidFill>
            <a:prstDash val="solid"/>
          </a:ln>
        </p:spPr>
        <p:txBody>
          <a:bodyPr/>
          <a:lstStyle/>
          <a:p>
            <a:endParaRPr lang="en-US"/>
          </a:p>
        </p:txBody>
      </p:sp>
      <p:sp>
        <p:nvSpPr>
          <p:cNvPr id="12" name="Text 8"/>
          <p:cNvSpPr/>
          <p:nvPr/>
        </p:nvSpPr>
        <p:spPr>
          <a:xfrm>
            <a:off x="822960" y="2715768"/>
            <a:ext cx="2103120" cy="548640"/>
          </a:xfrm>
          <a:prstGeom prst="rect">
            <a:avLst/>
          </a:prstGeom>
          <a:noFill/>
          <a:ln/>
        </p:spPr>
        <p:txBody>
          <a:bodyPr wrap="square" lIns="0" tIns="0" rIns="0" bIns="0" rtlCol="0" anchor="ctr"/>
          <a:lstStyle/>
          <a:p>
            <a:pPr marL="0" indent="0">
              <a:buNone/>
            </a:pPr>
            <a:r>
              <a:rPr lang="en-US" sz="1350" b="1" dirty="0">
                <a:solidFill>
                  <a:srgbClr val="1C4A86"/>
                </a:solidFill>
                <a:latin typeface="Calibri" pitchFamily="34" charset="0"/>
                <a:ea typeface="Calibri" pitchFamily="34" charset="-122"/>
                <a:cs typeface="Calibri" pitchFamily="34" charset="-120"/>
              </a:rPr>
              <a:t>0:25 - 0:45</a:t>
            </a:r>
            <a:endParaRPr lang="en-US" sz="1350" dirty="0"/>
          </a:p>
        </p:txBody>
      </p:sp>
      <p:sp>
        <p:nvSpPr>
          <p:cNvPr id="13" name="Text 9"/>
          <p:cNvSpPr/>
          <p:nvPr/>
        </p:nvSpPr>
        <p:spPr>
          <a:xfrm>
            <a:off x="3017520" y="2715768"/>
            <a:ext cx="8412480" cy="548640"/>
          </a:xfrm>
          <a:prstGeom prst="rect">
            <a:avLst/>
          </a:prstGeom>
          <a:noFill/>
          <a:ln/>
        </p:spPr>
        <p:txBody>
          <a:bodyPr wrap="square" lIns="0" tIns="0" rIns="0" bIns="0" rtlCol="0" anchor="ctr"/>
          <a:lstStyle/>
          <a:p>
            <a:pPr marL="0" indent="0">
              <a:buNone/>
            </a:pPr>
            <a:r>
              <a:rPr lang="en-US" sz="1280" dirty="0">
                <a:solidFill>
                  <a:srgbClr val="222222"/>
                </a:solidFill>
                <a:latin typeface="Calibri" pitchFamily="34" charset="0"/>
                <a:ea typeface="Calibri" pitchFamily="34" charset="-122"/>
                <a:cs typeface="Calibri" pitchFamily="34" charset="-120"/>
              </a:rPr>
              <a:t>Cleanup: Why You Have to Remove What You Create</a:t>
            </a:r>
            <a:endParaRPr lang="en-US" sz="1280" dirty="0"/>
          </a:p>
        </p:txBody>
      </p:sp>
      <p:sp>
        <p:nvSpPr>
          <p:cNvPr id="14" name="Shape 10"/>
          <p:cNvSpPr/>
          <p:nvPr/>
        </p:nvSpPr>
        <p:spPr>
          <a:xfrm>
            <a:off x="548640" y="3364992"/>
            <a:ext cx="11064240" cy="548640"/>
          </a:xfrm>
          <a:prstGeom prst="roundRect">
            <a:avLst>
              <a:gd name="adj" fmla="val 13333"/>
            </a:avLst>
          </a:prstGeom>
          <a:solidFill>
            <a:srgbClr val="FFFFFF"/>
          </a:solidFill>
          <a:ln w="12700">
            <a:solidFill>
              <a:srgbClr val="DCE3EC"/>
            </a:solidFill>
            <a:prstDash val="solid"/>
          </a:ln>
        </p:spPr>
        <p:txBody>
          <a:bodyPr/>
          <a:lstStyle/>
          <a:p>
            <a:endParaRPr lang="en-US"/>
          </a:p>
        </p:txBody>
      </p:sp>
      <p:sp>
        <p:nvSpPr>
          <p:cNvPr id="15" name="Text 11"/>
          <p:cNvSpPr/>
          <p:nvPr/>
        </p:nvSpPr>
        <p:spPr>
          <a:xfrm>
            <a:off x="822960" y="3364992"/>
            <a:ext cx="2103120" cy="548640"/>
          </a:xfrm>
          <a:prstGeom prst="rect">
            <a:avLst/>
          </a:prstGeom>
          <a:noFill/>
          <a:ln/>
        </p:spPr>
        <p:txBody>
          <a:bodyPr wrap="square" lIns="0" tIns="0" rIns="0" bIns="0" rtlCol="0" anchor="ctr"/>
          <a:lstStyle/>
          <a:p>
            <a:pPr marL="0" indent="0">
              <a:buNone/>
            </a:pPr>
            <a:r>
              <a:rPr lang="en-US" sz="1350" b="1" dirty="0">
                <a:solidFill>
                  <a:srgbClr val="1C4A86"/>
                </a:solidFill>
                <a:latin typeface="Calibri" pitchFamily="34" charset="0"/>
                <a:ea typeface="Calibri" pitchFamily="34" charset="-122"/>
                <a:cs typeface="Calibri" pitchFamily="34" charset="-120"/>
              </a:rPr>
              <a:t>0:45 - 0:50</a:t>
            </a:r>
            <a:endParaRPr lang="en-US" sz="1350" dirty="0"/>
          </a:p>
        </p:txBody>
      </p:sp>
      <p:sp>
        <p:nvSpPr>
          <p:cNvPr id="16" name="Text 12"/>
          <p:cNvSpPr/>
          <p:nvPr/>
        </p:nvSpPr>
        <p:spPr>
          <a:xfrm>
            <a:off x="3017520" y="3364992"/>
            <a:ext cx="8412480" cy="548640"/>
          </a:xfrm>
          <a:prstGeom prst="rect">
            <a:avLst/>
          </a:prstGeom>
          <a:noFill/>
          <a:ln/>
        </p:spPr>
        <p:txBody>
          <a:bodyPr wrap="square" lIns="0" tIns="0" rIns="0" bIns="0" rtlCol="0" anchor="ctr"/>
          <a:lstStyle/>
          <a:p>
            <a:pPr marL="0" indent="0">
              <a:buNone/>
            </a:pPr>
            <a:r>
              <a:rPr lang="en-US" sz="1280" dirty="0">
                <a:solidFill>
                  <a:srgbClr val="222222"/>
                </a:solidFill>
                <a:latin typeface="Calibri" pitchFamily="34" charset="0"/>
                <a:ea typeface="Calibri" pitchFamily="34" charset="-122"/>
                <a:cs typeface="Calibri" pitchFamily="34" charset="-120"/>
              </a:rPr>
              <a:t>One Press, One Shot (edge-triggered vs. held-down input)</a:t>
            </a:r>
            <a:endParaRPr lang="en-US" sz="1280" dirty="0"/>
          </a:p>
        </p:txBody>
      </p:sp>
      <p:sp>
        <p:nvSpPr>
          <p:cNvPr id="17" name="Shape 13"/>
          <p:cNvSpPr/>
          <p:nvPr/>
        </p:nvSpPr>
        <p:spPr>
          <a:xfrm>
            <a:off x="548640" y="4014216"/>
            <a:ext cx="11064240" cy="548640"/>
          </a:xfrm>
          <a:prstGeom prst="roundRect">
            <a:avLst>
              <a:gd name="adj" fmla="val 13333"/>
            </a:avLst>
          </a:prstGeom>
          <a:solidFill>
            <a:srgbClr val="FFFFFF"/>
          </a:solidFill>
          <a:ln w="12700">
            <a:solidFill>
              <a:srgbClr val="DCE3EC"/>
            </a:solidFill>
            <a:prstDash val="solid"/>
          </a:ln>
        </p:spPr>
        <p:txBody>
          <a:bodyPr/>
          <a:lstStyle/>
          <a:p>
            <a:endParaRPr lang="en-US"/>
          </a:p>
        </p:txBody>
      </p:sp>
      <p:sp>
        <p:nvSpPr>
          <p:cNvPr id="18" name="Text 14"/>
          <p:cNvSpPr/>
          <p:nvPr/>
        </p:nvSpPr>
        <p:spPr>
          <a:xfrm>
            <a:off x="822960" y="4014216"/>
            <a:ext cx="2103120" cy="548640"/>
          </a:xfrm>
          <a:prstGeom prst="rect">
            <a:avLst/>
          </a:prstGeom>
          <a:noFill/>
          <a:ln/>
        </p:spPr>
        <p:txBody>
          <a:bodyPr wrap="square" lIns="0" tIns="0" rIns="0" bIns="0" rtlCol="0" anchor="ctr"/>
          <a:lstStyle/>
          <a:p>
            <a:pPr marL="0" indent="0">
              <a:buNone/>
            </a:pPr>
            <a:r>
              <a:rPr lang="en-US" sz="1350" b="1" dirty="0">
                <a:solidFill>
                  <a:srgbClr val="1C4A86"/>
                </a:solidFill>
                <a:latin typeface="Calibri" pitchFamily="34" charset="0"/>
                <a:ea typeface="Calibri" pitchFamily="34" charset="-122"/>
                <a:cs typeface="Calibri" pitchFamily="34" charset="-120"/>
              </a:rPr>
              <a:t>0:50 - 1:00</a:t>
            </a:r>
            <a:endParaRPr lang="en-US" sz="1350" dirty="0"/>
          </a:p>
        </p:txBody>
      </p:sp>
      <p:sp>
        <p:nvSpPr>
          <p:cNvPr id="19" name="Text 15"/>
          <p:cNvSpPr/>
          <p:nvPr/>
        </p:nvSpPr>
        <p:spPr>
          <a:xfrm>
            <a:off x="3017520" y="4014216"/>
            <a:ext cx="8412480" cy="548640"/>
          </a:xfrm>
          <a:prstGeom prst="rect">
            <a:avLst/>
          </a:prstGeom>
          <a:noFill/>
          <a:ln/>
        </p:spPr>
        <p:txBody>
          <a:bodyPr wrap="square" lIns="0" tIns="0" rIns="0" bIns="0" rtlCol="0" anchor="ctr"/>
          <a:lstStyle/>
          <a:p>
            <a:pPr marL="0" indent="0">
              <a:buNone/>
            </a:pPr>
            <a:r>
              <a:rPr lang="en-US" sz="1280" dirty="0">
                <a:solidFill>
                  <a:srgbClr val="222222"/>
                </a:solidFill>
                <a:latin typeface="Calibri" pitchFamily="34" charset="0"/>
                <a:ea typeface="Calibri" pitchFamily="34" charset="-122"/>
                <a:cs typeface="Calibri" pitchFamily="34" charset="-120"/>
              </a:rPr>
              <a:t>Introduce lab exercise, hand out engine-specific handouts</a:t>
            </a:r>
            <a:endParaRPr lang="en-US" sz="1280" dirty="0"/>
          </a:p>
        </p:txBody>
      </p:sp>
      <p:sp>
        <p:nvSpPr>
          <p:cNvPr id="20" name="Shape 16"/>
          <p:cNvSpPr/>
          <p:nvPr/>
        </p:nvSpPr>
        <p:spPr>
          <a:xfrm>
            <a:off x="548640" y="4663440"/>
            <a:ext cx="11064240" cy="457200"/>
          </a:xfrm>
          <a:prstGeom prst="roundRect">
            <a:avLst>
              <a:gd name="adj" fmla="val 16000"/>
            </a:avLst>
          </a:prstGeom>
          <a:solidFill>
            <a:srgbClr val="C99A2E"/>
          </a:solidFill>
          <a:ln w="12700">
            <a:solidFill>
              <a:srgbClr val="DCE3EC"/>
            </a:solidFill>
            <a:prstDash val="solid"/>
          </a:ln>
        </p:spPr>
        <p:txBody>
          <a:bodyPr/>
          <a:lstStyle/>
          <a:p>
            <a:endParaRPr lang="en-US"/>
          </a:p>
        </p:txBody>
      </p:sp>
      <p:sp>
        <p:nvSpPr>
          <p:cNvPr id="21" name="Text 17"/>
          <p:cNvSpPr/>
          <p:nvPr/>
        </p:nvSpPr>
        <p:spPr>
          <a:xfrm>
            <a:off x="822960" y="4663440"/>
            <a:ext cx="2103120" cy="457200"/>
          </a:xfrm>
          <a:prstGeom prst="rect">
            <a:avLst/>
          </a:prstGeom>
          <a:noFill/>
          <a:ln/>
        </p:spPr>
        <p:txBody>
          <a:bodyPr wrap="square" lIns="0" tIns="0" rIns="0" bIns="0" rtlCol="0" anchor="ctr"/>
          <a:lstStyle/>
          <a:p>
            <a:pPr marL="0" indent="0">
              <a:buNone/>
            </a:pPr>
            <a:r>
              <a:rPr lang="en-US" sz="1300" b="1" dirty="0">
                <a:solidFill>
                  <a:srgbClr val="16305C"/>
                </a:solidFill>
                <a:latin typeface="Calibri" pitchFamily="34" charset="0"/>
                <a:ea typeface="Calibri" pitchFamily="34" charset="-122"/>
                <a:cs typeface="Calibri" pitchFamily="34" charset="-120"/>
              </a:rPr>
              <a:t>LAB TIME</a:t>
            </a:r>
            <a:endParaRPr lang="en-US" sz="1300" dirty="0"/>
          </a:p>
        </p:txBody>
      </p:sp>
      <p:sp>
        <p:nvSpPr>
          <p:cNvPr id="22" name="Text 18"/>
          <p:cNvSpPr/>
          <p:nvPr/>
        </p:nvSpPr>
        <p:spPr>
          <a:xfrm>
            <a:off x="3017520" y="4663440"/>
            <a:ext cx="8412480" cy="457200"/>
          </a:xfrm>
          <a:prstGeom prst="rect">
            <a:avLst/>
          </a:prstGeom>
          <a:noFill/>
          <a:ln/>
        </p:spPr>
        <p:txBody>
          <a:bodyPr wrap="square" lIns="0" tIns="0" rIns="0" bIns="0" rtlCol="0" anchor="ctr"/>
          <a:lstStyle/>
          <a:p>
            <a:pPr marL="0" indent="0">
              <a:buNone/>
            </a:pPr>
            <a:r>
              <a:rPr lang="en-US" sz="1300" b="1" i="1" dirty="0">
                <a:solidFill>
                  <a:srgbClr val="16305C"/>
                </a:solidFill>
                <a:latin typeface="Calibri" pitchFamily="34" charset="0"/>
                <a:ea typeface="Calibri" pitchFamily="34" charset="-122"/>
                <a:cs typeface="Calibri" pitchFamily="34" charset="-120"/>
              </a:rPr>
              <a:t>— Take Your Shot —</a:t>
            </a:r>
            <a:endParaRPr lang="en-US" sz="1300" dirty="0"/>
          </a:p>
        </p:txBody>
      </p:sp>
      <p:sp>
        <p:nvSpPr>
          <p:cNvPr id="23" name="Shape 19"/>
          <p:cNvSpPr/>
          <p:nvPr/>
        </p:nvSpPr>
        <p:spPr>
          <a:xfrm>
            <a:off x="548640" y="5221224"/>
            <a:ext cx="11064240" cy="548640"/>
          </a:xfrm>
          <a:prstGeom prst="roundRect">
            <a:avLst>
              <a:gd name="adj" fmla="val 13333"/>
            </a:avLst>
          </a:prstGeom>
          <a:solidFill>
            <a:srgbClr val="FFFFFF"/>
          </a:solidFill>
          <a:ln w="12700">
            <a:solidFill>
              <a:srgbClr val="DCE3EC"/>
            </a:solidFill>
            <a:prstDash val="solid"/>
          </a:ln>
        </p:spPr>
        <p:txBody>
          <a:bodyPr/>
          <a:lstStyle/>
          <a:p>
            <a:endParaRPr lang="en-US"/>
          </a:p>
        </p:txBody>
      </p:sp>
      <p:sp>
        <p:nvSpPr>
          <p:cNvPr id="24" name="Text 20"/>
          <p:cNvSpPr/>
          <p:nvPr/>
        </p:nvSpPr>
        <p:spPr>
          <a:xfrm>
            <a:off x="822960" y="5221224"/>
            <a:ext cx="2103120" cy="548640"/>
          </a:xfrm>
          <a:prstGeom prst="rect">
            <a:avLst/>
          </a:prstGeom>
          <a:noFill/>
          <a:ln/>
        </p:spPr>
        <p:txBody>
          <a:bodyPr wrap="square" lIns="0" tIns="0" rIns="0" bIns="0" rtlCol="0" anchor="ctr"/>
          <a:lstStyle/>
          <a:p>
            <a:pPr marL="0" indent="0">
              <a:buNone/>
            </a:pPr>
            <a:r>
              <a:rPr lang="en-US" sz="1350" b="1" dirty="0">
                <a:solidFill>
                  <a:srgbClr val="1C4A86"/>
                </a:solidFill>
                <a:latin typeface="Calibri" pitchFamily="34" charset="0"/>
                <a:ea typeface="Calibri" pitchFamily="34" charset="-122"/>
                <a:cs typeface="Calibri" pitchFamily="34" charset="-120"/>
              </a:rPr>
              <a:t>1:00 - 1:50</a:t>
            </a:r>
            <a:endParaRPr lang="en-US" sz="1350" dirty="0"/>
          </a:p>
        </p:txBody>
      </p:sp>
      <p:sp>
        <p:nvSpPr>
          <p:cNvPr id="25" name="Text 21"/>
          <p:cNvSpPr/>
          <p:nvPr/>
        </p:nvSpPr>
        <p:spPr>
          <a:xfrm>
            <a:off x="3017520" y="5221224"/>
            <a:ext cx="8412480" cy="548640"/>
          </a:xfrm>
          <a:prstGeom prst="rect">
            <a:avLst/>
          </a:prstGeom>
          <a:noFill/>
          <a:ln/>
        </p:spPr>
        <p:txBody>
          <a:bodyPr wrap="square" lIns="0" tIns="0" rIns="0" bIns="0" rtlCol="0" anchor="ctr"/>
          <a:lstStyle/>
          <a:p>
            <a:pPr marL="0" indent="0">
              <a:buNone/>
            </a:pPr>
            <a:r>
              <a:rPr lang="en-US" sz="1280" dirty="0">
                <a:solidFill>
                  <a:srgbClr val="222222"/>
                </a:solidFill>
                <a:latin typeface="Calibri" pitchFamily="34" charset="0"/>
                <a:ea typeface="Calibri" pitchFamily="34" charset="-122"/>
                <a:cs typeface="Calibri" pitchFamily="34" charset="-120"/>
              </a:rPr>
              <a:t>Add shooting to your ongoing Semester 1 project</a:t>
            </a:r>
            <a:endParaRPr lang="en-US" sz="1280" dirty="0"/>
          </a:p>
        </p:txBody>
      </p:sp>
      <p:sp>
        <p:nvSpPr>
          <p:cNvPr id="26" name="Shape 22"/>
          <p:cNvSpPr/>
          <p:nvPr/>
        </p:nvSpPr>
        <p:spPr>
          <a:xfrm>
            <a:off x="548640" y="5870448"/>
            <a:ext cx="11064240" cy="548640"/>
          </a:xfrm>
          <a:prstGeom prst="roundRect">
            <a:avLst>
              <a:gd name="adj" fmla="val 13333"/>
            </a:avLst>
          </a:prstGeom>
          <a:solidFill>
            <a:srgbClr val="FFFFFF"/>
          </a:solidFill>
          <a:ln w="12700">
            <a:solidFill>
              <a:srgbClr val="DCE3EC"/>
            </a:solidFill>
            <a:prstDash val="solid"/>
          </a:ln>
        </p:spPr>
        <p:txBody>
          <a:bodyPr/>
          <a:lstStyle/>
          <a:p>
            <a:endParaRPr lang="en-US"/>
          </a:p>
        </p:txBody>
      </p:sp>
      <p:sp>
        <p:nvSpPr>
          <p:cNvPr id="27" name="Text 23"/>
          <p:cNvSpPr/>
          <p:nvPr/>
        </p:nvSpPr>
        <p:spPr>
          <a:xfrm>
            <a:off x="822960" y="5870448"/>
            <a:ext cx="2103120" cy="548640"/>
          </a:xfrm>
          <a:prstGeom prst="rect">
            <a:avLst/>
          </a:prstGeom>
          <a:noFill/>
          <a:ln/>
        </p:spPr>
        <p:txBody>
          <a:bodyPr wrap="square" lIns="0" tIns="0" rIns="0" bIns="0" rtlCol="0" anchor="ctr"/>
          <a:lstStyle/>
          <a:p>
            <a:pPr marL="0" indent="0">
              <a:buNone/>
            </a:pPr>
            <a:r>
              <a:rPr lang="en-US" sz="1350" b="1" dirty="0">
                <a:solidFill>
                  <a:srgbClr val="1C4A86"/>
                </a:solidFill>
                <a:latin typeface="Calibri" pitchFamily="34" charset="0"/>
                <a:ea typeface="Calibri" pitchFamily="34" charset="-122"/>
                <a:cs typeface="Calibri" pitchFamily="34" charset="-120"/>
              </a:rPr>
              <a:t>1:50 - 2:00</a:t>
            </a:r>
            <a:endParaRPr lang="en-US" sz="1350" dirty="0"/>
          </a:p>
        </p:txBody>
      </p:sp>
      <p:sp>
        <p:nvSpPr>
          <p:cNvPr id="28" name="Text 24"/>
          <p:cNvSpPr/>
          <p:nvPr/>
        </p:nvSpPr>
        <p:spPr>
          <a:xfrm>
            <a:off x="3017520" y="5870448"/>
            <a:ext cx="8412480" cy="548640"/>
          </a:xfrm>
          <a:prstGeom prst="rect">
            <a:avLst/>
          </a:prstGeom>
          <a:noFill/>
          <a:ln/>
        </p:spPr>
        <p:txBody>
          <a:bodyPr wrap="square" lIns="0" tIns="0" rIns="0" bIns="0" rtlCol="0" anchor="ctr"/>
          <a:lstStyle/>
          <a:p>
            <a:pPr marL="0" indent="0">
              <a:buNone/>
            </a:pPr>
            <a:r>
              <a:rPr lang="en-US" sz="1280" dirty="0">
                <a:solidFill>
                  <a:srgbClr val="222222"/>
                </a:solidFill>
                <a:latin typeface="Calibri" pitchFamily="34" charset="0"/>
                <a:ea typeface="Calibri" pitchFamily="34" charset="-122"/>
                <a:cs typeface="Calibri" pitchFamily="34" charset="-120"/>
              </a:rPr>
              <a:t>Exit check: quick share-out</a:t>
            </a:r>
            <a:endParaRPr lang="en-US" sz="1280" dirty="0"/>
          </a:p>
        </p:txBody>
      </p:sp>
      <p:sp>
        <p:nvSpPr>
          <p:cNvPr id="29" name="Text 25"/>
          <p:cNvSpPr/>
          <p:nvPr/>
        </p:nvSpPr>
        <p:spPr>
          <a:xfrm>
            <a:off x="457200" y="6528816"/>
            <a:ext cx="4572000" cy="274320"/>
          </a:xfrm>
          <a:prstGeom prst="rect">
            <a:avLst/>
          </a:prstGeom>
          <a:noFill/>
          <a:ln/>
        </p:spPr>
        <p:txBody>
          <a:bodyPr wrap="square" lIns="0" tIns="0" rIns="0" bIns="0" rtlCol="0" anchor="ctr"/>
          <a:lstStyle/>
          <a:p>
            <a:pPr marL="0" indent="0">
              <a:buNone/>
            </a:pPr>
            <a:r>
              <a:rPr lang="en-US" sz="1000" b="1" kern="0" spc="20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30" name="Text 26"/>
          <p:cNvSpPr/>
          <p:nvPr/>
        </p:nvSpPr>
        <p:spPr>
          <a:xfrm>
            <a:off x="10088575" y="6528816"/>
            <a:ext cx="1371600" cy="274320"/>
          </a:xfrm>
          <a:prstGeom prst="rect">
            <a:avLst/>
          </a:prstGeom>
          <a:noFill/>
          <a:ln/>
        </p:spPr>
        <p:txBody>
          <a:bodyPr wrap="square" lIns="0" tIns="0" rIns="0" bIns="0" rtlCol="0" anchor="ctr"/>
          <a:lstStyle/>
          <a:p>
            <a:pPr marL="0" indent="0" algn="r">
              <a:buNone/>
            </a:pPr>
            <a:r>
              <a:rPr lang="en-US" sz="1000" dirty="0">
                <a:solidFill>
                  <a:srgbClr val="5A6472"/>
                </a:solidFill>
                <a:latin typeface="Calibri" pitchFamily="34" charset="0"/>
                <a:ea typeface="Calibri" pitchFamily="34" charset="-122"/>
                <a:cs typeface="Calibri" pitchFamily="34" charset="-120"/>
              </a:rPr>
              <a:t>Lesson 3</a:t>
            </a:r>
            <a:endParaRPr lang="en-US" sz="1000" dirty="0"/>
          </a:p>
        </p:txBody>
      </p:sp>
      <p:sp>
        <p:nvSpPr>
          <p:cNvPr id="31" name="Text 27"/>
          <p:cNvSpPr/>
          <p:nvPr/>
        </p:nvSpPr>
        <p:spPr>
          <a:xfrm>
            <a:off x="11505895" y="6528816"/>
            <a:ext cx="411480" cy="274320"/>
          </a:xfrm>
          <a:prstGeom prst="rect">
            <a:avLst/>
          </a:prstGeom>
          <a:noFill/>
          <a:ln/>
        </p:spPr>
        <p:txBody>
          <a:bodyPr wrap="square" lIns="0" tIns="0" rIns="0" bIns="0" rtlCol="0" anchor="ctr"/>
          <a:lstStyle/>
          <a:p>
            <a:pPr marL="0" indent="0" algn="r">
              <a:buNone/>
            </a:pPr>
            <a:r>
              <a:rPr lang="en-US" sz="1000" dirty="0">
                <a:solidFill>
                  <a:srgbClr val="5A64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bg_title_boo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marL="0" indent="0">
              <a:buNone/>
            </a:pPr>
            <a:r>
              <a:rPr lang="en-US" sz="4000" b="1" dirty="0">
                <a:solidFill>
                  <a:srgbClr val="E8C25A"/>
                </a:solidFill>
                <a:latin typeface="Cambria" pitchFamily="34" charset="0"/>
                <a:ea typeface="Cambria" pitchFamily="34" charset="-122"/>
                <a:cs typeface="Cambria" pitchFamily="34" charset="-120"/>
              </a:rPr>
              <a:t>Welcome Back</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marL="0" indent="0">
              <a:buNone/>
            </a:pPr>
            <a:r>
              <a:rPr lang="en-US" sz="1600" dirty="0">
                <a:solidFill>
                  <a:srgbClr val="F4F0E6"/>
                </a:solidFill>
                <a:latin typeface="Calibri" pitchFamily="34" charset="0"/>
                <a:ea typeface="Calibri" pitchFamily="34" charset="-122"/>
                <a:cs typeface="Calibri" pitchFamily="34" charset="-120"/>
              </a:rPr>
              <a:t>Lesson 2 recap and a quick share of any finished Key Press Reactors.</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txBody>
          <a:bodyPr/>
          <a:lstStyle/>
          <a:p>
            <a:endParaRPr lang="en-US"/>
          </a:p>
        </p:txBody>
      </p:sp>
      <p:sp>
        <p:nvSpPr>
          <p:cNvPr id="6" name="Text 3"/>
          <p:cNvSpPr/>
          <p:nvPr/>
        </p:nvSpPr>
        <p:spPr>
          <a:xfrm>
            <a:off x="2880360" y="3977640"/>
            <a:ext cx="1371600" cy="347472"/>
          </a:xfrm>
          <a:prstGeom prst="rect">
            <a:avLst/>
          </a:prstGeom>
          <a:noFill/>
          <a:ln/>
        </p:spPr>
        <p:txBody>
          <a:bodyPr wrap="square" lIns="0" tIns="0" rIns="0" bIns="0" rtlCol="0" anchor="ctr"/>
          <a:lstStyle/>
          <a:p>
            <a:pPr marL="0" indent="0" algn="ctr">
              <a:buNone/>
            </a:pPr>
            <a:r>
              <a:rPr lang="en-US" sz="1200" b="1" dirty="0">
                <a:solidFill>
                  <a:srgbClr val="E8C25A"/>
                </a:solidFill>
                <a:latin typeface="Calibri" pitchFamily="34" charset="0"/>
                <a:ea typeface="Calibri" pitchFamily="34" charset="-122"/>
                <a:cs typeface="Calibri" pitchFamily="34" charset="-120"/>
              </a:rPr>
              <a:t>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marL="0" indent="0">
              <a:buNone/>
            </a:pPr>
            <a:r>
              <a:rPr lang="en-US" sz="1000" b="1" kern="0" spc="20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marL="0" indent="0" algn="r">
              <a:buNone/>
            </a:pPr>
            <a:r>
              <a:rPr lang="en-US" sz="1000" dirty="0">
                <a:solidFill>
                  <a:srgbClr val="E8C25A"/>
                </a:solidFill>
                <a:latin typeface="Calibri" pitchFamily="34" charset="0"/>
                <a:ea typeface="Calibri" pitchFamily="34" charset="-122"/>
                <a:cs typeface="Calibri" pitchFamily="34" charset="-120"/>
              </a:rPr>
              <a:t>Lesson 3</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marL="0" indent="0" algn="r">
              <a:buNone/>
            </a:pPr>
            <a:r>
              <a:rPr lang="en-US" sz="1000" dirty="0">
                <a:solidFill>
                  <a:srgbClr val="E8C25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bg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marL="0" indent="0">
              <a:buNone/>
            </a:pPr>
            <a:r>
              <a:rPr lang="en-US" sz="3400" b="1" dirty="0">
                <a:solidFill>
                  <a:srgbClr val="1C4A86"/>
                </a:solidFill>
                <a:latin typeface="Cambria" pitchFamily="34" charset="0"/>
                <a:ea typeface="Cambria" pitchFamily="34" charset="-122"/>
                <a:cs typeface="Cambria" pitchFamily="34" charset="-120"/>
              </a:rPr>
              <a:t>Welcome Back</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txBody>
          <a:bodyPr/>
          <a:lstStyle/>
          <a:p>
            <a:endParaRPr lang="en-US"/>
          </a:p>
        </p:txBody>
      </p:sp>
      <p:sp>
        <p:nvSpPr>
          <p:cNvPr id="5" name="Text 2"/>
          <p:cNvSpPr/>
          <p:nvPr/>
        </p:nvSpPr>
        <p:spPr>
          <a:xfrm>
            <a:off x="10424160" y="457200"/>
            <a:ext cx="1188720" cy="347472"/>
          </a:xfrm>
          <a:prstGeom prst="rect">
            <a:avLst/>
          </a:prstGeom>
          <a:noFill/>
          <a:ln/>
        </p:spPr>
        <p:txBody>
          <a:bodyPr wrap="square" lIns="0" tIns="0" rIns="0" bIns="0" rtlCol="0" anchor="ctr"/>
          <a:lstStyle/>
          <a:p>
            <a:pPr marL="0" indent="0" algn="ctr">
              <a:buNone/>
            </a:pPr>
            <a:r>
              <a:rPr lang="en-US" sz="1200" b="1" dirty="0">
                <a:solidFill>
                  <a:srgbClr val="1C4A86"/>
                </a:solidFill>
                <a:latin typeface="Calibri" pitchFamily="34" charset="0"/>
                <a:ea typeface="Calibri" pitchFamily="34" charset="-122"/>
                <a:cs typeface="Calibri" pitchFamily="34" charset="-120"/>
              </a:rPr>
              <a:t>5 min</a:t>
            </a:r>
            <a:endParaRPr lang="en-US" sz="1200" dirty="0"/>
          </a:p>
        </p:txBody>
      </p:sp>
      <p:sp>
        <p:nvSpPr>
          <p:cNvPr id="6" name="Text 3"/>
          <p:cNvSpPr/>
          <p:nvPr/>
        </p:nvSpPr>
        <p:spPr>
          <a:xfrm>
            <a:off x="548640" y="1371600"/>
            <a:ext cx="10515600" cy="365760"/>
          </a:xfrm>
          <a:prstGeom prst="rect">
            <a:avLst/>
          </a:prstGeom>
          <a:noFill/>
          <a:ln/>
        </p:spPr>
        <p:txBody>
          <a:bodyPr wrap="square" lIns="0" tIns="0" rIns="0" bIns="0" rtlCol="0" anchor="ctr"/>
          <a:lstStyle/>
          <a:p>
            <a:pPr marL="0" indent="0">
              <a:buNone/>
            </a:pPr>
            <a:r>
              <a:rPr lang="en-US" sz="1600" b="1" dirty="0">
                <a:solidFill>
                  <a:srgbClr val="1C4A86"/>
                </a:solidFill>
                <a:latin typeface="Calibri" pitchFamily="34" charset="0"/>
                <a:ea typeface="Calibri" pitchFamily="34" charset="-122"/>
                <a:cs typeface="Calibri" pitchFamily="34" charset="-120"/>
              </a:rPr>
              <a:t>Quick recap of Lesson 2:</a:t>
            </a:r>
            <a:endParaRPr lang="en-US" sz="1600" dirty="0"/>
          </a:p>
        </p:txBody>
      </p:sp>
      <p:pic>
        <p:nvPicPr>
          <p:cNvPr id="7" name="Image 1" descr="icons/check.png"/>
          <p:cNvPicPr>
            <a:picLocks noChangeAspect="1"/>
          </p:cNvPicPr>
          <p:nvPr/>
        </p:nvPicPr>
        <p:blipFill>
          <a:blip r:embed="rId4"/>
          <a:stretch>
            <a:fillRect/>
          </a:stretch>
        </p:blipFill>
        <p:spPr>
          <a:xfrm>
            <a:off x="548640" y="1828800"/>
            <a:ext cx="365760" cy="365760"/>
          </a:xfrm>
          <a:prstGeom prst="rect">
            <a:avLst/>
          </a:prstGeom>
        </p:spPr>
      </p:pic>
      <p:sp>
        <p:nvSpPr>
          <p:cNvPr id="8" name="Text 4"/>
          <p:cNvSpPr/>
          <p:nvPr/>
        </p:nvSpPr>
        <p:spPr>
          <a:xfrm>
            <a:off x="1051560" y="1755648"/>
            <a:ext cx="10332720" cy="685800"/>
          </a:xfrm>
          <a:prstGeom prst="rect">
            <a:avLst/>
          </a:prstGeom>
          <a:noFill/>
          <a:ln/>
        </p:spPr>
        <p:txBody>
          <a:bodyPr wrap="square" lIns="0" tIns="0" rIns="0" bIns="0" rtlCol="0" anchor="ctr"/>
          <a:lstStyle/>
          <a:p>
            <a:pPr marL="0" indent="0">
              <a:buNone/>
            </a:pPr>
            <a:r>
              <a:rPr lang="en-US" sz="1500" dirty="0">
                <a:solidFill>
                  <a:srgbClr val="222222"/>
                </a:solidFill>
                <a:latin typeface="Calibri" pitchFamily="34" charset="0"/>
                <a:ea typeface="Calibri" pitchFamily="34" charset="-122"/>
                <a:cs typeface="Calibri" pitchFamily="34" charset="-120"/>
              </a:rPr>
              <a:t>Sequences, events, and the game loop - and the start of your Semester 1 project</a:t>
            </a:r>
            <a:endParaRPr lang="en-US" sz="1500" dirty="0"/>
          </a:p>
        </p:txBody>
      </p:sp>
      <p:pic>
        <p:nvPicPr>
          <p:cNvPr id="9" name="Image 2" descr="icons/check.png"/>
          <p:cNvPicPr>
            <a:picLocks noChangeAspect="1"/>
          </p:cNvPicPr>
          <p:nvPr/>
        </p:nvPicPr>
        <p:blipFill>
          <a:blip r:embed="rId4"/>
          <a:stretch>
            <a:fillRect/>
          </a:stretch>
        </p:blipFill>
        <p:spPr>
          <a:xfrm>
            <a:off x="548640" y="2606040"/>
            <a:ext cx="365760" cy="365760"/>
          </a:xfrm>
          <a:prstGeom prst="rect">
            <a:avLst/>
          </a:prstGeom>
        </p:spPr>
      </p:pic>
      <p:sp>
        <p:nvSpPr>
          <p:cNvPr id="10" name="Text 5"/>
          <p:cNvSpPr/>
          <p:nvPr/>
        </p:nvSpPr>
        <p:spPr>
          <a:xfrm>
            <a:off x="1051560" y="2532888"/>
            <a:ext cx="10332720" cy="685800"/>
          </a:xfrm>
          <a:prstGeom prst="rect">
            <a:avLst/>
          </a:prstGeom>
          <a:noFill/>
          <a:ln/>
        </p:spPr>
        <p:txBody>
          <a:bodyPr wrap="square" lIns="0" tIns="0" rIns="0" bIns="0" rtlCol="0" anchor="ctr"/>
          <a:lstStyle/>
          <a:p>
            <a:pPr marL="0" indent="0">
              <a:buNone/>
            </a:pPr>
            <a:r>
              <a:rPr lang="en-US" sz="1500" dirty="0">
                <a:solidFill>
                  <a:srgbClr val="222222"/>
                </a:solidFill>
                <a:latin typeface="Calibri" pitchFamily="34" charset="0"/>
                <a:ea typeface="Calibri" pitchFamily="34" charset="-122"/>
                <a:cs typeface="Calibri" pitchFamily="34" charset="-120"/>
              </a:rPr>
              <a:t>Everyone built a Key Press Reactor moving a character in up to 4 directions</a:t>
            </a:r>
            <a:endParaRPr lang="en-US" sz="1500" dirty="0"/>
          </a:p>
        </p:txBody>
      </p:sp>
      <p:pic>
        <p:nvPicPr>
          <p:cNvPr id="11" name="Image 3" descr="icons/check.png"/>
          <p:cNvPicPr>
            <a:picLocks noChangeAspect="1"/>
          </p:cNvPicPr>
          <p:nvPr/>
        </p:nvPicPr>
        <p:blipFill>
          <a:blip r:embed="rId4"/>
          <a:stretch>
            <a:fillRect/>
          </a:stretch>
        </p:blipFill>
        <p:spPr>
          <a:xfrm>
            <a:off x="548640" y="3383280"/>
            <a:ext cx="365760" cy="365760"/>
          </a:xfrm>
          <a:prstGeom prst="rect">
            <a:avLst/>
          </a:prstGeom>
        </p:spPr>
      </p:pic>
      <p:sp>
        <p:nvSpPr>
          <p:cNvPr id="12" name="Text 6"/>
          <p:cNvSpPr/>
          <p:nvPr/>
        </p:nvSpPr>
        <p:spPr>
          <a:xfrm>
            <a:off x="1051560" y="3310128"/>
            <a:ext cx="10332720" cy="685800"/>
          </a:xfrm>
          <a:prstGeom prst="rect">
            <a:avLst/>
          </a:prstGeom>
          <a:noFill/>
          <a:ln/>
        </p:spPr>
        <p:txBody>
          <a:bodyPr wrap="square" lIns="0" tIns="0" rIns="0" bIns="0" rtlCol="0" anchor="ctr"/>
          <a:lstStyle/>
          <a:p>
            <a:pPr marL="0" indent="0">
              <a:buNone/>
            </a:pPr>
            <a:r>
              <a:rPr lang="en-US" sz="1500" dirty="0">
                <a:solidFill>
                  <a:srgbClr val="222222"/>
                </a:solidFill>
                <a:latin typeface="Calibri" pitchFamily="34" charset="0"/>
                <a:ea typeface="Calibri" pitchFamily="34" charset="-122"/>
                <a:cs typeface="Calibri" pitchFamily="34" charset="-120"/>
              </a:rPr>
              <a:t>Today: adding shooting - the first piece of your capstone's actual mechanic</a:t>
            </a:r>
            <a:endParaRPr lang="en-US" sz="1500" dirty="0"/>
          </a:p>
        </p:txBody>
      </p:sp>
      <p:sp>
        <p:nvSpPr>
          <p:cNvPr id="13" name="Shape 7"/>
          <p:cNvSpPr/>
          <p:nvPr/>
        </p:nvSpPr>
        <p:spPr>
          <a:xfrm>
            <a:off x="548640" y="4343400"/>
            <a:ext cx="11064240" cy="1371600"/>
          </a:xfrm>
          <a:prstGeom prst="roundRect">
            <a:avLst>
              <a:gd name="adj" fmla="val 8000"/>
            </a:avLst>
          </a:prstGeom>
          <a:solidFill>
            <a:srgbClr val="EDF2F8"/>
          </a:solidFill>
          <a:ln/>
        </p:spPr>
        <p:txBody>
          <a:bodyPr/>
          <a:lstStyle/>
          <a:p>
            <a:endParaRPr lang="en-US"/>
          </a:p>
        </p:txBody>
      </p:sp>
      <p:pic>
        <p:nvPicPr>
          <p:cNvPr id="14" name="Image 4" descr="icons/wrench.png"/>
          <p:cNvPicPr>
            <a:picLocks noChangeAspect="1"/>
          </p:cNvPicPr>
          <p:nvPr/>
        </p:nvPicPr>
        <p:blipFill>
          <a:blip r:embed="rId5"/>
          <a:stretch>
            <a:fillRect/>
          </a:stretch>
        </p:blipFill>
        <p:spPr>
          <a:xfrm>
            <a:off x="777240" y="4572000"/>
            <a:ext cx="548640" cy="548640"/>
          </a:xfrm>
          <a:prstGeom prst="rect">
            <a:avLst/>
          </a:prstGeom>
        </p:spPr>
      </p:pic>
      <p:sp>
        <p:nvSpPr>
          <p:cNvPr id="15" name="Text 8"/>
          <p:cNvSpPr/>
          <p:nvPr/>
        </p:nvSpPr>
        <p:spPr>
          <a:xfrm>
            <a:off x="1508760" y="4526280"/>
            <a:ext cx="9875520" cy="960120"/>
          </a:xfrm>
          <a:prstGeom prst="rect">
            <a:avLst/>
          </a:prstGeom>
          <a:noFill/>
          <a:ln/>
        </p:spPr>
        <p:txBody>
          <a:bodyPr wrap="square" lIns="0" tIns="0" rIns="0" bIns="0" rtlCol="0" anchor="ctr"/>
          <a:lstStyle/>
          <a:p>
            <a:pPr marL="0" indent="0">
              <a:buNone/>
            </a:pPr>
            <a:r>
              <a:rPr lang="en-US" sz="1400" dirty="0">
                <a:solidFill>
                  <a:srgbClr val="222222"/>
                </a:solidFill>
                <a:latin typeface="Calibri" pitchFamily="34" charset="0"/>
                <a:ea typeface="Calibri" pitchFamily="34" charset="-122"/>
                <a:cs typeface="Calibri" pitchFamily="34" charset="-120"/>
              </a:rPr>
              <a:t>Open your own project from last week today, not a new one - everything we build adds on top of the character you already have.</a:t>
            </a:r>
            <a:endParaRPr lang="en-US" sz="1400" dirty="0"/>
          </a:p>
        </p:txBody>
      </p:sp>
      <p:sp>
        <p:nvSpPr>
          <p:cNvPr id="16" name="Text 9"/>
          <p:cNvSpPr/>
          <p:nvPr/>
        </p:nvSpPr>
        <p:spPr>
          <a:xfrm>
            <a:off x="457200" y="6528816"/>
            <a:ext cx="4572000" cy="274320"/>
          </a:xfrm>
          <a:prstGeom prst="rect">
            <a:avLst/>
          </a:prstGeom>
          <a:noFill/>
          <a:ln/>
        </p:spPr>
        <p:txBody>
          <a:bodyPr wrap="square" lIns="0" tIns="0" rIns="0" bIns="0" rtlCol="0" anchor="ctr"/>
          <a:lstStyle/>
          <a:p>
            <a:pPr marL="0" indent="0">
              <a:buNone/>
            </a:pPr>
            <a:r>
              <a:rPr lang="en-US" sz="1000" b="1" kern="0" spc="20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7" name="Text 10"/>
          <p:cNvSpPr/>
          <p:nvPr/>
        </p:nvSpPr>
        <p:spPr>
          <a:xfrm>
            <a:off x="10088575" y="6528816"/>
            <a:ext cx="1371600" cy="274320"/>
          </a:xfrm>
          <a:prstGeom prst="rect">
            <a:avLst/>
          </a:prstGeom>
          <a:noFill/>
          <a:ln/>
        </p:spPr>
        <p:txBody>
          <a:bodyPr wrap="square" lIns="0" tIns="0" rIns="0" bIns="0" rtlCol="0" anchor="ctr"/>
          <a:lstStyle/>
          <a:p>
            <a:pPr marL="0" indent="0" algn="r">
              <a:buNone/>
            </a:pPr>
            <a:r>
              <a:rPr lang="en-US" sz="1000" dirty="0">
                <a:solidFill>
                  <a:srgbClr val="5A6472"/>
                </a:solidFill>
                <a:latin typeface="Calibri" pitchFamily="34" charset="0"/>
                <a:ea typeface="Calibri" pitchFamily="34" charset="-122"/>
                <a:cs typeface="Calibri" pitchFamily="34" charset="-120"/>
              </a:rPr>
              <a:t>Lesson 3</a:t>
            </a:r>
            <a:endParaRPr lang="en-US" sz="1000" dirty="0"/>
          </a:p>
        </p:txBody>
      </p:sp>
      <p:sp>
        <p:nvSpPr>
          <p:cNvPr id="18" name="Text 11"/>
          <p:cNvSpPr/>
          <p:nvPr/>
        </p:nvSpPr>
        <p:spPr>
          <a:xfrm>
            <a:off x="11505895" y="6528816"/>
            <a:ext cx="411480" cy="274320"/>
          </a:xfrm>
          <a:prstGeom prst="rect">
            <a:avLst/>
          </a:prstGeom>
          <a:noFill/>
          <a:ln/>
        </p:spPr>
        <p:txBody>
          <a:bodyPr wrap="square" lIns="0" tIns="0" rIns="0" bIns="0" rtlCol="0" anchor="ctr"/>
          <a:lstStyle/>
          <a:p>
            <a:pPr marL="0" indent="0" algn="r">
              <a:buNone/>
            </a:pPr>
            <a:r>
              <a:rPr lang="en-US" sz="1000" dirty="0">
                <a:solidFill>
                  <a:srgbClr val="5A64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bg_title_programming.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marL="0" indent="0">
              <a:buNone/>
            </a:pPr>
            <a:r>
              <a:rPr lang="en-US" sz="4000" b="1" dirty="0">
                <a:solidFill>
                  <a:srgbClr val="E8C25A"/>
                </a:solidFill>
                <a:latin typeface="Cambria" pitchFamily="34" charset="0"/>
                <a:ea typeface="Cambria" pitchFamily="34" charset="-122"/>
                <a:cs typeface="Cambria" pitchFamily="34" charset="-120"/>
              </a:rPr>
              <a:t>Instances: One Template, Many Copies</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marL="0" indent="0">
              <a:buNone/>
            </a:pPr>
            <a:r>
              <a:rPr lang="en-US" sz="1600" dirty="0">
                <a:solidFill>
                  <a:srgbClr val="F4F0E6"/>
                </a:solidFill>
                <a:latin typeface="Calibri" pitchFamily="34" charset="0"/>
                <a:ea typeface="Calibri" pitchFamily="34" charset="-122"/>
                <a:cs typeface="Calibri" pitchFamily="34" charset="-120"/>
              </a:rPr>
              <a:t>How pressing fire five times gives you five separate, independent bullets.</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txBody>
          <a:bodyPr/>
          <a:lstStyle/>
          <a:p>
            <a:endParaRPr lang="en-US"/>
          </a:p>
        </p:txBody>
      </p:sp>
      <p:sp>
        <p:nvSpPr>
          <p:cNvPr id="6" name="Text 3"/>
          <p:cNvSpPr/>
          <p:nvPr/>
        </p:nvSpPr>
        <p:spPr>
          <a:xfrm>
            <a:off x="2880360" y="3977640"/>
            <a:ext cx="1371600" cy="347472"/>
          </a:xfrm>
          <a:prstGeom prst="rect">
            <a:avLst/>
          </a:prstGeom>
          <a:noFill/>
          <a:ln/>
        </p:spPr>
        <p:txBody>
          <a:bodyPr wrap="square" lIns="0" tIns="0" rIns="0" bIns="0" rtlCol="0" anchor="ctr"/>
          <a:lstStyle/>
          <a:p>
            <a:pPr marL="0" indent="0" algn="ctr">
              <a:buNone/>
            </a:pPr>
            <a:r>
              <a:rPr lang="en-US" sz="1200" b="1" dirty="0">
                <a:solidFill>
                  <a:srgbClr val="E8C25A"/>
                </a:solidFill>
                <a:latin typeface="Calibri" pitchFamily="34" charset="0"/>
                <a:ea typeface="Calibri" pitchFamily="34" charset="-122"/>
                <a:cs typeface="Calibri" pitchFamily="34" charset="-120"/>
              </a:rPr>
              <a:t>20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marL="0" indent="0">
              <a:buNone/>
            </a:pPr>
            <a:r>
              <a:rPr lang="en-US" sz="1000" b="1" kern="0" spc="20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marL="0" indent="0" algn="r">
              <a:buNone/>
            </a:pPr>
            <a:r>
              <a:rPr lang="en-US" sz="1000" dirty="0">
                <a:solidFill>
                  <a:srgbClr val="E8C25A"/>
                </a:solidFill>
                <a:latin typeface="Calibri" pitchFamily="34" charset="0"/>
                <a:ea typeface="Calibri" pitchFamily="34" charset="-122"/>
                <a:cs typeface="Calibri" pitchFamily="34" charset="-120"/>
              </a:rPr>
              <a:t>Lesson 3</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marL="0" indent="0" algn="r">
              <a:buNone/>
            </a:pPr>
            <a:r>
              <a:rPr lang="en-US" sz="1000" dirty="0">
                <a:solidFill>
                  <a:srgbClr val="E8C25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bg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marL="0" indent="0">
              <a:buNone/>
            </a:pPr>
            <a:r>
              <a:rPr lang="en-US" sz="3400" b="1" dirty="0">
                <a:solidFill>
                  <a:srgbClr val="1C4A86"/>
                </a:solidFill>
                <a:latin typeface="Cambria" pitchFamily="34" charset="0"/>
                <a:ea typeface="Cambria" pitchFamily="34" charset="-122"/>
                <a:cs typeface="Cambria" pitchFamily="34" charset="-120"/>
              </a:rPr>
              <a:t>Instances</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txBody>
          <a:bodyPr/>
          <a:lstStyle/>
          <a:p>
            <a:endParaRPr lang="en-US"/>
          </a:p>
        </p:txBody>
      </p:sp>
      <p:sp>
        <p:nvSpPr>
          <p:cNvPr id="5" name="Text 2"/>
          <p:cNvSpPr/>
          <p:nvPr/>
        </p:nvSpPr>
        <p:spPr>
          <a:xfrm>
            <a:off x="10424160" y="457200"/>
            <a:ext cx="1188720" cy="347472"/>
          </a:xfrm>
          <a:prstGeom prst="rect">
            <a:avLst/>
          </a:prstGeom>
          <a:noFill/>
          <a:ln/>
        </p:spPr>
        <p:txBody>
          <a:bodyPr wrap="square" lIns="0" tIns="0" rIns="0" bIns="0" rtlCol="0" anchor="ctr"/>
          <a:lstStyle/>
          <a:p>
            <a:pPr marL="0" indent="0" algn="ctr">
              <a:buNone/>
            </a:pPr>
            <a:r>
              <a:rPr lang="en-US" sz="1200" b="1" dirty="0">
                <a:solidFill>
                  <a:srgbClr val="1C4A86"/>
                </a:solidFill>
                <a:latin typeface="Calibri" pitchFamily="34" charset="0"/>
                <a:ea typeface="Calibri" pitchFamily="34" charset="-122"/>
                <a:cs typeface="Calibri" pitchFamily="34" charset="-120"/>
              </a:rPr>
              <a:t>20 min</a:t>
            </a:r>
            <a:endParaRPr lang="en-US" sz="1200" dirty="0"/>
          </a:p>
        </p:txBody>
      </p:sp>
      <p:sp>
        <p:nvSpPr>
          <p:cNvPr id="6" name="Text 3"/>
          <p:cNvSpPr/>
          <p:nvPr/>
        </p:nvSpPr>
        <p:spPr>
          <a:xfrm>
            <a:off x="548640" y="1325880"/>
            <a:ext cx="10881360" cy="640080"/>
          </a:xfrm>
          <a:prstGeom prst="rect">
            <a:avLst/>
          </a:prstGeom>
          <a:noFill/>
          <a:ln/>
        </p:spPr>
        <p:txBody>
          <a:bodyPr wrap="square" lIns="0" tIns="0" rIns="0" bIns="0" rtlCol="0" anchor="ctr"/>
          <a:lstStyle/>
          <a:p>
            <a:pPr marL="0" indent="0">
              <a:buNone/>
            </a:pPr>
            <a:r>
              <a:rPr lang="en-US" sz="1600" b="1" dirty="0">
                <a:solidFill>
                  <a:srgbClr val="1C4A86"/>
                </a:solidFill>
                <a:latin typeface="Calibri" pitchFamily="34" charset="0"/>
                <a:ea typeface="Calibri" pitchFamily="34" charset="-122"/>
                <a:cs typeface="Calibri" pitchFamily="34" charset="-120"/>
              </a:rPr>
              <a:t>Build ONE definition of a bullet. Every press stamps out a brand-new, independent COPY of it - that's an instance.</a:t>
            </a:r>
            <a:endParaRPr lang="en-US" sz="1600" dirty="0"/>
          </a:p>
        </p:txBody>
      </p:sp>
      <p:sp>
        <p:nvSpPr>
          <p:cNvPr id="7" name="Text 4"/>
          <p:cNvSpPr/>
          <p:nvPr/>
        </p:nvSpPr>
        <p:spPr>
          <a:xfrm>
            <a:off x="548640" y="1920240"/>
            <a:ext cx="10881360" cy="45720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Change one bullet's position, and none of the others are affected - they're all separate, all remembering their own data.</a:t>
            </a:r>
            <a:endParaRPr lang="en-US" sz="1400" dirty="0"/>
          </a:p>
        </p:txBody>
      </p:sp>
      <p:sp>
        <p:nvSpPr>
          <p:cNvPr id="8" name="Text 5"/>
          <p:cNvSpPr/>
          <p:nvPr/>
        </p:nvSpPr>
        <p:spPr>
          <a:xfrm>
            <a:off x="548640" y="2606040"/>
            <a:ext cx="7315200" cy="365760"/>
          </a:xfrm>
          <a:prstGeom prst="rect">
            <a:avLst/>
          </a:prstGeom>
          <a:noFill/>
          <a:ln/>
        </p:spPr>
        <p:txBody>
          <a:bodyPr wrap="square" lIns="0" tIns="0" rIns="0" bIns="0" rtlCol="0" anchor="ctr"/>
          <a:lstStyle/>
          <a:p>
            <a:pPr marL="0" indent="0">
              <a:buNone/>
            </a:pPr>
            <a:r>
              <a:rPr lang="en-US" sz="1400" b="1" dirty="0">
                <a:solidFill>
                  <a:srgbClr val="1C4A86"/>
                </a:solidFill>
                <a:latin typeface="Calibri" pitchFamily="34" charset="0"/>
                <a:ea typeface="Calibri" pitchFamily="34" charset="-122"/>
                <a:cs typeface="Calibri" pitchFamily="34" charset="-120"/>
              </a:rPr>
              <a:t>Same idea, nearly the same word, across every engine:</a:t>
            </a:r>
            <a:endParaRPr lang="en-US" sz="1400" dirty="0"/>
          </a:p>
        </p:txBody>
      </p:sp>
      <p:sp>
        <p:nvSpPr>
          <p:cNvPr id="9" name="Text 6"/>
          <p:cNvSpPr/>
          <p:nvPr/>
        </p:nvSpPr>
        <p:spPr>
          <a:xfrm>
            <a:off x="548640" y="3017520"/>
            <a:ext cx="2011680" cy="384048"/>
          </a:xfrm>
          <a:prstGeom prst="rect">
            <a:avLst/>
          </a:prstGeom>
          <a:noFill/>
          <a:ln/>
        </p:spPr>
        <p:txBody>
          <a:bodyPr wrap="square" lIns="0" tIns="0" rIns="0" bIns="0" rtlCol="0" anchor="ctr"/>
          <a:lstStyle/>
          <a:p>
            <a:pPr marL="0" indent="0">
              <a:buNone/>
            </a:pPr>
            <a:r>
              <a:rPr lang="en-US" sz="1300" b="1" dirty="0">
                <a:solidFill>
                  <a:srgbClr val="16305C"/>
                </a:solidFill>
                <a:latin typeface="Calibri" pitchFamily="34" charset="0"/>
                <a:ea typeface="Calibri" pitchFamily="34" charset="-122"/>
                <a:cs typeface="Calibri" pitchFamily="34" charset="-120"/>
              </a:rPr>
              <a:t>Godot</a:t>
            </a:r>
            <a:endParaRPr lang="en-US" sz="1300" dirty="0"/>
          </a:p>
        </p:txBody>
      </p:sp>
      <p:sp>
        <p:nvSpPr>
          <p:cNvPr id="10" name="Text 7"/>
          <p:cNvSpPr/>
          <p:nvPr/>
        </p:nvSpPr>
        <p:spPr>
          <a:xfrm>
            <a:off x="2651760" y="3017520"/>
            <a:ext cx="8778240" cy="384048"/>
          </a:xfrm>
          <a:prstGeom prst="rect">
            <a:avLst/>
          </a:prstGeom>
          <a:noFill/>
          <a:ln/>
        </p:spPr>
        <p:txBody>
          <a:bodyPr wrap="square" lIns="0" tIns="0" rIns="0" bIns="0" rtlCol="0" anchor="ctr"/>
          <a:lstStyle/>
          <a:p>
            <a:pPr marL="0" indent="0">
              <a:buNone/>
            </a:pPr>
            <a:r>
              <a:rPr lang="en-US" sz="1300" dirty="0">
                <a:solidFill>
                  <a:srgbClr val="222222"/>
                </a:solidFill>
                <a:latin typeface="Courier New" pitchFamily="34" charset="0"/>
                <a:ea typeface="Courier New" pitchFamily="34" charset="-122"/>
                <a:cs typeface="Courier New" pitchFamily="34" charset="-120"/>
              </a:rPr>
              <a:t>bullet_scene.instantiate()</a:t>
            </a:r>
            <a:endParaRPr lang="en-US" sz="1300" dirty="0"/>
          </a:p>
        </p:txBody>
      </p:sp>
      <p:sp>
        <p:nvSpPr>
          <p:cNvPr id="11" name="Text 8"/>
          <p:cNvSpPr/>
          <p:nvPr/>
        </p:nvSpPr>
        <p:spPr>
          <a:xfrm>
            <a:off x="548640" y="3419856"/>
            <a:ext cx="2011680" cy="384048"/>
          </a:xfrm>
          <a:prstGeom prst="rect">
            <a:avLst/>
          </a:prstGeom>
          <a:noFill/>
          <a:ln/>
        </p:spPr>
        <p:txBody>
          <a:bodyPr wrap="square" lIns="0" tIns="0" rIns="0" bIns="0" rtlCol="0" anchor="ctr"/>
          <a:lstStyle/>
          <a:p>
            <a:pPr marL="0" indent="0">
              <a:buNone/>
            </a:pPr>
            <a:r>
              <a:rPr lang="en-US" sz="1300" b="1" dirty="0">
                <a:solidFill>
                  <a:srgbClr val="16305C"/>
                </a:solidFill>
                <a:latin typeface="Calibri" pitchFamily="34" charset="0"/>
                <a:ea typeface="Calibri" pitchFamily="34" charset="-122"/>
                <a:cs typeface="Calibri" pitchFamily="34" charset="-120"/>
              </a:rPr>
              <a:t>GameMaker</a:t>
            </a:r>
            <a:endParaRPr lang="en-US" sz="1300" dirty="0"/>
          </a:p>
        </p:txBody>
      </p:sp>
      <p:sp>
        <p:nvSpPr>
          <p:cNvPr id="12" name="Text 9"/>
          <p:cNvSpPr/>
          <p:nvPr/>
        </p:nvSpPr>
        <p:spPr>
          <a:xfrm>
            <a:off x="2651760" y="3419856"/>
            <a:ext cx="8778240" cy="384048"/>
          </a:xfrm>
          <a:prstGeom prst="rect">
            <a:avLst/>
          </a:prstGeom>
          <a:noFill/>
          <a:ln/>
        </p:spPr>
        <p:txBody>
          <a:bodyPr wrap="square" lIns="0" tIns="0" rIns="0" bIns="0" rtlCol="0" anchor="ctr"/>
          <a:lstStyle/>
          <a:p>
            <a:pPr marL="0" indent="0">
              <a:buNone/>
            </a:pPr>
            <a:r>
              <a:rPr lang="en-US" sz="1300" dirty="0">
                <a:solidFill>
                  <a:srgbClr val="222222"/>
                </a:solidFill>
                <a:latin typeface="Courier New" pitchFamily="34" charset="0"/>
                <a:ea typeface="Courier New" pitchFamily="34" charset="-122"/>
                <a:cs typeface="Courier New" pitchFamily="34" charset="-120"/>
              </a:rPr>
              <a:t>instance_create_layer()</a:t>
            </a:r>
            <a:endParaRPr lang="en-US" sz="1300" dirty="0"/>
          </a:p>
        </p:txBody>
      </p:sp>
      <p:sp>
        <p:nvSpPr>
          <p:cNvPr id="13" name="Text 10"/>
          <p:cNvSpPr/>
          <p:nvPr/>
        </p:nvSpPr>
        <p:spPr>
          <a:xfrm>
            <a:off x="548640" y="3822192"/>
            <a:ext cx="2011680" cy="384048"/>
          </a:xfrm>
          <a:prstGeom prst="rect">
            <a:avLst/>
          </a:prstGeom>
          <a:noFill/>
          <a:ln/>
        </p:spPr>
        <p:txBody>
          <a:bodyPr wrap="square" lIns="0" tIns="0" rIns="0" bIns="0" rtlCol="0" anchor="ctr"/>
          <a:lstStyle/>
          <a:p>
            <a:pPr marL="0" indent="0">
              <a:buNone/>
            </a:pPr>
            <a:r>
              <a:rPr lang="en-US" sz="1300" b="1" dirty="0">
                <a:solidFill>
                  <a:srgbClr val="16305C"/>
                </a:solidFill>
                <a:latin typeface="Calibri" pitchFamily="34" charset="0"/>
                <a:ea typeface="Calibri" pitchFamily="34" charset="-122"/>
                <a:cs typeface="Calibri" pitchFamily="34" charset="-120"/>
              </a:rPr>
              <a:t>Unity</a:t>
            </a:r>
            <a:endParaRPr lang="en-US" sz="1300" dirty="0"/>
          </a:p>
        </p:txBody>
      </p:sp>
      <p:sp>
        <p:nvSpPr>
          <p:cNvPr id="14" name="Text 11"/>
          <p:cNvSpPr/>
          <p:nvPr/>
        </p:nvSpPr>
        <p:spPr>
          <a:xfrm>
            <a:off x="2651760" y="3822192"/>
            <a:ext cx="8778240" cy="384048"/>
          </a:xfrm>
          <a:prstGeom prst="rect">
            <a:avLst/>
          </a:prstGeom>
          <a:noFill/>
          <a:ln/>
        </p:spPr>
        <p:txBody>
          <a:bodyPr wrap="square" lIns="0" tIns="0" rIns="0" bIns="0" rtlCol="0" anchor="ctr"/>
          <a:lstStyle/>
          <a:p>
            <a:pPr marL="0" indent="0">
              <a:buNone/>
            </a:pPr>
            <a:r>
              <a:rPr lang="en-US" sz="1300" dirty="0">
                <a:solidFill>
                  <a:srgbClr val="222222"/>
                </a:solidFill>
                <a:latin typeface="Courier New" pitchFamily="34" charset="0"/>
                <a:ea typeface="Courier New" pitchFamily="34" charset="-122"/>
                <a:cs typeface="Courier New" pitchFamily="34" charset="-120"/>
              </a:rPr>
              <a:t>Instantiate()</a:t>
            </a:r>
            <a:endParaRPr lang="en-US" sz="1300" dirty="0"/>
          </a:p>
        </p:txBody>
      </p:sp>
      <p:sp>
        <p:nvSpPr>
          <p:cNvPr id="15" name="Text 12"/>
          <p:cNvSpPr/>
          <p:nvPr/>
        </p:nvSpPr>
        <p:spPr>
          <a:xfrm>
            <a:off x="548640" y="4224528"/>
            <a:ext cx="2011680" cy="384048"/>
          </a:xfrm>
          <a:prstGeom prst="rect">
            <a:avLst/>
          </a:prstGeom>
          <a:noFill/>
          <a:ln/>
        </p:spPr>
        <p:txBody>
          <a:bodyPr wrap="square" lIns="0" tIns="0" rIns="0" bIns="0" rtlCol="0" anchor="ctr"/>
          <a:lstStyle/>
          <a:p>
            <a:pPr marL="0" indent="0">
              <a:buNone/>
            </a:pPr>
            <a:r>
              <a:rPr lang="en-US" sz="1300" b="1" dirty="0">
                <a:solidFill>
                  <a:srgbClr val="16305C"/>
                </a:solidFill>
                <a:latin typeface="Calibri" pitchFamily="34" charset="0"/>
                <a:ea typeface="Calibri" pitchFamily="34" charset="-122"/>
                <a:cs typeface="Calibri" pitchFamily="34" charset="-120"/>
              </a:rPr>
              <a:t>Unreal</a:t>
            </a:r>
            <a:endParaRPr lang="en-US" sz="1300" dirty="0"/>
          </a:p>
        </p:txBody>
      </p:sp>
      <p:sp>
        <p:nvSpPr>
          <p:cNvPr id="16" name="Text 13"/>
          <p:cNvSpPr/>
          <p:nvPr/>
        </p:nvSpPr>
        <p:spPr>
          <a:xfrm>
            <a:off x="2651760" y="4224528"/>
            <a:ext cx="8778240" cy="384048"/>
          </a:xfrm>
          <a:prstGeom prst="rect">
            <a:avLst/>
          </a:prstGeom>
          <a:noFill/>
          <a:ln/>
        </p:spPr>
        <p:txBody>
          <a:bodyPr wrap="square" lIns="0" tIns="0" rIns="0" bIns="0" rtlCol="0" anchor="ctr"/>
          <a:lstStyle/>
          <a:p>
            <a:pPr marL="0" indent="0">
              <a:buNone/>
            </a:pPr>
            <a:r>
              <a:rPr lang="en-US" sz="1300" dirty="0">
                <a:solidFill>
                  <a:srgbClr val="222222"/>
                </a:solidFill>
                <a:latin typeface="Courier New" pitchFamily="34" charset="0"/>
                <a:ea typeface="Courier New" pitchFamily="34" charset="-122"/>
                <a:cs typeface="Courier New" pitchFamily="34" charset="-120"/>
              </a:rPr>
              <a:t>Spawn Actor from Class</a:t>
            </a:r>
            <a:endParaRPr lang="en-US" sz="1300" dirty="0"/>
          </a:p>
        </p:txBody>
      </p:sp>
      <p:sp>
        <p:nvSpPr>
          <p:cNvPr id="17" name="Shape 14"/>
          <p:cNvSpPr/>
          <p:nvPr/>
        </p:nvSpPr>
        <p:spPr>
          <a:xfrm>
            <a:off x="548640" y="4754880"/>
            <a:ext cx="11064240" cy="960120"/>
          </a:xfrm>
          <a:prstGeom prst="roundRect">
            <a:avLst>
              <a:gd name="adj" fmla="val 11429"/>
            </a:avLst>
          </a:prstGeom>
          <a:solidFill>
            <a:srgbClr val="EDF2F8"/>
          </a:solidFill>
          <a:ln/>
        </p:spPr>
        <p:txBody>
          <a:bodyPr/>
          <a:lstStyle/>
          <a:p>
            <a:endParaRPr lang="en-US"/>
          </a:p>
        </p:txBody>
      </p:sp>
      <p:pic>
        <p:nvPicPr>
          <p:cNvPr id="18" name="Image 1" descr="icons/chat.png"/>
          <p:cNvPicPr>
            <a:picLocks noChangeAspect="1"/>
          </p:cNvPicPr>
          <p:nvPr/>
        </p:nvPicPr>
        <p:blipFill>
          <a:blip r:embed="rId4"/>
          <a:stretch>
            <a:fillRect/>
          </a:stretch>
        </p:blipFill>
        <p:spPr>
          <a:xfrm>
            <a:off x="777240" y="4937760"/>
            <a:ext cx="502920" cy="502920"/>
          </a:xfrm>
          <a:prstGeom prst="rect">
            <a:avLst/>
          </a:prstGeom>
        </p:spPr>
      </p:pic>
      <p:sp>
        <p:nvSpPr>
          <p:cNvPr id="19" name="Text 15"/>
          <p:cNvSpPr/>
          <p:nvPr/>
        </p:nvSpPr>
        <p:spPr>
          <a:xfrm>
            <a:off x="1463040" y="4892040"/>
            <a:ext cx="9966960" cy="685800"/>
          </a:xfrm>
          <a:prstGeom prst="rect">
            <a:avLst/>
          </a:prstGeom>
          <a:noFill/>
          <a:ln/>
        </p:spPr>
        <p:txBody>
          <a:bodyPr wrap="square" lIns="0" tIns="0" rIns="0" bIns="0" rtlCol="0" anchor="ctr"/>
          <a:lstStyle/>
          <a:p>
            <a:pPr marL="0" indent="0">
              <a:buNone/>
            </a:pPr>
            <a:r>
              <a:rPr lang="en-US" sz="1450" i="1" dirty="0">
                <a:solidFill>
                  <a:srgbClr val="222222"/>
                </a:solidFill>
                <a:latin typeface="Calibri" pitchFamily="34" charset="0"/>
                <a:ea typeface="Calibri" pitchFamily="34" charset="-122"/>
                <a:cs typeface="Calibri" pitchFamily="34" charset="-120"/>
              </a:rPr>
              <a:t>Discussion: where else in a game might you want lots of independent copies of one thing?</a:t>
            </a:r>
            <a:endParaRPr lang="en-US" sz="1450" dirty="0"/>
          </a:p>
        </p:txBody>
      </p:sp>
      <p:sp>
        <p:nvSpPr>
          <p:cNvPr id="20" name="Text 16"/>
          <p:cNvSpPr/>
          <p:nvPr/>
        </p:nvSpPr>
        <p:spPr>
          <a:xfrm>
            <a:off x="457200" y="6528816"/>
            <a:ext cx="4572000" cy="274320"/>
          </a:xfrm>
          <a:prstGeom prst="rect">
            <a:avLst/>
          </a:prstGeom>
          <a:noFill/>
          <a:ln/>
        </p:spPr>
        <p:txBody>
          <a:bodyPr wrap="square" lIns="0" tIns="0" rIns="0" bIns="0" rtlCol="0" anchor="ctr"/>
          <a:lstStyle/>
          <a:p>
            <a:pPr marL="0" indent="0">
              <a:buNone/>
            </a:pPr>
            <a:r>
              <a:rPr lang="en-US" sz="1000" b="1" kern="0" spc="20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1" name="Text 17"/>
          <p:cNvSpPr/>
          <p:nvPr/>
        </p:nvSpPr>
        <p:spPr>
          <a:xfrm>
            <a:off x="10088575" y="6528816"/>
            <a:ext cx="1371600" cy="274320"/>
          </a:xfrm>
          <a:prstGeom prst="rect">
            <a:avLst/>
          </a:prstGeom>
          <a:noFill/>
          <a:ln/>
        </p:spPr>
        <p:txBody>
          <a:bodyPr wrap="square" lIns="0" tIns="0" rIns="0" bIns="0" rtlCol="0" anchor="ctr"/>
          <a:lstStyle/>
          <a:p>
            <a:pPr marL="0" indent="0" algn="r">
              <a:buNone/>
            </a:pPr>
            <a:r>
              <a:rPr lang="en-US" sz="1000" dirty="0">
                <a:solidFill>
                  <a:srgbClr val="5A6472"/>
                </a:solidFill>
                <a:latin typeface="Calibri" pitchFamily="34" charset="0"/>
                <a:ea typeface="Calibri" pitchFamily="34" charset="-122"/>
                <a:cs typeface="Calibri" pitchFamily="34" charset="-120"/>
              </a:rPr>
              <a:t>Lesson 3</a:t>
            </a:r>
            <a:endParaRPr lang="en-US" sz="1000" dirty="0"/>
          </a:p>
        </p:txBody>
      </p:sp>
      <p:sp>
        <p:nvSpPr>
          <p:cNvPr id="22" name="Text 18"/>
          <p:cNvSpPr/>
          <p:nvPr/>
        </p:nvSpPr>
        <p:spPr>
          <a:xfrm>
            <a:off x="11505895" y="6528816"/>
            <a:ext cx="411480" cy="274320"/>
          </a:xfrm>
          <a:prstGeom prst="rect">
            <a:avLst/>
          </a:prstGeom>
          <a:noFill/>
          <a:ln/>
        </p:spPr>
        <p:txBody>
          <a:bodyPr wrap="square" lIns="0" tIns="0" rIns="0" bIns="0" rtlCol="0" anchor="ctr"/>
          <a:lstStyle/>
          <a:p>
            <a:pPr marL="0" indent="0" algn="r">
              <a:buNone/>
            </a:pPr>
            <a:r>
              <a:rPr lang="en-US" sz="1000" dirty="0">
                <a:solidFill>
                  <a:srgbClr val="5A647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bg_title_wrench.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marL="0" indent="0">
              <a:buNone/>
            </a:pPr>
            <a:r>
              <a:rPr lang="en-US" sz="4000" b="1" dirty="0">
                <a:solidFill>
                  <a:srgbClr val="E8C25A"/>
                </a:solidFill>
                <a:latin typeface="Cambria" pitchFamily="34" charset="0"/>
                <a:ea typeface="Cambria" pitchFamily="34" charset="-122"/>
                <a:cs typeface="Cambria" pitchFamily="34" charset="-120"/>
              </a:rPr>
              <a:t>Cleanup: Why You Remove What You Create</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marL="0" indent="0">
              <a:buNone/>
            </a:pPr>
            <a:r>
              <a:rPr lang="en-US" sz="1600" dirty="0">
                <a:solidFill>
                  <a:srgbClr val="F4F0E6"/>
                </a:solidFill>
                <a:latin typeface="Calibri" pitchFamily="34" charset="0"/>
                <a:ea typeface="Calibri" pitchFamily="34" charset="-122"/>
                <a:cs typeface="Calibri" pitchFamily="34" charset="-120"/>
              </a:rPr>
              <a:t>A hundred forgotten bullets doesn't sound like much - until it does.</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txBody>
          <a:bodyPr/>
          <a:lstStyle/>
          <a:p>
            <a:endParaRPr lang="en-US"/>
          </a:p>
        </p:txBody>
      </p:sp>
      <p:sp>
        <p:nvSpPr>
          <p:cNvPr id="6" name="Text 3"/>
          <p:cNvSpPr/>
          <p:nvPr/>
        </p:nvSpPr>
        <p:spPr>
          <a:xfrm>
            <a:off x="2880360" y="3977640"/>
            <a:ext cx="1371600" cy="347472"/>
          </a:xfrm>
          <a:prstGeom prst="rect">
            <a:avLst/>
          </a:prstGeom>
          <a:noFill/>
          <a:ln/>
        </p:spPr>
        <p:txBody>
          <a:bodyPr wrap="square" lIns="0" tIns="0" rIns="0" bIns="0" rtlCol="0" anchor="ctr"/>
          <a:lstStyle/>
          <a:p>
            <a:pPr marL="0" indent="0" algn="ctr">
              <a:buNone/>
            </a:pPr>
            <a:r>
              <a:rPr lang="en-US" sz="1200" b="1" dirty="0">
                <a:solidFill>
                  <a:srgbClr val="E8C25A"/>
                </a:solidFill>
                <a:latin typeface="Calibri" pitchFamily="34" charset="0"/>
                <a:ea typeface="Calibri" pitchFamily="34" charset="-122"/>
                <a:cs typeface="Calibri" pitchFamily="34" charset="-120"/>
              </a:rPr>
              <a:t>20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marL="0" indent="0">
              <a:buNone/>
            </a:pPr>
            <a:r>
              <a:rPr lang="en-US" sz="1000" b="1" kern="0" spc="20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marL="0" indent="0" algn="r">
              <a:buNone/>
            </a:pPr>
            <a:r>
              <a:rPr lang="en-US" sz="1000" dirty="0">
                <a:solidFill>
                  <a:srgbClr val="E8C25A"/>
                </a:solidFill>
                <a:latin typeface="Calibri" pitchFamily="34" charset="0"/>
                <a:ea typeface="Calibri" pitchFamily="34" charset="-122"/>
                <a:cs typeface="Calibri" pitchFamily="34" charset="-120"/>
              </a:rPr>
              <a:t>Lesson 3</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marL="0" indent="0" algn="r">
              <a:buNone/>
            </a:pPr>
            <a:r>
              <a:rPr lang="en-US" sz="1000" dirty="0">
                <a:solidFill>
                  <a:srgbClr val="E8C25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bg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marL="0" indent="0">
              <a:buNone/>
            </a:pPr>
            <a:r>
              <a:rPr lang="en-US" sz="3400" b="1" dirty="0">
                <a:solidFill>
                  <a:srgbClr val="1C4A86"/>
                </a:solidFill>
                <a:latin typeface="Cambria" pitchFamily="34" charset="0"/>
                <a:ea typeface="Cambria" pitchFamily="34" charset="-122"/>
                <a:cs typeface="Cambria" pitchFamily="34" charset="-120"/>
              </a:rPr>
              <a:t>Cleanup</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txBody>
          <a:bodyPr/>
          <a:lstStyle/>
          <a:p>
            <a:endParaRPr lang="en-US"/>
          </a:p>
        </p:txBody>
      </p:sp>
      <p:sp>
        <p:nvSpPr>
          <p:cNvPr id="5" name="Text 2"/>
          <p:cNvSpPr/>
          <p:nvPr/>
        </p:nvSpPr>
        <p:spPr>
          <a:xfrm>
            <a:off x="10424160" y="457200"/>
            <a:ext cx="1188720" cy="347472"/>
          </a:xfrm>
          <a:prstGeom prst="rect">
            <a:avLst/>
          </a:prstGeom>
          <a:noFill/>
          <a:ln/>
        </p:spPr>
        <p:txBody>
          <a:bodyPr wrap="square" lIns="0" tIns="0" rIns="0" bIns="0" rtlCol="0" anchor="ctr"/>
          <a:lstStyle/>
          <a:p>
            <a:pPr marL="0" indent="0" algn="ctr">
              <a:buNone/>
            </a:pPr>
            <a:r>
              <a:rPr lang="en-US" sz="1200" b="1" dirty="0">
                <a:solidFill>
                  <a:srgbClr val="1C4A86"/>
                </a:solidFill>
                <a:latin typeface="Calibri" pitchFamily="34" charset="0"/>
                <a:ea typeface="Calibri" pitchFamily="34" charset="-122"/>
                <a:cs typeface="Calibri" pitchFamily="34" charset="-120"/>
              </a:rPr>
              <a:t>20 min</a:t>
            </a:r>
            <a:endParaRPr lang="en-US" sz="1200" dirty="0"/>
          </a:p>
        </p:txBody>
      </p:sp>
      <p:sp>
        <p:nvSpPr>
          <p:cNvPr id="6" name="Text 3"/>
          <p:cNvSpPr/>
          <p:nvPr/>
        </p:nvSpPr>
        <p:spPr>
          <a:xfrm>
            <a:off x="548640" y="1325880"/>
            <a:ext cx="10881360" cy="640080"/>
          </a:xfrm>
          <a:prstGeom prst="rect">
            <a:avLst/>
          </a:prstGeom>
          <a:noFill/>
          <a:ln/>
        </p:spPr>
        <p:txBody>
          <a:bodyPr wrap="square" lIns="0" tIns="0" rIns="0" bIns="0" rtlCol="0" anchor="ctr"/>
          <a:lstStyle/>
          <a:p>
            <a:pPr marL="0" indent="0">
              <a:buNone/>
            </a:pPr>
            <a:r>
              <a:rPr lang="en-US" sz="1600" b="1" dirty="0">
                <a:solidFill>
                  <a:srgbClr val="1C4A86"/>
                </a:solidFill>
                <a:latin typeface="Calibri" pitchFamily="34" charset="0"/>
                <a:ea typeface="Calibri" pitchFamily="34" charset="-122"/>
                <a:cs typeface="Calibri" pitchFamily="34" charset="-120"/>
              </a:rPr>
              <a:t>If nothing removes old bullets, the engine keeps tracking every single one - forever - even off-screen and useless.</a:t>
            </a:r>
            <a:endParaRPr lang="en-US" sz="1600" dirty="0"/>
          </a:p>
        </p:txBody>
      </p:sp>
      <p:sp>
        <p:nvSpPr>
          <p:cNvPr id="7" name="Text 4"/>
          <p:cNvSpPr/>
          <p:nvPr/>
        </p:nvSpPr>
        <p:spPr>
          <a:xfrm>
            <a:off x="548640" y="1920240"/>
            <a:ext cx="10881360" cy="5486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A real game spawning constantly (bullets, particles, enemies) can pile up thousands of forgotten objects in minutes - the game slows down or crashes.</a:t>
            </a:r>
            <a:endParaRPr lang="en-US" sz="1400" dirty="0"/>
          </a:p>
        </p:txBody>
      </p:sp>
      <p:sp>
        <p:nvSpPr>
          <p:cNvPr id="8" name="Text 5"/>
          <p:cNvSpPr/>
          <p:nvPr/>
        </p:nvSpPr>
        <p:spPr>
          <a:xfrm>
            <a:off x="548640" y="2606040"/>
            <a:ext cx="8229600" cy="365760"/>
          </a:xfrm>
          <a:prstGeom prst="rect">
            <a:avLst/>
          </a:prstGeom>
          <a:noFill/>
          <a:ln/>
        </p:spPr>
        <p:txBody>
          <a:bodyPr wrap="square" lIns="0" tIns="0" rIns="0" bIns="0" rtlCol="0" anchor="ctr"/>
          <a:lstStyle/>
          <a:p>
            <a:pPr marL="0" indent="0">
              <a:buNone/>
            </a:pPr>
            <a:r>
              <a:rPr lang="en-US" sz="1400" b="1" dirty="0">
                <a:solidFill>
                  <a:srgbClr val="1C4A86"/>
                </a:solidFill>
                <a:latin typeface="Calibri" pitchFamily="34" charset="0"/>
                <a:ea typeface="Calibri" pitchFamily="34" charset="-122"/>
                <a:cs typeface="Calibri" pitchFamily="34" charset="-120"/>
              </a:rPr>
              <a:t>Every engine gives you an explicit "I'm done with this one" call:</a:t>
            </a:r>
            <a:endParaRPr lang="en-US" sz="1400" dirty="0"/>
          </a:p>
        </p:txBody>
      </p:sp>
      <p:sp>
        <p:nvSpPr>
          <p:cNvPr id="9" name="Text 6"/>
          <p:cNvSpPr/>
          <p:nvPr/>
        </p:nvSpPr>
        <p:spPr>
          <a:xfrm>
            <a:off x="548640" y="3017520"/>
            <a:ext cx="2377440" cy="384048"/>
          </a:xfrm>
          <a:prstGeom prst="rect">
            <a:avLst/>
          </a:prstGeom>
          <a:noFill/>
          <a:ln/>
        </p:spPr>
        <p:txBody>
          <a:bodyPr wrap="square" lIns="0" tIns="0" rIns="0" bIns="0" rtlCol="0" anchor="ctr"/>
          <a:lstStyle/>
          <a:p>
            <a:pPr marL="0" indent="0">
              <a:buNone/>
            </a:pPr>
            <a:r>
              <a:rPr lang="en-US" sz="1300" b="1" dirty="0">
                <a:solidFill>
                  <a:srgbClr val="16305C"/>
                </a:solidFill>
                <a:latin typeface="Calibri" pitchFamily="34" charset="0"/>
                <a:ea typeface="Calibri" pitchFamily="34" charset="-122"/>
                <a:cs typeface="Calibri" pitchFamily="34" charset="-120"/>
              </a:rPr>
              <a:t>Godot</a:t>
            </a:r>
            <a:endParaRPr lang="en-US" sz="1300" dirty="0"/>
          </a:p>
        </p:txBody>
      </p:sp>
      <p:sp>
        <p:nvSpPr>
          <p:cNvPr id="10" name="Text 7"/>
          <p:cNvSpPr/>
          <p:nvPr/>
        </p:nvSpPr>
        <p:spPr>
          <a:xfrm>
            <a:off x="3017520" y="3017520"/>
            <a:ext cx="8412480" cy="384048"/>
          </a:xfrm>
          <a:prstGeom prst="rect">
            <a:avLst/>
          </a:prstGeom>
          <a:noFill/>
          <a:ln/>
        </p:spPr>
        <p:txBody>
          <a:bodyPr wrap="square" lIns="0" tIns="0" rIns="0" bIns="0" rtlCol="0" anchor="ctr"/>
          <a:lstStyle/>
          <a:p>
            <a:pPr marL="0" indent="0">
              <a:buNone/>
            </a:pPr>
            <a:r>
              <a:rPr lang="en-US" sz="1300" dirty="0">
                <a:solidFill>
                  <a:srgbClr val="222222"/>
                </a:solidFill>
                <a:latin typeface="Courier New" pitchFamily="34" charset="0"/>
                <a:ea typeface="Courier New" pitchFamily="34" charset="-122"/>
                <a:cs typeface="Courier New" pitchFamily="34" charset="-120"/>
              </a:rPr>
              <a:t>queue_free()</a:t>
            </a:r>
            <a:endParaRPr lang="en-US" sz="1300" dirty="0"/>
          </a:p>
        </p:txBody>
      </p:sp>
      <p:sp>
        <p:nvSpPr>
          <p:cNvPr id="11" name="Text 8"/>
          <p:cNvSpPr/>
          <p:nvPr/>
        </p:nvSpPr>
        <p:spPr>
          <a:xfrm>
            <a:off x="548640" y="3419856"/>
            <a:ext cx="2377440" cy="384048"/>
          </a:xfrm>
          <a:prstGeom prst="rect">
            <a:avLst/>
          </a:prstGeom>
          <a:noFill/>
          <a:ln/>
        </p:spPr>
        <p:txBody>
          <a:bodyPr wrap="square" lIns="0" tIns="0" rIns="0" bIns="0" rtlCol="0" anchor="ctr"/>
          <a:lstStyle/>
          <a:p>
            <a:pPr marL="0" indent="0">
              <a:buNone/>
            </a:pPr>
            <a:r>
              <a:rPr lang="en-US" sz="1300" b="1" dirty="0">
                <a:solidFill>
                  <a:srgbClr val="16305C"/>
                </a:solidFill>
                <a:latin typeface="Calibri" pitchFamily="34" charset="0"/>
                <a:ea typeface="Calibri" pitchFamily="34" charset="-122"/>
                <a:cs typeface="Calibri" pitchFamily="34" charset="-120"/>
              </a:rPr>
              <a:t>GameMaker</a:t>
            </a:r>
            <a:endParaRPr lang="en-US" sz="1300" dirty="0"/>
          </a:p>
        </p:txBody>
      </p:sp>
      <p:sp>
        <p:nvSpPr>
          <p:cNvPr id="12" name="Text 9"/>
          <p:cNvSpPr/>
          <p:nvPr/>
        </p:nvSpPr>
        <p:spPr>
          <a:xfrm>
            <a:off x="3017520" y="3419856"/>
            <a:ext cx="8412480" cy="384048"/>
          </a:xfrm>
          <a:prstGeom prst="rect">
            <a:avLst/>
          </a:prstGeom>
          <a:noFill/>
          <a:ln/>
        </p:spPr>
        <p:txBody>
          <a:bodyPr wrap="square" lIns="0" tIns="0" rIns="0" bIns="0" rtlCol="0" anchor="ctr"/>
          <a:lstStyle/>
          <a:p>
            <a:pPr marL="0" indent="0">
              <a:buNone/>
            </a:pPr>
            <a:r>
              <a:rPr lang="en-US" sz="1300" dirty="0">
                <a:solidFill>
                  <a:srgbClr val="222222"/>
                </a:solidFill>
                <a:latin typeface="Courier New" pitchFamily="34" charset="0"/>
                <a:ea typeface="Courier New" pitchFamily="34" charset="-122"/>
                <a:cs typeface="Courier New" pitchFamily="34" charset="-120"/>
              </a:rPr>
              <a:t>instance_destroy()</a:t>
            </a:r>
            <a:endParaRPr lang="en-US" sz="1300" dirty="0"/>
          </a:p>
        </p:txBody>
      </p:sp>
      <p:sp>
        <p:nvSpPr>
          <p:cNvPr id="13" name="Text 10"/>
          <p:cNvSpPr/>
          <p:nvPr/>
        </p:nvSpPr>
        <p:spPr>
          <a:xfrm>
            <a:off x="548640" y="3822192"/>
            <a:ext cx="2377440" cy="384048"/>
          </a:xfrm>
          <a:prstGeom prst="rect">
            <a:avLst/>
          </a:prstGeom>
          <a:noFill/>
          <a:ln/>
        </p:spPr>
        <p:txBody>
          <a:bodyPr wrap="square" lIns="0" tIns="0" rIns="0" bIns="0" rtlCol="0" anchor="ctr"/>
          <a:lstStyle/>
          <a:p>
            <a:pPr marL="0" indent="0">
              <a:buNone/>
            </a:pPr>
            <a:r>
              <a:rPr lang="en-US" sz="1300" b="1" dirty="0">
                <a:solidFill>
                  <a:srgbClr val="16305C"/>
                </a:solidFill>
                <a:latin typeface="Calibri" pitchFamily="34" charset="0"/>
                <a:ea typeface="Calibri" pitchFamily="34" charset="-122"/>
                <a:cs typeface="Calibri" pitchFamily="34" charset="-120"/>
              </a:rPr>
              <a:t>Unity / Unreal</a:t>
            </a:r>
            <a:endParaRPr lang="en-US" sz="1300" dirty="0"/>
          </a:p>
        </p:txBody>
      </p:sp>
      <p:sp>
        <p:nvSpPr>
          <p:cNvPr id="14" name="Text 11"/>
          <p:cNvSpPr/>
          <p:nvPr/>
        </p:nvSpPr>
        <p:spPr>
          <a:xfrm>
            <a:off x="3017520" y="3822192"/>
            <a:ext cx="8412480" cy="384048"/>
          </a:xfrm>
          <a:prstGeom prst="rect">
            <a:avLst/>
          </a:prstGeom>
          <a:noFill/>
          <a:ln/>
        </p:spPr>
        <p:txBody>
          <a:bodyPr wrap="square" lIns="0" tIns="0" rIns="0" bIns="0" rtlCol="0" anchor="ctr"/>
          <a:lstStyle/>
          <a:p>
            <a:pPr marL="0" indent="0">
              <a:buNone/>
            </a:pPr>
            <a:r>
              <a:rPr lang="en-US" sz="1300" dirty="0">
                <a:solidFill>
                  <a:srgbClr val="222222"/>
                </a:solidFill>
                <a:latin typeface="Courier New" pitchFamily="34" charset="0"/>
                <a:ea typeface="Courier New" pitchFamily="34" charset="-122"/>
                <a:cs typeface="Courier New" pitchFamily="34" charset="-120"/>
              </a:rPr>
              <a:t>Destroy()</a:t>
            </a:r>
            <a:endParaRPr lang="en-US" sz="1300" dirty="0"/>
          </a:p>
        </p:txBody>
      </p:sp>
      <p:sp>
        <p:nvSpPr>
          <p:cNvPr id="15" name="Shape 12"/>
          <p:cNvSpPr/>
          <p:nvPr/>
        </p:nvSpPr>
        <p:spPr>
          <a:xfrm>
            <a:off x="548640" y="4434840"/>
            <a:ext cx="11064240" cy="1280160"/>
          </a:xfrm>
          <a:prstGeom prst="roundRect">
            <a:avLst>
              <a:gd name="adj" fmla="val 8571"/>
            </a:avLst>
          </a:prstGeom>
          <a:solidFill>
            <a:srgbClr val="EDF2F8"/>
          </a:solidFill>
          <a:ln/>
        </p:spPr>
        <p:txBody>
          <a:bodyPr/>
          <a:lstStyle/>
          <a:p>
            <a:endParaRPr lang="en-US"/>
          </a:p>
        </p:txBody>
      </p:sp>
      <p:pic>
        <p:nvPicPr>
          <p:cNvPr id="16" name="Image 1" descr="icons/book.png"/>
          <p:cNvPicPr>
            <a:picLocks noChangeAspect="1"/>
          </p:cNvPicPr>
          <p:nvPr/>
        </p:nvPicPr>
        <p:blipFill>
          <a:blip r:embed="rId4"/>
          <a:stretch>
            <a:fillRect/>
          </a:stretch>
        </p:blipFill>
        <p:spPr>
          <a:xfrm>
            <a:off x="777240" y="4645152"/>
            <a:ext cx="502920" cy="502920"/>
          </a:xfrm>
          <a:prstGeom prst="rect">
            <a:avLst/>
          </a:prstGeom>
        </p:spPr>
      </p:pic>
      <p:sp>
        <p:nvSpPr>
          <p:cNvPr id="17" name="Text 13"/>
          <p:cNvSpPr/>
          <p:nvPr/>
        </p:nvSpPr>
        <p:spPr>
          <a:xfrm>
            <a:off x="1463040" y="4572000"/>
            <a:ext cx="9966960" cy="1005840"/>
          </a:xfrm>
          <a:prstGeom prst="rect">
            <a:avLst/>
          </a:prstGeom>
          <a:noFill/>
          <a:ln/>
        </p:spPr>
        <p:txBody>
          <a:bodyPr wrap="square" lIns="0" tIns="0" rIns="0" bIns="0" rtlCol="0" anchor="ctr"/>
          <a:lstStyle/>
          <a:p>
            <a:pPr marL="0" indent="0">
              <a:buNone/>
            </a:pPr>
            <a:r>
              <a:rPr lang="en-US" sz="1350" dirty="0">
                <a:solidFill>
                  <a:srgbClr val="222222"/>
                </a:solidFill>
                <a:latin typeface="Calibri" pitchFamily="34" charset="0"/>
                <a:ea typeface="Calibri" pitchFamily="34" charset="-122"/>
                <a:cs typeface="Calibri" pitchFamily="34" charset="-120"/>
              </a:rPr>
              <a:t>The pattern for anything spawned at runtime is always two-sided: something that creates it, and something that eventually destroys it. Today, a bullet leaving the screen triggers that second half.</a:t>
            </a:r>
            <a:endParaRPr lang="en-US" sz="1350" dirty="0"/>
          </a:p>
        </p:txBody>
      </p:sp>
      <p:sp>
        <p:nvSpPr>
          <p:cNvPr id="18" name="Text 14"/>
          <p:cNvSpPr/>
          <p:nvPr/>
        </p:nvSpPr>
        <p:spPr>
          <a:xfrm>
            <a:off x="457200" y="6528816"/>
            <a:ext cx="4572000" cy="274320"/>
          </a:xfrm>
          <a:prstGeom prst="rect">
            <a:avLst/>
          </a:prstGeom>
          <a:noFill/>
          <a:ln/>
        </p:spPr>
        <p:txBody>
          <a:bodyPr wrap="square" lIns="0" tIns="0" rIns="0" bIns="0" rtlCol="0" anchor="ctr"/>
          <a:lstStyle/>
          <a:p>
            <a:pPr marL="0" indent="0">
              <a:buNone/>
            </a:pPr>
            <a:r>
              <a:rPr lang="en-US" sz="1000" b="1" kern="0" spc="20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9" name="Text 15"/>
          <p:cNvSpPr/>
          <p:nvPr/>
        </p:nvSpPr>
        <p:spPr>
          <a:xfrm>
            <a:off x="10088575" y="6528816"/>
            <a:ext cx="1371600" cy="274320"/>
          </a:xfrm>
          <a:prstGeom prst="rect">
            <a:avLst/>
          </a:prstGeom>
          <a:noFill/>
          <a:ln/>
        </p:spPr>
        <p:txBody>
          <a:bodyPr wrap="square" lIns="0" tIns="0" rIns="0" bIns="0" rtlCol="0" anchor="ctr"/>
          <a:lstStyle/>
          <a:p>
            <a:pPr marL="0" indent="0" algn="r">
              <a:buNone/>
            </a:pPr>
            <a:r>
              <a:rPr lang="en-US" sz="1000" dirty="0">
                <a:solidFill>
                  <a:srgbClr val="5A6472"/>
                </a:solidFill>
                <a:latin typeface="Calibri" pitchFamily="34" charset="0"/>
                <a:ea typeface="Calibri" pitchFamily="34" charset="-122"/>
                <a:cs typeface="Calibri" pitchFamily="34" charset="-120"/>
              </a:rPr>
              <a:t>Lesson 3</a:t>
            </a:r>
            <a:endParaRPr lang="en-US" sz="1000" dirty="0"/>
          </a:p>
        </p:txBody>
      </p:sp>
      <p:sp>
        <p:nvSpPr>
          <p:cNvPr id="20" name="Text 16"/>
          <p:cNvSpPr/>
          <p:nvPr/>
        </p:nvSpPr>
        <p:spPr>
          <a:xfrm>
            <a:off x="11505895" y="6528816"/>
            <a:ext cx="411480" cy="274320"/>
          </a:xfrm>
          <a:prstGeom prst="rect">
            <a:avLst/>
          </a:prstGeom>
          <a:noFill/>
          <a:ln/>
        </p:spPr>
        <p:txBody>
          <a:bodyPr wrap="square" lIns="0" tIns="0" rIns="0" bIns="0" rtlCol="0" anchor="ctr"/>
          <a:lstStyle/>
          <a:p>
            <a:pPr marL="0" indent="0" algn="r">
              <a:buNone/>
            </a:pPr>
            <a:r>
              <a:rPr lang="en-US" sz="1000" dirty="0">
                <a:solidFill>
                  <a:srgbClr val="5A647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bg_title_controller.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marL="0" indent="0">
              <a:buNone/>
            </a:pPr>
            <a:r>
              <a:rPr lang="en-US" sz="4000" b="1" dirty="0">
                <a:solidFill>
                  <a:srgbClr val="E8C25A"/>
                </a:solidFill>
                <a:latin typeface="Cambria" pitchFamily="34" charset="0"/>
                <a:ea typeface="Cambria" pitchFamily="34" charset="-122"/>
                <a:cs typeface="Cambria" pitchFamily="34" charset="-120"/>
              </a:rPr>
              <a:t>One Press, One Shot</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marL="0" indent="0">
              <a:buNone/>
            </a:pPr>
            <a:r>
              <a:rPr lang="en-US" sz="1600" dirty="0">
                <a:solidFill>
                  <a:srgbClr val="F4F0E6"/>
                </a:solidFill>
                <a:latin typeface="Calibri" pitchFamily="34" charset="0"/>
                <a:ea typeface="Calibri" pitchFamily="34" charset="-122"/>
                <a:cs typeface="Calibri" pitchFamily="34" charset="-120"/>
              </a:rPr>
              <a:t>"Currently held" vs. "just pressed" - the difference that keeps fire from flooding the screen.</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txBody>
          <a:bodyPr/>
          <a:lstStyle/>
          <a:p>
            <a:endParaRPr lang="en-US"/>
          </a:p>
        </p:txBody>
      </p:sp>
      <p:sp>
        <p:nvSpPr>
          <p:cNvPr id="6" name="Text 3"/>
          <p:cNvSpPr/>
          <p:nvPr/>
        </p:nvSpPr>
        <p:spPr>
          <a:xfrm>
            <a:off x="2880360" y="3977640"/>
            <a:ext cx="1371600" cy="347472"/>
          </a:xfrm>
          <a:prstGeom prst="rect">
            <a:avLst/>
          </a:prstGeom>
          <a:noFill/>
          <a:ln/>
        </p:spPr>
        <p:txBody>
          <a:bodyPr wrap="square" lIns="0" tIns="0" rIns="0" bIns="0" rtlCol="0" anchor="ctr"/>
          <a:lstStyle/>
          <a:p>
            <a:pPr marL="0" indent="0" algn="ctr">
              <a:buNone/>
            </a:pPr>
            <a:r>
              <a:rPr lang="en-US" sz="1200" b="1" dirty="0">
                <a:solidFill>
                  <a:srgbClr val="E8C25A"/>
                </a:solidFill>
                <a:latin typeface="Calibri" pitchFamily="34" charset="0"/>
                <a:ea typeface="Calibri" pitchFamily="34" charset="-122"/>
                <a:cs typeface="Calibri" pitchFamily="34" charset="-120"/>
              </a:rPr>
              <a:t>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marL="0" indent="0">
              <a:buNone/>
            </a:pPr>
            <a:r>
              <a:rPr lang="en-US" sz="1000" b="1" kern="0" spc="20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marL="0" indent="0" algn="r">
              <a:buNone/>
            </a:pPr>
            <a:r>
              <a:rPr lang="en-US" sz="1000" dirty="0">
                <a:solidFill>
                  <a:srgbClr val="E8C25A"/>
                </a:solidFill>
                <a:latin typeface="Calibri" pitchFamily="34" charset="0"/>
                <a:ea typeface="Calibri" pitchFamily="34" charset="-122"/>
                <a:cs typeface="Calibri" pitchFamily="34" charset="-120"/>
              </a:rPr>
              <a:t>Lesson 3</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marL="0" indent="0" algn="r">
              <a:buNone/>
            </a:pPr>
            <a:r>
              <a:rPr lang="en-US" sz="1000" dirty="0">
                <a:solidFill>
                  <a:srgbClr val="E8C25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bg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marL="0" indent="0">
              <a:buNone/>
            </a:pPr>
            <a:r>
              <a:rPr lang="en-US" sz="3200" b="1" dirty="0">
                <a:solidFill>
                  <a:srgbClr val="1C4A86"/>
                </a:solidFill>
                <a:latin typeface="Cambria" pitchFamily="34" charset="0"/>
                <a:ea typeface="Cambria" pitchFamily="34" charset="-122"/>
                <a:cs typeface="Cambria" pitchFamily="34" charset="-120"/>
              </a:rPr>
              <a:t>One Press, One Shot</a:t>
            </a:r>
            <a:endParaRPr lang="en-US" sz="32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txBody>
          <a:bodyPr/>
          <a:lstStyle/>
          <a:p>
            <a:endParaRPr lang="en-US"/>
          </a:p>
        </p:txBody>
      </p:sp>
      <p:sp>
        <p:nvSpPr>
          <p:cNvPr id="5" name="Text 2"/>
          <p:cNvSpPr/>
          <p:nvPr/>
        </p:nvSpPr>
        <p:spPr>
          <a:xfrm>
            <a:off x="10424160" y="457200"/>
            <a:ext cx="1188720" cy="347472"/>
          </a:xfrm>
          <a:prstGeom prst="rect">
            <a:avLst/>
          </a:prstGeom>
          <a:noFill/>
          <a:ln/>
        </p:spPr>
        <p:txBody>
          <a:bodyPr wrap="square" lIns="0" tIns="0" rIns="0" bIns="0" rtlCol="0" anchor="ctr"/>
          <a:lstStyle/>
          <a:p>
            <a:pPr marL="0" indent="0" algn="ctr">
              <a:buNone/>
            </a:pPr>
            <a:r>
              <a:rPr lang="en-US" sz="1200" b="1" dirty="0">
                <a:solidFill>
                  <a:srgbClr val="1C4A86"/>
                </a:solidFill>
                <a:latin typeface="Calibri" pitchFamily="34" charset="0"/>
                <a:ea typeface="Calibri" pitchFamily="34" charset="-122"/>
                <a:cs typeface="Calibri" pitchFamily="34" charset="-120"/>
              </a:rPr>
              <a:t>5 min</a:t>
            </a:r>
            <a:endParaRPr lang="en-US" sz="1200" dirty="0"/>
          </a:p>
        </p:txBody>
      </p:sp>
      <p:sp>
        <p:nvSpPr>
          <p:cNvPr id="6" name="Text 3"/>
          <p:cNvSpPr/>
          <p:nvPr/>
        </p:nvSpPr>
        <p:spPr>
          <a:xfrm>
            <a:off x="548640" y="1325880"/>
            <a:ext cx="10881360" cy="365760"/>
          </a:xfrm>
          <a:prstGeom prst="rect">
            <a:avLst/>
          </a:prstGeom>
          <a:noFill/>
          <a:ln/>
        </p:spPr>
        <p:txBody>
          <a:bodyPr wrap="square" lIns="0" tIns="0" rIns="0" bIns="0" rtlCol="0" anchor="ctr"/>
          <a:lstStyle/>
          <a:p>
            <a:pPr marL="0" indent="0">
              <a:buNone/>
            </a:pPr>
            <a:r>
              <a:rPr lang="en-US" sz="1600" b="1" dirty="0">
                <a:solidFill>
                  <a:srgbClr val="1C4A86"/>
                </a:solidFill>
                <a:latin typeface="Calibri" pitchFamily="34" charset="0"/>
                <a:ea typeface="Calibri" pitchFamily="34" charset="-122"/>
                <a:cs typeface="Calibri" pitchFamily="34" charset="-120"/>
              </a:rPr>
              <a:t>Two different questions you can ask about a key:</a:t>
            </a:r>
            <a:endParaRPr lang="en-US" sz="1600" dirty="0"/>
          </a:p>
        </p:txBody>
      </p:sp>
      <p:sp>
        <p:nvSpPr>
          <p:cNvPr id="7" name="Shape 4"/>
          <p:cNvSpPr/>
          <p:nvPr/>
        </p:nvSpPr>
        <p:spPr>
          <a:xfrm>
            <a:off x="548640" y="1874520"/>
            <a:ext cx="5349240" cy="1828800"/>
          </a:xfrm>
          <a:prstGeom prst="roundRect">
            <a:avLst>
              <a:gd name="adj" fmla="val 6000"/>
            </a:avLst>
          </a:prstGeom>
          <a:solidFill>
            <a:srgbClr val="EDF2F8"/>
          </a:solidFill>
          <a:ln/>
        </p:spPr>
        <p:txBody>
          <a:bodyPr/>
          <a:lstStyle/>
          <a:p>
            <a:endParaRPr lang="en-US"/>
          </a:p>
        </p:txBody>
      </p:sp>
      <p:sp>
        <p:nvSpPr>
          <p:cNvPr id="8" name="Text 5"/>
          <p:cNvSpPr/>
          <p:nvPr/>
        </p:nvSpPr>
        <p:spPr>
          <a:xfrm>
            <a:off x="822960" y="2057400"/>
            <a:ext cx="4800600" cy="457200"/>
          </a:xfrm>
          <a:prstGeom prst="rect">
            <a:avLst/>
          </a:prstGeom>
          <a:noFill/>
          <a:ln/>
        </p:spPr>
        <p:txBody>
          <a:bodyPr wrap="square" lIns="0" tIns="0" rIns="0" bIns="0" rtlCol="0" anchor="ctr"/>
          <a:lstStyle/>
          <a:p>
            <a:pPr marL="0" indent="0">
              <a:buNone/>
            </a:pPr>
            <a:r>
              <a:rPr lang="en-US" sz="1700" b="1" dirty="0">
                <a:solidFill>
                  <a:srgbClr val="1C4A86"/>
                </a:solidFill>
                <a:latin typeface="Calibri" pitchFamily="34" charset="0"/>
                <a:ea typeface="Calibri" pitchFamily="34" charset="-122"/>
                <a:cs typeface="Calibri" pitchFamily="34" charset="-120"/>
              </a:rPr>
              <a:t>Currently held?</a:t>
            </a:r>
            <a:endParaRPr lang="en-US" sz="1700" dirty="0"/>
          </a:p>
        </p:txBody>
      </p:sp>
      <p:sp>
        <p:nvSpPr>
          <p:cNvPr id="9" name="Text 6"/>
          <p:cNvSpPr/>
          <p:nvPr/>
        </p:nvSpPr>
        <p:spPr>
          <a:xfrm>
            <a:off x="822960" y="2560320"/>
            <a:ext cx="4800600" cy="1005840"/>
          </a:xfrm>
          <a:prstGeom prst="rect">
            <a:avLst/>
          </a:prstGeom>
          <a:noFill/>
          <a:ln/>
        </p:spPr>
        <p:txBody>
          <a:bodyPr wrap="square" lIns="0" tIns="0" rIns="0" bIns="0" rtlCol="0" anchor="ctr"/>
          <a:lstStyle/>
          <a:p>
            <a:pPr marL="0" indent="0">
              <a:buNone/>
            </a:pPr>
            <a:r>
              <a:rPr lang="en-US" sz="1350" dirty="0">
                <a:solidFill>
                  <a:srgbClr val="222222"/>
                </a:solidFill>
                <a:latin typeface="Calibri" pitchFamily="34" charset="0"/>
                <a:ea typeface="Calibri" pitchFamily="34" charset="-122"/>
                <a:cs typeface="Calibri" pitchFamily="34" charset="-120"/>
              </a:rPr>
              <a:t>True for as long as the key is down - checked fresh every frame. Right for movement: hold, keep moving.</a:t>
            </a:r>
            <a:endParaRPr lang="en-US" sz="1350" dirty="0"/>
          </a:p>
        </p:txBody>
      </p:sp>
      <p:sp>
        <p:nvSpPr>
          <p:cNvPr id="10" name="Shape 7"/>
          <p:cNvSpPr/>
          <p:nvPr/>
        </p:nvSpPr>
        <p:spPr>
          <a:xfrm>
            <a:off x="6263640" y="1874520"/>
            <a:ext cx="5349240" cy="1828800"/>
          </a:xfrm>
          <a:prstGeom prst="roundRect">
            <a:avLst>
              <a:gd name="adj" fmla="val 6000"/>
            </a:avLst>
          </a:prstGeom>
          <a:solidFill>
            <a:srgbClr val="EDF2F8"/>
          </a:solidFill>
          <a:ln/>
        </p:spPr>
        <p:txBody>
          <a:bodyPr/>
          <a:lstStyle/>
          <a:p>
            <a:endParaRPr lang="en-US"/>
          </a:p>
        </p:txBody>
      </p:sp>
      <p:sp>
        <p:nvSpPr>
          <p:cNvPr id="11" name="Text 8"/>
          <p:cNvSpPr/>
          <p:nvPr/>
        </p:nvSpPr>
        <p:spPr>
          <a:xfrm>
            <a:off x="6537960" y="2057400"/>
            <a:ext cx="4800600" cy="457200"/>
          </a:xfrm>
          <a:prstGeom prst="rect">
            <a:avLst/>
          </a:prstGeom>
          <a:noFill/>
          <a:ln/>
        </p:spPr>
        <p:txBody>
          <a:bodyPr wrap="square" lIns="0" tIns="0" rIns="0" bIns="0" rtlCol="0" anchor="ctr"/>
          <a:lstStyle/>
          <a:p>
            <a:pPr marL="0" indent="0">
              <a:buNone/>
            </a:pPr>
            <a:r>
              <a:rPr lang="en-US" sz="1700" b="1" dirty="0">
                <a:solidFill>
                  <a:srgbClr val="1C4A86"/>
                </a:solidFill>
                <a:latin typeface="Calibri" pitchFamily="34" charset="0"/>
                <a:ea typeface="Calibri" pitchFamily="34" charset="-122"/>
                <a:cs typeface="Calibri" pitchFamily="34" charset="-120"/>
              </a:rPr>
              <a:t>Just pressed?</a:t>
            </a:r>
            <a:endParaRPr lang="en-US" sz="1700" dirty="0"/>
          </a:p>
        </p:txBody>
      </p:sp>
      <p:sp>
        <p:nvSpPr>
          <p:cNvPr id="12" name="Text 9"/>
          <p:cNvSpPr/>
          <p:nvPr/>
        </p:nvSpPr>
        <p:spPr>
          <a:xfrm>
            <a:off x="6537960" y="2560320"/>
            <a:ext cx="4800600" cy="1005840"/>
          </a:xfrm>
          <a:prstGeom prst="rect">
            <a:avLst/>
          </a:prstGeom>
          <a:noFill/>
          <a:ln/>
        </p:spPr>
        <p:txBody>
          <a:bodyPr wrap="square" lIns="0" tIns="0" rIns="0" bIns="0" rtlCol="0" anchor="ctr"/>
          <a:lstStyle/>
          <a:p>
            <a:pPr marL="0" indent="0">
              <a:buNone/>
            </a:pPr>
            <a:r>
              <a:rPr lang="en-US" sz="1350" dirty="0">
                <a:solidFill>
                  <a:srgbClr val="222222"/>
                </a:solidFill>
                <a:latin typeface="Calibri" pitchFamily="34" charset="0"/>
                <a:ea typeface="Calibri" pitchFamily="34" charset="-122"/>
                <a:cs typeface="Calibri" pitchFamily="34" charset="-120"/>
              </a:rPr>
              <a:t>True for exactly one frame, no matter how long you hold it after. Right for firing: one press, one shot.</a:t>
            </a:r>
            <a:endParaRPr lang="en-US" sz="1350" dirty="0"/>
          </a:p>
        </p:txBody>
      </p:sp>
      <p:sp>
        <p:nvSpPr>
          <p:cNvPr id="13" name="Text 10"/>
          <p:cNvSpPr/>
          <p:nvPr/>
        </p:nvSpPr>
        <p:spPr>
          <a:xfrm>
            <a:off x="548640" y="3977640"/>
            <a:ext cx="8229600" cy="365760"/>
          </a:xfrm>
          <a:prstGeom prst="rect">
            <a:avLst/>
          </a:prstGeom>
          <a:noFill/>
          <a:ln/>
        </p:spPr>
        <p:txBody>
          <a:bodyPr wrap="square" lIns="0" tIns="0" rIns="0" bIns="0" rtlCol="0" anchor="ctr"/>
          <a:lstStyle/>
          <a:p>
            <a:pPr marL="0" indent="0">
              <a:buNone/>
            </a:pPr>
            <a:r>
              <a:rPr lang="en-US" sz="1400" b="1" dirty="0">
                <a:solidFill>
                  <a:srgbClr val="1C4A86"/>
                </a:solidFill>
                <a:latin typeface="Calibri" pitchFamily="34" charset="0"/>
                <a:ea typeface="Calibri" pitchFamily="34" charset="-122"/>
                <a:cs typeface="Calibri" pitchFamily="34" charset="-120"/>
              </a:rPr>
              <a:t>Same split, different names, in nearly every engine:</a:t>
            </a:r>
            <a:endParaRPr lang="en-US" sz="1400" dirty="0"/>
          </a:p>
        </p:txBody>
      </p:sp>
      <p:sp>
        <p:nvSpPr>
          <p:cNvPr id="14" name="Text 11"/>
          <p:cNvSpPr/>
          <p:nvPr/>
        </p:nvSpPr>
        <p:spPr>
          <a:xfrm>
            <a:off x="548640" y="4389120"/>
            <a:ext cx="2011680" cy="384048"/>
          </a:xfrm>
          <a:prstGeom prst="rect">
            <a:avLst/>
          </a:prstGeom>
          <a:noFill/>
          <a:ln/>
        </p:spPr>
        <p:txBody>
          <a:bodyPr wrap="square" lIns="0" tIns="0" rIns="0" bIns="0" rtlCol="0" anchor="ctr"/>
          <a:lstStyle/>
          <a:p>
            <a:pPr marL="0" indent="0">
              <a:buNone/>
            </a:pPr>
            <a:r>
              <a:rPr lang="en-US" sz="1300" b="1" dirty="0">
                <a:solidFill>
                  <a:srgbClr val="16305C"/>
                </a:solidFill>
                <a:latin typeface="Calibri" pitchFamily="34" charset="0"/>
                <a:ea typeface="Calibri" pitchFamily="34" charset="-122"/>
                <a:cs typeface="Calibri" pitchFamily="34" charset="-120"/>
              </a:rPr>
              <a:t>Godot</a:t>
            </a:r>
            <a:endParaRPr lang="en-US" sz="1300" dirty="0"/>
          </a:p>
        </p:txBody>
      </p:sp>
      <p:sp>
        <p:nvSpPr>
          <p:cNvPr id="15" name="Text 12"/>
          <p:cNvSpPr/>
          <p:nvPr/>
        </p:nvSpPr>
        <p:spPr>
          <a:xfrm>
            <a:off x="2651760" y="4389120"/>
            <a:ext cx="8778240" cy="384048"/>
          </a:xfrm>
          <a:prstGeom prst="rect">
            <a:avLst/>
          </a:prstGeom>
          <a:noFill/>
          <a:ln/>
        </p:spPr>
        <p:txBody>
          <a:bodyPr wrap="square" lIns="0" tIns="0" rIns="0" bIns="0" rtlCol="0" anchor="ctr"/>
          <a:lstStyle/>
          <a:p>
            <a:pPr marL="0" indent="0">
              <a:buNone/>
            </a:pPr>
            <a:r>
              <a:rPr lang="en-US" sz="1200" dirty="0">
                <a:solidFill>
                  <a:srgbClr val="222222"/>
                </a:solidFill>
                <a:latin typeface="Courier New" pitchFamily="34" charset="0"/>
                <a:ea typeface="Courier New" pitchFamily="34" charset="-122"/>
                <a:cs typeface="Courier New" pitchFamily="34" charset="-120"/>
              </a:rPr>
              <a:t>is_action_just_pressed()   vs.   is_action_pressed()</a:t>
            </a:r>
            <a:endParaRPr lang="en-US" sz="1200" dirty="0"/>
          </a:p>
        </p:txBody>
      </p:sp>
      <p:sp>
        <p:nvSpPr>
          <p:cNvPr id="16" name="Text 13"/>
          <p:cNvSpPr/>
          <p:nvPr/>
        </p:nvSpPr>
        <p:spPr>
          <a:xfrm>
            <a:off x="548640" y="4791456"/>
            <a:ext cx="2011680" cy="384048"/>
          </a:xfrm>
          <a:prstGeom prst="rect">
            <a:avLst/>
          </a:prstGeom>
          <a:noFill/>
          <a:ln/>
        </p:spPr>
        <p:txBody>
          <a:bodyPr wrap="square" lIns="0" tIns="0" rIns="0" bIns="0" rtlCol="0" anchor="ctr"/>
          <a:lstStyle/>
          <a:p>
            <a:pPr marL="0" indent="0">
              <a:buNone/>
            </a:pPr>
            <a:r>
              <a:rPr lang="en-US" sz="1300" b="1" dirty="0">
                <a:solidFill>
                  <a:srgbClr val="16305C"/>
                </a:solidFill>
                <a:latin typeface="Calibri" pitchFamily="34" charset="0"/>
                <a:ea typeface="Calibri" pitchFamily="34" charset="-122"/>
                <a:cs typeface="Calibri" pitchFamily="34" charset="-120"/>
              </a:rPr>
              <a:t>GameMaker</a:t>
            </a:r>
            <a:endParaRPr lang="en-US" sz="1300" dirty="0"/>
          </a:p>
        </p:txBody>
      </p:sp>
      <p:sp>
        <p:nvSpPr>
          <p:cNvPr id="17" name="Text 14"/>
          <p:cNvSpPr/>
          <p:nvPr/>
        </p:nvSpPr>
        <p:spPr>
          <a:xfrm>
            <a:off x="2651760" y="4791456"/>
            <a:ext cx="8778240" cy="384048"/>
          </a:xfrm>
          <a:prstGeom prst="rect">
            <a:avLst/>
          </a:prstGeom>
          <a:noFill/>
          <a:ln/>
        </p:spPr>
        <p:txBody>
          <a:bodyPr wrap="square" lIns="0" tIns="0" rIns="0" bIns="0" rtlCol="0" anchor="ctr"/>
          <a:lstStyle/>
          <a:p>
            <a:pPr marL="0" indent="0">
              <a:buNone/>
            </a:pPr>
            <a:r>
              <a:rPr lang="en-US" sz="1200" dirty="0">
                <a:solidFill>
                  <a:srgbClr val="222222"/>
                </a:solidFill>
                <a:latin typeface="Courier New" pitchFamily="34" charset="0"/>
                <a:ea typeface="Courier New" pitchFamily="34" charset="-122"/>
                <a:cs typeface="Courier New" pitchFamily="34" charset="-120"/>
              </a:rPr>
              <a:t>keyboard_check_pressed()   vs.   keyboard_check()</a:t>
            </a:r>
            <a:endParaRPr lang="en-US" sz="1200" dirty="0"/>
          </a:p>
        </p:txBody>
      </p:sp>
      <p:sp>
        <p:nvSpPr>
          <p:cNvPr id="18" name="Text 15"/>
          <p:cNvSpPr/>
          <p:nvPr/>
        </p:nvSpPr>
        <p:spPr>
          <a:xfrm>
            <a:off x="548640" y="5193792"/>
            <a:ext cx="2011680" cy="384048"/>
          </a:xfrm>
          <a:prstGeom prst="rect">
            <a:avLst/>
          </a:prstGeom>
          <a:noFill/>
          <a:ln/>
        </p:spPr>
        <p:txBody>
          <a:bodyPr wrap="square" lIns="0" tIns="0" rIns="0" bIns="0" rtlCol="0" anchor="ctr"/>
          <a:lstStyle/>
          <a:p>
            <a:pPr marL="0" indent="0">
              <a:buNone/>
            </a:pPr>
            <a:r>
              <a:rPr lang="en-US" sz="1300" b="1" dirty="0">
                <a:solidFill>
                  <a:srgbClr val="16305C"/>
                </a:solidFill>
                <a:latin typeface="Calibri" pitchFamily="34" charset="0"/>
                <a:ea typeface="Calibri" pitchFamily="34" charset="-122"/>
                <a:cs typeface="Calibri" pitchFamily="34" charset="-120"/>
              </a:rPr>
              <a:t>Unity</a:t>
            </a:r>
            <a:endParaRPr lang="en-US" sz="1300" dirty="0"/>
          </a:p>
        </p:txBody>
      </p:sp>
      <p:sp>
        <p:nvSpPr>
          <p:cNvPr id="19" name="Text 16"/>
          <p:cNvSpPr/>
          <p:nvPr/>
        </p:nvSpPr>
        <p:spPr>
          <a:xfrm>
            <a:off x="2651760" y="5193792"/>
            <a:ext cx="8778240" cy="384048"/>
          </a:xfrm>
          <a:prstGeom prst="rect">
            <a:avLst/>
          </a:prstGeom>
          <a:noFill/>
          <a:ln/>
        </p:spPr>
        <p:txBody>
          <a:bodyPr wrap="square" lIns="0" tIns="0" rIns="0" bIns="0" rtlCol="0" anchor="ctr"/>
          <a:lstStyle/>
          <a:p>
            <a:pPr marL="0" indent="0">
              <a:buNone/>
            </a:pPr>
            <a:r>
              <a:rPr lang="en-US" sz="1200" dirty="0">
                <a:solidFill>
                  <a:srgbClr val="222222"/>
                </a:solidFill>
                <a:latin typeface="Courier New" pitchFamily="34" charset="0"/>
                <a:ea typeface="Courier New" pitchFamily="34" charset="-122"/>
                <a:cs typeface="Courier New" pitchFamily="34" charset="-120"/>
              </a:rPr>
              <a:t>wasPressedThisFrame   vs.   isPressed</a:t>
            </a:r>
            <a:endParaRPr lang="en-US" sz="1200" dirty="0"/>
          </a:p>
        </p:txBody>
      </p:sp>
      <p:sp>
        <p:nvSpPr>
          <p:cNvPr id="20" name="Text 17"/>
          <p:cNvSpPr/>
          <p:nvPr/>
        </p:nvSpPr>
        <p:spPr>
          <a:xfrm>
            <a:off x="457200" y="6528816"/>
            <a:ext cx="4572000" cy="274320"/>
          </a:xfrm>
          <a:prstGeom prst="rect">
            <a:avLst/>
          </a:prstGeom>
          <a:noFill/>
          <a:ln/>
        </p:spPr>
        <p:txBody>
          <a:bodyPr wrap="square" lIns="0" tIns="0" rIns="0" bIns="0" rtlCol="0" anchor="ctr"/>
          <a:lstStyle/>
          <a:p>
            <a:pPr marL="0" indent="0">
              <a:buNone/>
            </a:pPr>
            <a:r>
              <a:rPr lang="en-US" sz="1000" b="1" kern="0" spc="20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1" name="Text 18"/>
          <p:cNvSpPr/>
          <p:nvPr/>
        </p:nvSpPr>
        <p:spPr>
          <a:xfrm>
            <a:off x="10088575" y="6528816"/>
            <a:ext cx="1371600" cy="274320"/>
          </a:xfrm>
          <a:prstGeom prst="rect">
            <a:avLst/>
          </a:prstGeom>
          <a:noFill/>
          <a:ln/>
        </p:spPr>
        <p:txBody>
          <a:bodyPr wrap="square" lIns="0" tIns="0" rIns="0" bIns="0" rtlCol="0" anchor="ctr"/>
          <a:lstStyle/>
          <a:p>
            <a:pPr marL="0" indent="0" algn="r">
              <a:buNone/>
            </a:pPr>
            <a:r>
              <a:rPr lang="en-US" sz="1000" dirty="0">
                <a:solidFill>
                  <a:srgbClr val="5A6472"/>
                </a:solidFill>
                <a:latin typeface="Calibri" pitchFamily="34" charset="0"/>
                <a:ea typeface="Calibri" pitchFamily="34" charset="-122"/>
                <a:cs typeface="Calibri" pitchFamily="34" charset="-120"/>
              </a:rPr>
              <a:t>Lesson 3</a:t>
            </a:r>
            <a:endParaRPr lang="en-US" sz="1000" dirty="0"/>
          </a:p>
        </p:txBody>
      </p:sp>
      <p:sp>
        <p:nvSpPr>
          <p:cNvPr id="22" name="Text 19"/>
          <p:cNvSpPr/>
          <p:nvPr/>
        </p:nvSpPr>
        <p:spPr>
          <a:xfrm>
            <a:off x="11505895" y="6528816"/>
            <a:ext cx="411480" cy="274320"/>
          </a:xfrm>
          <a:prstGeom prst="rect">
            <a:avLst/>
          </a:prstGeom>
          <a:noFill/>
          <a:ln/>
        </p:spPr>
        <p:txBody>
          <a:bodyPr wrap="square" lIns="0" tIns="0" rIns="0" bIns="0" rtlCol="0" anchor="ctr"/>
          <a:lstStyle/>
          <a:p>
            <a:pPr marL="0" indent="0" algn="r">
              <a:buNone/>
            </a:pPr>
            <a:r>
              <a:rPr lang="en-US" sz="1000" dirty="0">
                <a:solidFill>
                  <a:srgbClr val="5A647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bg_title_production.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marL="0" indent="0">
              <a:buNone/>
            </a:pPr>
            <a:r>
              <a:rPr lang="en-US" sz="4000" b="1" dirty="0">
                <a:solidFill>
                  <a:srgbClr val="E8C25A"/>
                </a:solidFill>
                <a:latin typeface="Cambria" pitchFamily="34" charset="0"/>
                <a:ea typeface="Cambria" pitchFamily="34" charset="-122"/>
                <a:cs typeface="Cambria" pitchFamily="34" charset="-120"/>
              </a:rPr>
              <a:t>Today's Exercise &amp; Lab</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marL="0" indent="0">
              <a:buNone/>
            </a:pPr>
            <a:r>
              <a:rPr lang="en-US" sz="1600" dirty="0">
                <a:solidFill>
                  <a:srgbClr val="F4F0E6"/>
                </a:solidFill>
                <a:latin typeface="Calibri" pitchFamily="34" charset="0"/>
                <a:ea typeface="Calibri" pitchFamily="34" charset="-122"/>
                <a:cs typeface="Calibri" pitchFamily="34" charset="-120"/>
              </a:rPr>
              <a:t>Take Your Shot - the first piece of your capstone's actual shooting mechanic.</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txBody>
          <a:bodyPr/>
          <a:lstStyle/>
          <a:p>
            <a:endParaRPr lang="en-US"/>
          </a:p>
        </p:txBody>
      </p:sp>
      <p:sp>
        <p:nvSpPr>
          <p:cNvPr id="6" name="Text 3"/>
          <p:cNvSpPr/>
          <p:nvPr/>
        </p:nvSpPr>
        <p:spPr>
          <a:xfrm>
            <a:off x="2880360" y="3977640"/>
            <a:ext cx="1371600" cy="347472"/>
          </a:xfrm>
          <a:prstGeom prst="rect">
            <a:avLst/>
          </a:prstGeom>
          <a:noFill/>
          <a:ln/>
        </p:spPr>
        <p:txBody>
          <a:bodyPr wrap="square" lIns="0" tIns="0" rIns="0" bIns="0" rtlCol="0" anchor="ctr"/>
          <a:lstStyle/>
          <a:p>
            <a:pPr marL="0" indent="0" algn="ctr">
              <a:buNone/>
            </a:pPr>
            <a:r>
              <a:rPr lang="en-US" sz="1200" b="1" dirty="0">
                <a:solidFill>
                  <a:srgbClr val="E8C25A"/>
                </a:solidFill>
                <a:latin typeface="Calibri" pitchFamily="34" charset="0"/>
                <a:ea typeface="Calibri" pitchFamily="34" charset="-122"/>
                <a:cs typeface="Calibri" pitchFamily="34" charset="-120"/>
              </a:rPr>
              <a:t>10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marL="0" indent="0">
              <a:buNone/>
            </a:pPr>
            <a:r>
              <a:rPr lang="en-US" sz="1000" b="1" kern="0" spc="20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marL="0" indent="0" algn="r">
              <a:buNone/>
            </a:pPr>
            <a:r>
              <a:rPr lang="en-US" sz="1000" dirty="0">
                <a:solidFill>
                  <a:srgbClr val="E8C25A"/>
                </a:solidFill>
                <a:latin typeface="Calibri" pitchFamily="34" charset="0"/>
                <a:ea typeface="Calibri" pitchFamily="34" charset="-122"/>
                <a:cs typeface="Calibri" pitchFamily="34" charset="-120"/>
              </a:rPr>
              <a:t>Lesson 3</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marL="0" indent="0" algn="r">
              <a:buNone/>
            </a:pPr>
            <a:r>
              <a:rPr lang="en-US" sz="1000" dirty="0">
                <a:solidFill>
                  <a:srgbClr val="E8C25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bg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marL="0" indent="0">
              <a:buNone/>
            </a:pPr>
            <a:r>
              <a:rPr lang="en-US" sz="3200" b="1" dirty="0">
                <a:solidFill>
                  <a:srgbClr val="1C4A86"/>
                </a:solidFill>
                <a:latin typeface="Cambria" pitchFamily="34" charset="0"/>
                <a:ea typeface="Cambria" pitchFamily="34" charset="-122"/>
                <a:cs typeface="Cambria" pitchFamily="34" charset="-120"/>
              </a:rPr>
              <a:t>Take Your Shot</a:t>
            </a:r>
            <a:endParaRPr lang="en-US" sz="32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txBody>
          <a:bodyPr/>
          <a:lstStyle/>
          <a:p>
            <a:endParaRPr lang="en-US"/>
          </a:p>
        </p:txBody>
      </p:sp>
      <p:sp>
        <p:nvSpPr>
          <p:cNvPr id="5" name="Text 2"/>
          <p:cNvSpPr/>
          <p:nvPr/>
        </p:nvSpPr>
        <p:spPr>
          <a:xfrm>
            <a:off x="10424160" y="457200"/>
            <a:ext cx="1188720" cy="347472"/>
          </a:xfrm>
          <a:prstGeom prst="rect">
            <a:avLst/>
          </a:prstGeom>
          <a:noFill/>
          <a:ln/>
        </p:spPr>
        <p:txBody>
          <a:bodyPr wrap="square" lIns="0" tIns="0" rIns="0" bIns="0" rtlCol="0" anchor="ctr"/>
          <a:lstStyle/>
          <a:p>
            <a:pPr marL="0" indent="0" algn="ctr">
              <a:buNone/>
            </a:pPr>
            <a:r>
              <a:rPr lang="en-US" sz="1200" b="1" dirty="0">
                <a:solidFill>
                  <a:srgbClr val="1C4A86"/>
                </a:solidFill>
                <a:latin typeface="Calibri" pitchFamily="34" charset="0"/>
                <a:ea typeface="Calibri" pitchFamily="34" charset="-122"/>
                <a:cs typeface="Calibri" pitchFamily="34" charset="-120"/>
              </a:rPr>
              <a:t>10 min</a:t>
            </a:r>
            <a:endParaRPr lang="en-US" sz="1200" dirty="0"/>
          </a:p>
        </p:txBody>
      </p:sp>
      <p:sp>
        <p:nvSpPr>
          <p:cNvPr id="6" name="Text 3"/>
          <p:cNvSpPr/>
          <p:nvPr/>
        </p:nvSpPr>
        <p:spPr>
          <a:xfrm>
            <a:off x="548640" y="1280160"/>
            <a:ext cx="10881360" cy="594360"/>
          </a:xfrm>
          <a:prstGeom prst="rect">
            <a:avLst/>
          </a:prstGeom>
          <a:noFill/>
          <a:ln/>
        </p:spPr>
        <p:txBody>
          <a:bodyPr wrap="square" lIns="0" tIns="0" rIns="0" bIns="0" rtlCol="0" anchor="ctr"/>
          <a:lstStyle/>
          <a:p>
            <a:pPr marL="0" indent="0">
              <a:buNone/>
            </a:pPr>
            <a:r>
              <a:rPr lang="en-US" sz="1450" dirty="0">
                <a:solidFill>
                  <a:srgbClr val="222222"/>
                </a:solidFill>
                <a:latin typeface="Calibri" pitchFamily="34" charset="0"/>
                <a:ea typeface="Calibri" pitchFamily="34" charset="-122"/>
                <a:cs typeface="Calibri" pitchFamily="34" charset="-120"/>
              </a:rPr>
              <a:t>Pressing your fire key spawns a projectile that flies upward and disappears off-screen - added on top of your existing project.</a:t>
            </a:r>
            <a:endParaRPr lang="en-US" sz="1450" dirty="0"/>
          </a:p>
        </p:txBody>
      </p:sp>
      <p:sp>
        <p:nvSpPr>
          <p:cNvPr id="7" name="Shape 4"/>
          <p:cNvSpPr/>
          <p:nvPr/>
        </p:nvSpPr>
        <p:spPr>
          <a:xfrm>
            <a:off x="548640" y="2103120"/>
            <a:ext cx="3566160" cy="1920240"/>
          </a:xfrm>
          <a:prstGeom prst="roundRect">
            <a:avLst>
              <a:gd name="adj" fmla="val 4762"/>
            </a:avLst>
          </a:prstGeom>
          <a:solidFill>
            <a:srgbClr val="EDF2F8"/>
          </a:solidFill>
          <a:ln w="12700">
            <a:solidFill>
              <a:srgbClr val="DCE3EC"/>
            </a:solidFill>
            <a:prstDash val="solid"/>
          </a:ln>
        </p:spPr>
        <p:txBody>
          <a:bodyPr/>
          <a:lstStyle/>
          <a:p>
            <a:endParaRPr lang="en-US"/>
          </a:p>
        </p:txBody>
      </p:sp>
      <p:sp>
        <p:nvSpPr>
          <p:cNvPr id="8" name="Text 5"/>
          <p:cNvSpPr/>
          <p:nvPr/>
        </p:nvSpPr>
        <p:spPr>
          <a:xfrm>
            <a:off x="731520" y="2240280"/>
            <a:ext cx="3200400" cy="365760"/>
          </a:xfrm>
          <a:prstGeom prst="rect">
            <a:avLst/>
          </a:prstGeom>
          <a:noFill/>
          <a:ln/>
        </p:spPr>
        <p:txBody>
          <a:bodyPr wrap="square" lIns="0" tIns="0" rIns="0" bIns="0" rtlCol="0" anchor="ctr"/>
          <a:lstStyle/>
          <a:p>
            <a:pPr marL="0" indent="0">
              <a:buNone/>
            </a:pPr>
            <a:r>
              <a:rPr lang="en-US" sz="1450" b="1" dirty="0">
                <a:solidFill>
                  <a:srgbClr val="1C4A86"/>
                </a:solidFill>
                <a:latin typeface="Calibri" pitchFamily="34" charset="0"/>
                <a:ea typeface="Calibri" pitchFamily="34" charset="-122"/>
                <a:cs typeface="Calibri" pitchFamily="34" charset="-120"/>
              </a:rPr>
              <a:t>Level 1 - Minimal</a:t>
            </a:r>
            <a:endParaRPr lang="en-US" sz="1450" dirty="0"/>
          </a:p>
        </p:txBody>
      </p:sp>
      <p:sp>
        <p:nvSpPr>
          <p:cNvPr id="9" name="Text 6"/>
          <p:cNvSpPr/>
          <p:nvPr/>
        </p:nvSpPr>
        <p:spPr>
          <a:xfrm>
            <a:off x="731520" y="2651760"/>
            <a:ext cx="3200400" cy="914400"/>
          </a:xfrm>
          <a:prstGeom prst="rect">
            <a:avLst/>
          </a:prstGeom>
          <a:noFill/>
          <a:ln/>
        </p:spPr>
        <p:txBody>
          <a:bodyPr wrap="square" lIns="0" tIns="0" rIns="0" bIns="0" rtlCol="0" anchor="ctr"/>
          <a:lstStyle/>
          <a:p>
            <a:pPr marL="0" indent="0">
              <a:buNone/>
            </a:pPr>
            <a:r>
              <a:rPr lang="en-US" sz="1200" dirty="0">
                <a:solidFill>
                  <a:srgbClr val="222222"/>
                </a:solidFill>
                <a:latin typeface="Calibri" pitchFamily="34" charset="0"/>
                <a:ea typeface="Calibri" pitchFamily="34" charset="-122"/>
                <a:cs typeface="Calibri" pitchFamily="34" charset="-120"/>
              </a:rPr>
              <a:t>One press spawns one projectile that flies up and disappears.</a:t>
            </a:r>
            <a:endParaRPr lang="en-US" sz="1200" dirty="0"/>
          </a:p>
        </p:txBody>
      </p:sp>
      <p:sp>
        <p:nvSpPr>
          <p:cNvPr id="10" name="Text 7"/>
          <p:cNvSpPr/>
          <p:nvPr/>
        </p:nvSpPr>
        <p:spPr>
          <a:xfrm>
            <a:off x="731520" y="3566160"/>
            <a:ext cx="3200400" cy="365760"/>
          </a:xfrm>
          <a:prstGeom prst="rect">
            <a:avLst/>
          </a:prstGeom>
          <a:noFill/>
          <a:ln/>
        </p:spPr>
        <p:txBody>
          <a:bodyPr wrap="square" lIns="0" tIns="0" rIns="0" bIns="0" rtlCol="0" anchor="ctr"/>
          <a:lstStyle/>
          <a:p>
            <a:pPr marL="0" indent="0">
              <a:buNone/>
            </a:pPr>
            <a:r>
              <a:rPr lang="en-US" sz="1150" i="1" dirty="0">
                <a:solidFill>
                  <a:srgbClr val="C99A2E"/>
                </a:solidFill>
                <a:latin typeface="Calibri" pitchFamily="34" charset="0"/>
                <a:ea typeface="Calibri" pitchFamily="34" charset="-122"/>
                <a:cs typeface="Calibri" pitchFamily="34" charset="-120"/>
              </a:rPr>
              <a:t>MVP - a complete finish for today.</a:t>
            </a:r>
            <a:endParaRPr lang="en-US" sz="1150" dirty="0"/>
          </a:p>
        </p:txBody>
      </p:sp>
      <p:sp>
        <p:nvSpPr>
          <p:cNvPr id="11" name="Shape 8"/>
          <p:cNvSpPr/>
          <p:nvPr/>
        </p:nvSpPr>
        <p:spPr>
          <a:xfrm>
            <a:off x="4297680" y="2103120"/>
            <a:ext cx="3566160" cy="1920240"/>
          </a:xfrm>
          <a:prstGeom prst="roundRect">
            <a:avLst>
              <a:gd name="adj" fmla="val 4762"/>
            </a:avLst>
          </a:prstGeom>
          <a:solidFill>
            <a:srgbClr val="EDF2F8"/>
          </a:solidFill>
          <a:ln w="12700">
            <a:solidFill>
              <a:srgbClr val="DCE3EC"/>
            </a:solidFill>
            <a:prstDash val="solid"/>
          </a:ln>
        </p:spPr>
        <p:txBody>
          <a:bodyPr/>
          <a:lstStyle/>
          <a:p>
            <a:endParaRPr lang="en-US"/>
          </a:p>
        </p:txBody>
      </p:sp>
      <p:sp>
        <p:nvSpPr>
          <p:cNvPr id="12" name="Text 9"/>
          <p:cNvSpPr/>
          <p:nvPr/>
        </p:nvSpPr>
        <p:spPr>
          <a:xfrm>
            <a:off x="4480560" y="2240280"/>
            <a:ext cx="3200400" cy="365760"/>
          </a:xfrm>
          <a:prstGeom prst="rect">
            <a:avLst/>
          </a:prstGeom>
          <a:noFill/>
          <a:ln/>
        </p:spPr>
        <p:txBody>
          <a:bodyPr wrap="square" lIns="0" tIns="0" rIns="0" bIns="0" rtlCol="0" anchor="ctr"/>
          <a:lstStyle/>
          <a:p>
            <a:pPr marL="0" indent="0">
              <a:buNone/>
            </a:pPr>
            <a:r>
              <a:rPr lang="en-US" sz="1450" b="1" dirty="0">
                <a:solidFill>
                  <a:srgbClr val="1C4A86"/>
                </a:solidFill>
                <a:latin typeface="Calibri" pitchFamily="34" charset="0"/>
                <a:ea typeface="Calibri" pitchFamily="34" charset="-122"/>
                <a:cs typeface="Calibri" pitchFamily="34" charset="-120"/>
              </a:rPr>
              <a:t>Level 2 - Complete</a:t>
            </a:r>
            <a:endParaRPr lang="en-US" sz="1450" dirty="0"/>
          </a:p>
        </p:txBody>
      </p:sp>
      <p:sp>
        <p:nvSpPr>
          <p:cNvPr id="13" name="Text 10"/>
          <p:cNvSpPr/>
          <p:nvPr/>
        </p:nvSpPr>
        <p:spPr>
          <a:xfrm>
            <a:off x="4480560" y="2651760"/>
            <a:ext cx="3200400" cy="914400"/>
          </a:xfrm>
          <a:prstGeom prst="rect">
            <a:avLst/>
          </a:prstGeom>
          <a:noFill/>
          <a:ln/>
        </p:spPr>
        <p:txBody>
          <a:bodyPr wrap="square" lIns="0" tIns="0" rIns="0" bIns="0" rtlCol="0" anchor="ctr"/>
          <a:lstStyle/>
          <a:p>
            <a:pPr marL="0" indent="0">
              <a:buNone/>
            </a:pPr>
            <a:r>
              <a:rPr lang="en-US" sz="1200" dirty="0">
                <a:solidFill>
                  <a:srgbClr val="222222"/>
                </a:solidFill>
                <a:latin typeface="Calibri" pitchFamily="34" charset="0"/>
                <a:ea typeface="Calibri" pitchFamily="34" charset="-122"/>
                <a:cs typeface="Calibri" pitchFamily="34" charset="-120"/>
              </a:rPr>
              <a:t>Repeatable, multiple projectiles, capped by a fire-rate cooldown.</a:t>
            </a:r>
            <a:endParaRPr lang="en-US" sz="1200" dirty="0"/>
          </a:p>
        </p:txBody>
      </p:sp>
      <p:sp>
        <p:nvSpPr>
          <p:cNvPr id="14" name="Text 11"/>
          <p:cNvSpPr/>
          <p:nvPr/>
        </p:nvSpPr>
        <p:spPr>
          <a:xfrm>
            <a:off x="4480560" y="3566160"/>
            <a:ext cx="3200400" cy="365760"/>
          </a:xfrm>
          <a:prstGeom prst="rect">
            <a:avLst/>
          </a:prstGeom>
          <a:noFill/>
          <a:ln/>
        </p:spPr>
        <p:txBody>
          <a:bodyPr wrap="square" lIns="0" tIns="0" rIns="0" bIns="0" rtlCol="0" anchor="ctr"/>
          <a:lstStyle/>
          <a:p>
            <a:pPr marL="0" indent="0">
              <a:buNone/>
            </a:pPr>
            <a:r>
              <a:rPr lang="en-US" sz="1150" i="1" dirty="0">
                <a:solidFill>
                  <a:srgbClr val="C99A2E"/>
                </a:solidFill>
                <a:latin typeface="Calibri" pitchFamily="34" charset="0"/>
                <a:ea typeface="Calibri" pitchFamily="34" charset="-122"/>
                <a:cs typeface="Calibri" pitchFamily="34" charset="-120"/>
              </a:rPr>
              <a:t>Everything works end to end.</a:t>
            </a:r>
            <a:endParaRPr lang="en-US" sz="1150" dirty="0"/>
          </a:p>
        </p:txBody>
      </p:sp>
      <p:sp>
        <p:nvSpPr>
          <p:cNvPr id="15" name="Shape 12"/>
          <p:cNvSpPr/>
          <p:nvPr/>
        </p:nvSpPr>
        <p:spPr>
          <a:xfrm>
            <a:off x="8046720" y="2103120"/>
            <a:ext cx="3566160" cy="1920240"/>
          </a:xfrm>
          <a:prstGeom prst="roundRect">
            <a:avLst>
              <a:gd name="adj" fmla="val 4762"/>
            </a:avLst>
          </a:prstGeom>
          <a:solidFill>
            <a:srgbClr val="EDF2F8"/>
          </a:solidFill>
          <a:ln w="12700">
            <a:solidFill>
              <a:srgbClr val="DCE3EC"/>
            </a:solidFill>
            <a:prstDash val="solid"/>
          </a:ln>
        </p:spPr>
        <p:txBody>
          <a:bodyPr/>
          <a:lstStyle/>
          <a:p>
            <a:endParaRPr lang="en-US"/>
          </a:p>
        </p:txBody>
      </p:sp>
      <p:sp>
        <p:nvSpPr>
          <p:cNvPr id="16" name="Text 13"/>
          <p:cNvSpPr/>
          <p:nvPr/>
        </p:nvSpPr>
        <p:spPr>
          <a:xfrm>
            <a:off x="8229600" y="2240280"/>
            <a:ext cx="3200400" cy="365760"/>
          </a:xfrm>
          <a:prstGeom prst="rect">
            <a:avLst/>
          </a:prstGeom>
          <a:noFill/>
          <a:ln/>
        </p:spPr>
        <p:txBody>
          <a:bodyPr wrap="square" lIns="0" tIns="0" rIns="0" bIns="0" rtlCol="0" anchor="ctr"/>
          <a:lstStyle/>
          <a:p>
            <a:pPr marL="0" indent="0">
              <a:buNone/>
            </a:pPr>
            <a:r>
              <a:rPr lang="en-US" sz="1450" b="1" dirty="0">
                <a:solidFill>
                  <a:srgbClr val="1C4A86"/>
                </a:solidFill>
                <a:latin typeface="Calibri" pitchFamily="34" charset="0"/>
                <a:ea typeface="Calibri" pitchFamily="34" charset="-122"/>
                <a:cs typeface="Calibri" pitchFamily="34" charset="-120"/>
              </a:rPr>
              <a:t>Level 3 - Refined</a:t>
            </a:r>
            <a:endParaRPr lang="en-US" sz="1450" dirty="0"/>
          </a:p>
        </p:txBody>
      </p:sp>
      <p:sp>
        <p:nvSpPr>
          <p:cNvPr id="17" name="Text 14"/>
          <p:cNvSpPr/>
          <p:nvPr/>
        </p:nvSpPr>
        <p:spPr>
          <a:xfrm>
            <a:off x="8229600" y="2651760"/>
            <a:ext cx="3200400" cy="914400"/>
          </a:xfrm>
          <a:prstGeom prst="rect">
            <a:avLst/>
          </a:prstGeom>
          <a:noFill/>
          <a:ln/>
        </p:spPr>
        <p:txBody>
          <a:bodyPr wrap="square" lIns="0" tIns="0" rIns="0" bIns="0" rtlCol="0" anchor="ctr"/>
          <a:lstStyle/>
          <a:p>
            <a:pPr marL="0" indent="0">
              <a:buNone/>
            </a:pPr>
            <a:r>
              <a:rPr lang="en-US" sz="1200" dirty="0">
                <a:solidFill>
                  <a:srgbClr val="222222"/>
                </a:solidFill>
                <a:latin typeface="Calibri" pitchFamily="34" charset="0"/>
                <a:ea typeface="Calibri" pitchFamily="34" charset="-122"/>
                <a:cs typeface="Calibri" pitchFamily="34" charset="-120"/>
              </a:rPr>
              <a:t>Sound, a distinct look, and/or clean code structure - pick what interests you.</a:t>
            </a:r>
            <a:endParaRPr lang="en-US" sz="1200" dirty="0"/>
          </a:p>
        </p:txBody>
      </p:sp>
      <p:sp>
        <p:nvSpPr>
          <p:cNvPr id="18" name="Text 15"/>
          <p:cNvSpPr/>
          <p:nvPr/>
        </p:nvSpPr>
        <p:spPr>
          <a:xfrm>
            <a:off x="8229600" y="3566160"/>
            <a:ext cx="3200400" cy="365760"/>
          </a:xfrm>
          <a:prstGeom prst="rect">
            <a:avLst/>
          </a:prstGeom>
          <a:noFill/>
          <a:ln/>
        </p:spPr>
        <p:txBody>
          <a:bodyPr wrap="square" lIns="0" tIns="0" rIns="0" bIns="0" rtlCol="0" anchor="ctr"/>
          <a:lstStyle/>
          <a:p>
            <a:pPr marL="0" indent="0">
              <a:buNone/>
            </a:pPr>
            <a:r>
              <a:rPr lang="en-US" sz="1150" i="1" dirty="0">
                <a:solidFill>
                  <a:srgbClr val="C99A2E"/>
                </a:solidFill>
                <a:latin typeface="Calibri" pitchFamily="34" charset="0"/>
                <a:ea typeface="Calibri" pitchFamily="34" charset="-122"/>
                <a:cs typeface="Calibri" pitchFamily="34" charset="-120"/>
              </a:rPr>
              <a:t>Ready to share.</a:t>
            </a:r>
            <a:endParaRPr lang="en-US" sz="1150" dirty="0"/>
          </a:p>
        </p:txBody>
      </p:sp>
      <p:sp>
        <p:nvSpPr>
          <p:cNvPr id="19" name="Shape 16"/>
          <p:cNvSpPr/>
          <p:nvPr/>
        </p:nvSpPr>
        <p:spPr>
          <a:xfrm>
            <a:off x="548640" y="4297680"/>
            <a:ext cx="11064240" cy="1417320"/>
          </a:xfrm>
          <a:prstGeom prst="roundRect">
            <a:avLst>
              <a:gd name="adj" fmla="val 7742"/>
            </a:avLst>
          </a:prstGeom>
          <a:solidFill>
            <a:srgbClr val="0F2C52"/>
          </a:solidFill>
          <a:ln w="12700">
            <a:solidFill>
              <a:srgbClr val="C99A2E"/>
            </a:solidFill>
            <a:prstDash val="solid"/>
          </a:ln>
        </p:spPr>
        <p:txBody>
          <a:bodyPr/>
          <a:lstStyle/>
          <a:p>
            <a:endParaRPr lang="en-US"/>
          </a:p>
        </p:txBody>
      </p:sp>
      <p:pic>
        <p:nvPicPr>
          <p:cNvPr id="20" name="Image 1" descr="icons/wrench.png"/>
          <p:cNvPicPr>
            <a:picLocks noChangeAspect="1"/>
          </p:cNvPicPr>
          <p:nvPr/>
        </p:nvPicPr>
        <p:blipFill>
          <a:blip r:embed="rId4"/>
          <a:stretch>
            <a:fillRect/>
          </a:stretch>
        </p:blipFill>
        <p:spPr>
          <a:xfrm>
            <a:off x="777240" y="4498848"/>
            <a:ext cx="502920" cy="502920"/>
          </a:xfrm>
          <a:prstGeom prst="rect">
            <a:avLst/>
          </a:prstGeom>
        </p:spPr>
      </p:pic>
      <p:sp>
        <p:nvSpPr>
          <p:cNvPr id="21" name="Text 17"/>
          <p:cNvSpPr/>
          <p:nvPr/>
        </p:nvSpPr>
        <p:spPr>
          <a:xfrm>
            <a:off x="1463040" y="4407408"/>
            <a:ext cx="9966960" cy="1188720"/>
          </a:xfrm>
          <a:prstGeom prst="rect">
            <a:avLst/>
          </a:prstGeom>
          <a:noFill/>
          <a:ln/>
        </p:spPr>
        <p:txBody>
          <a:bodyPr wrap="square" lIns="0" tIns="0" rIns="0" bIns="0" rtlCol="0" anchor="ctr"/>
          <a:lstStyle/>
          <a:p>
            <a:pPr marL="0" indent="0">
              <a:buNone/>
            </a:pPr>
            <a:r>
              <a:rPr lang="en-US" sz="1250" dirty="0">
                <a:solidFill>
                  <a:srgbClr val="F4F0E6"/>
                </a:solidFill>
                <a:latin typeface="Calibri" pitchFamily="34" charset="0"/>
                <a:ea typeface="Calibri" pitchFamily="34" charset="-122"/>
                <a:cs typeface="Calibri" pitchFamily="34" charset="-120"/>
              </a:rPr>
              <a:t>Reminder: if your Lesson 2 character still moves in all 4 directions, that's fine to keep - or trim it to Left/Right to match the actual capstone game exactly. Either way works.</a:t>
            </a:r>
            <a:endParaRPr lang="en-US" sz="1250" dirty="0"/>
          </a:p>
        </p:txBody>
      </p:sp>
      <p:sp>
        <p:nvSpPr>
          <p:cNvPr id="22" name="Text 18"/>
          <p:cNvSpPr/>
          <p:nvPr/>
        </p:nvSpPr>
        <p:spPr>
          <a:xfrm>
            <a:off x="457200" y="6528816"/>
            <a:ext cx="4572000" cy="274320"/>
          </a:xfrm>
          <a:prstGeom prst="rect">
            <a:avLst/>
          </a:prstGeom>
          <a:noFill/>
          <a:ln/>
        </p:spPr>
        <p:txBody>
          <a:bodyPr wrap="square" lIns="0" tIns="0" rIns="0" bIns="0" rtlCol="0" anchor="ctr"/>
          <a:lstStyle/>
          <a:p>
            <a:pPr marL="0" indent="0">
              <a:buNone/>
            </a:pPr>
            <a:r>
              <a:rPr lang="en-US" sz="1000" b="1" kern="0" spc="20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3" name="Text 19"/>
          <p:cNvSpPr/>
          <p:nvPr/>
        </p:nvSpPr>
        <p:spPr>
          <a:xfrm>
            <a:off x="10088575" y="6528816"/>
            <a:ext cx="1371600" cy="274320"/>
          </a:xfrm>
          <a:prstGeom prst="rect">
            <a:avLst/>
          </a:prstGeom>
          <a:noFill/>
          <a:ln/>
        </p:spPr>
        <p:txBody>
          <a:bodyPr wrap="square" lIns="0" tIns="0" rIns="0" bIns="0" rtlCol="0" anchor="ctr"/>
          <a:lstStyle/>
          <a:p>
            <a:pPr marL="0" indent="0" algn="r">
              <a:buNone/>
            </a:pPr>
            <a:r>
              <a:rPr lang="en-US" sz="1000" dirty="0">
                <a:solidFill>
                  <a:srgbClr val="5A6472"/>
                </a:solidFill>
                <a:latin typeface="Calibri" pitchFamily="34" charset="0"/>
                <a:ea typeface="Calibri" pitchFamily="34" charset="-122"/>
                <a:cs typeface="Calibri" pitchFamily="34" charset="-120"/>
              </a:rPr>
              <a:t>Lesson 3</a:t>
            </a:r>
            <a:endParaRPr lang="en-US" sz="1000" dirty="0"/>
          </a:p>
        </p:txBody>
      </p:sp>
      <p:sp>
        <p:nvSpPr>
          <p:cNvPr id="24" name="Text 20"/>
          <p:cNvSpPr/>
          <p:nvPr/>
        </p:nvSpPr>
        <p:spPr>
          <a:xfrm>
            <a:off x="11505895" y="6528816"/>
            <a:ext cx="411480" cy="274320"/>
          </a:xfrm>
          <a:prstGeom prst="rect">
            <a:avLst/>
          </a:prstGeom>
          <a:noFill/>
          <a:ln/>
        </p:spPr>
        <p:txBody>
          <a:bodyPr wrap="square" lIns="0" tIns="0" rIns="0" bIns="0" rtlCol="0" anchor="ctr"/>
          <a:lstStyle/>
          <a:p>
            <a:pPr marL="0" indent="0" algn="r">
              <a:buNone/>
            </a:pPr>
            <a:r>
              <a:rPr lang="en-US" sz="1000" dirty="0">
                <a:solidFill>
                  <a:srgbClr val="5A64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bg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marL="0" indent="0">
              <a:buNone/>
            </a:pPr>
            <a:r>
              <a:rPr lang="en-US" sz="3400" b="1" dirty="0">
                <a:solidFill>
                  <a:srgbClr val="1C4A86"/>
                </a:solidFill>
                <a:latin typeface="Cambria" pitchFamily="34" charset="0"/>
                <a:ea typeface="Cambria" pitchFamily="34" charset="-122"/>
                <a:cs typeface="Cambria" pitchFamily="34" charset="-120"/>
              </a:rPr>
              <a:t>Lab Time Notes</a:t>
            </a:r>
            <a:endParaRPr lang="en-US" sz="3400" dirty="0"/>
          </a:p>
        </p:txBody>
      </p:sp>
      <p:pic>
        <p:nvPicPr>
          <p:cNvPr id="4" name="Image 1" descr="icons/wrench.png"/>
          <p:cNvPicPr>
            <a:picLocks noChangeAspect="1"/>
          </p:cNvPicPr>
          <p:nvPr/>
        </p:nvPicPr>
        <p:blipFill>
          <a:blip r:embed="rId4"/>
          <a:stretch>
            <a:fillRect/>
          </a:stretch>
        </p:blipFill>
        <p:spPr>
          <a:xfrm>
            <a:off x="10515600" y="365760"/>
            <a:ext cx="914400" cy="914400"/>
          </a:xfrm>
          <a:prstGeom prst="rect">
            <a:avLst/>
          </a:prstGeom>
        </p:spPr>
      </p:pic>
      <p:pic>
        <p:nvPicPr>
          <p:cNvPr id="5" name="Image 2" descr="icons/check.png"/>
          <p:cNvPicPr>
            <a:picLocks noChangeAspect="1"/>
          </p:cNvPicPr>
          <p:nvPr/>
        </p:nvPicPr>
        <p:blipFill>
          <a:blip r:embed="rId5"/>
          <a:stretch>
            <a:fillRect/>
          </a:stretch>
        </p:blipFill>
        <p:spPr>
          <a:xfrm>
            <a:off x="548640" y="1600200"/>
            <a:ext cx="384048" cy="384048"/>
          </a:xfrm>
          <a:prstGeom prst="rect">
            <a:avLst/>
          </a:prstGeom>
        </p:spPr>
      </p:pic>
      <p:sp>
        <p:nvSpPr>
          <p:cNvPr id="6" name="Text 1"/>
          <p:cNvSpPr/>
          <p:nvPr/>
        </p:nvSpPr>
        <p:spPr>
          <a:xfrm>
            <a:off x="1097280" y="1463040"/>
            <a:ext cx="10332720" cy="822960"/>
          </a:xfrm>
          <a:prstGeom prst="rect">
            <a:avLst/>
          </a:prstGeom>
          <a:noFill/>
          <a:ln/>
        </p:spPr>
        <p:txBody>
          <a:bodyPr wrap="square" lIns="0" tIns="0" rIns="0" bIns="0" rtlCol="0" anchor="ctr"/>
          <a:lstStyle/>
          <a:p>
            <a:pPr marL="0" indent="0">
              <a:buNone/>
            </a:pPr>
            <a:r>
              <a:rPr lang="en-US" sz="1400" dirty="0">
                <a:solidFill>
                  <a:srgbClr val="222222"/>
                </a:solidFill>
                <a:latin typeface="Calibri" pitchFamily="34" charset="0"/>
                <a:ea typeface="Calibri" pitchFamily="34" charset="-122"/>
                <a:cs typeface="Calibri" pitchFamily="34" charset="-120"/>
              </a:rPr>
              <a:t>Most common bug this week: a held-down fire key spawning dozens of bullets per second - check for a "held" input check where a "just pressed" one belongs.</a:t>
            </a:r>
            <a:endParaRPr lang="en-US" sz="1400" dirty="0"/>
          </a:p>
        </p:txBody>
      </p:sp>
      <p:pic>
        <p:nvPicPr>
          <p:cNvPr id="7" name="Image 3" descr="icons/check.png"/>
          <p:cNvPicPr>
            <a:picLocks noChangeAspect="1"/>
          </p:cNvPicPr>
          <p:nvPr/>
        </p:nvPicPr>
        <p:blipFill>
          <a:blip r:embed="rId5"/>
          <a:stretch>
            <a:fillRect/>
          </a:stretch>
        </p:blipFill>
        <p:spPr>
          <a:xfrm>
            <a:off x="548640" y="2651760"/>
            <a:ext cx="384048" cy="384048"/>
          </a:xfrm>
          <a:prstGeom prst="rect">
            <a:avLst/>
          </a:prstGeom>
        </p:spPr>
      </p:pic>
      <p:sp>
        <p:nvSpPr>
          <p:cNvPr id="8" name="Text 2"/>
          <p:cNvSpPr/>
          <p:nvPr/>
        </p:nvSpPr>
        <p:spPr>
          <a:xfrm>
            <a:off x="1097280" y="2514600"/>
            <a:ext cx="10332720" cy="822960"/>
          </a:xfrm>
          <a:prstGeom prst="rect">
            <a:avLst/>
          </a:prstGeom>
          <a:noFill/>
          <a:ln/>
        </p:spPr>
        <p:txBody>
          <a:bodyPr wrap="square" lIns="0" tIns="0" rIns="0" bIns="0" rtlCol="0" anchor="ctr"/>
          <a:lstStyle/>
          <a:p>
            <a:pPr marL="0" indent="0">
              <a:buNone/>
            </a:pPr>
            <a:r>
              <a:rPr lang="en-US" sz="1400" dirty="0">
                <a:solidFill>
                  <a:srgbClr val="222222"/>
                </a:solidFill>
                <a:latin typeface="Calibri" pitchFamily="34" charset="0"/>
                <a:ea typeface="Calibri" pitchFamily="34" charset="-122"/>
                <a:cs typeface="Calibri" pitchFamily="34" charset="-120"/>
              </a:rPr>
              <a:t>Second most common: bullets that spawn but never move or never disappear - usually the movement/cleanup code is in the wrong event.</a:t>
            </a:r>
            <a:endParaRPr lang="en-US" sz="1400" dirty="0"/>
          </a:p>
        </p:txBody>
      </p:sp>
      <p:pic>
        <p:nvPicPr>
          <p:cNvPr id="9" name="Image 4" descr="icons/check.png"/>
          <p:cNvPicPr>
            <a:picLocks noChangeAspect="1"/>
          </p:cNvPicPr>
          <p:nvPr/>
        </p:nvPicPr>
        <p:blipFill>
          <a:blip r:embed="rId5"/>
          <a:stretch>
            <a:fillRect/>
          </a:stretch>
        </p:blipFill>
        <p:spPr>
          <a:xfrm>
            <a:off x="548640" y="3703320"/>
            <a:ext cx="384048" cy="384048"/>
          </a:xfrm>
          <a:prstGeom prst="rect">
            <a:avLst/>
          </a:prstGeom>
        </p:spPr>
      </p:pic>
      <p:sp>
        <p:nvSpPr>
          <p:cNvPr id="10" name="Text 3"/>
          <p:cNvSpPr/>
          <p:nvPr/>
        </p:nvSpPr>
        <p:spPr>
          <a:xfrm>
            <a:off x="1097280" y="3566160"/>
            <a:ext cx="10332720" cy="822960"/>
          </a:xfrm>
          <a:prstGeom prst="rect">
            <a:avLst/>
          </a:prstGeom>
          <a:noFill/>
          <a:ln/>
        </p:spPr>
        <p:txBody>
          <a:bodyPr wrap="square" lIns="0" tIns="0" rIns="0" bIns="0" rtlCol="0" anchor="ctr"/>
          <a:lstStyle/>
          <a:p>
            <a:pPr marL="0" indent="0">
              <a:buNone/>
            </a:pPr>
            <a:r>
              <a:rPr lang="en-US" sz="1400" dirty="0">
                <a:solidFill>
                  <a:srgbClr val="222222"/>
                </a:solidFill>
                <a:latin typeface="Calibri" pitchFamily="34" charset="0"/>
                <a:ea typeface="Calibri" pitchFamily="34" charset="-122"/>
                <a:cs typeface="Calibri" pitchFamily="34" charset="-120"/>
              </a:rPr>
              <a:t>Students who finish Level 2 early should be pointed at the Level 3 ideas on their handout - not given new unrelated work.</a:t>
            </a:r>
            <a:endParaRPr lang="en-US" sz="1400" dirty="0"/>
          </a:p>
        </p:txBody>
      </p:sp>
      <p:pic>
        <p:nvPicPr>
          <p:cNvPr id="11" name="Image 5" descr="icons/check.png"/>
          <p:cNvPicPr>
            <a:picLocks noChangeAspect="1"/>
          </p:cNvPicPr>
          <p:nvPr/>
        </p:nvPicPr>
        <p:blipFill>
          <a:blip r:embed="rId5"/>
          <a:stretch>
            <a:fillRect/>
          </a:stretch>
        </p:blipFill>
        <p:spPr>
          <a:xfrm>
            <a:off x="548640" y="4754880"/>
            <a:ext cx="384048" cy="384048"/>
          </a:xfrm>
          <a:prstGeom prst="rect">
            <a:avLst/>
          </a:prstGeom>
        </p:spPr>
      </p:pic>
      <p:sp>
        <p:nvSpPr>
          <p:cNvPr id="12" name="Text 4"/>
          <p:cNvSpPr/>
          <p:nvPr/>
        </p:nvSpPr>
        <p:spPr>
          <a:xfrm>
            <a:off x="1097280" y="4617720"/>
            <a:ext cx="10332720" cy="822960"/>
          </a:xfrm>
          <a:prstGeom prst="rect">
            <a:avLst/>
          </a:prstGeom>
          <a:noFill/>
          <a:ln/>
        </p:spPr>
        <p:txBody>
          <a:bodyPr wrap="square" lIns="0" tIns="0" rIns="0" bIns="0" rtlCol="0" anchor="ctr"/>
          <a:lstStyle/>
          <a:p>
            <a:pPr marL="0" indent="0">
              <a:buNone/>
            </a:pPr>
            <a:r>
              <a:rPr lang="en-US" sz="1400" dirty="0">
                <a:solidFill>
                  <a:srgbClr val="222222"/>
                </a:solidFill>
                <a:latin typeface="Calibri" pitchFamily="34" charset="0"/>
                <a:ea typeface="Calibri" pitchFamily="34" charset="-122"/>
                <a:cs typeface="Calibri" pitchFamily="34" charset="-120"/>
              </a:rPr>
              <a:t>At 1:50, call time and do a 2-minute share-out: ask 2-3 students to show what they built, across different engines if possible.</a:t>
            </a:r>
            <a:endParaRPr lang="en-US" sz="1400" dirty="0"/>
          </a:p>
        </p:txBody>
      </p:sp>
      <p:sp>
        <p:nvSpPr>
          <p:cNvPr id="13" name="Text 5"/>
          <p:cNvSpPr/>
          <p:nvPr/>
        </p:nvSpPr>
        <p:spPr>
          <a:xfrm>
            <a:off x="457200" y="6528816"/>
            <a:ext cx="4572000" cy="274320"/>
          </a:xfrm>
          <a:prstGeom prst="rect">
            <a:avLst/>
          </a:prstGeom>
          <a:noFill/>
          <a:ln/>
        </p:spPr>
        <p:txBody>
          <a:bodyPr wrap="square" lIns="0" tIns="0" rIns="0" bIns="0" rtlCol="0" anchor="ctr"/>
          <a:lstStyle/>
          <a:p>
            <a:pPr marL="0" indent="0">
              <a:buNone/>
            </a:pPr>
            <a:r>
              <a:rPr lang="en-US" sz="1000" b="1" kern="0" spc="20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4" name="Text 6"/>
          <p:cNvSpPr/>
          <p:nvPr/>
        </p:nvSpPr>
        <p:spPr>
          <a:xfrm>
            <a:off x="10088575" y="6528816"/>
            <a:ext cx="1371600" cy="274320"/>
          </a:xfrm>
          <a:prstGeom prst="rect">
            <a:avLst/>
          </a:prstGeom>
          <a:noFill/>
          <a:ln/>
        </p:spPr>
        <p:txBody>
          <a:bodyPr wrap="square" lIns="0" tIns="0" rIns="0" bIns="0" rtlCol="0" anchor="ctr"/>
          <a:lstStyle/>
          <a:p>
            <a:pPr marL="0" indent="0" algn="r">
              <a:buNone/>
            </a:pPr>
            <a:r>
              <a:rPr lang="en-US" sz="1000" dirty="0">
                <a:solidFill>
                  <a:srgbClr val="5A6472"/>
                </a:solidFill>
                <a:latin typeface="Calibri" pitchFamily="34" charset="0"/>
                <a:ea typeface="Calibri" pitchFamily="34" charset="-122"/>
                <a:cs typeface="Calibri" pitchFamily="34" charset="-120"/>
              </a:rPr>
              <a:t>Lesson 3</a:t>
            </a:r>
            <a:endParaRPr lang="en-US" sz="1000" dirty="0"/>
          </a:p>
        </p:txBody>
      </p:sp>
      <p:sp>
        <p:nvSpPr>
          <p:cNvPr id="15" name="Text 7"/>
          <p:cNvSpPr/>
          <p:nvPr/>
        </p:nvSpPr>
        <p:spPr>
          <a:xfrm>
            <a:off x="11505895" y="6528816"/>
            <a:ext cx="411480" cy="274320"/>
          </a:xfrm>
          <a:prstGeom prst="rect">
            <a:avLst/>
          </a:prstGeom>
          <a:noFill/>
          <a:ln/>
        </p:spPr>
        <p:txBody>
          <a:bodyPr wrap="square" lIns="0" tIns="0" rIns="0" bIns="0" rtlCol="0" anchor="ctr"/>
          <a:lstStyle/>
          <a:p>
            <a:pPr marL="0" indent="0" algn="r">
              <a:buNone/>
            </a:pPr>
            <a:r>
              <a:rPr lang="en-US" sz="1000" dirty="0">
                <a:solidFill>
                  <a:srgbClr val="5A647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bg_title_with_slhe.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0" y="2514600"/>
            <a:ext cx="12191695" cy="731520"/>
          </a:xfrm>
          <a:prstGeom prst="rect">
            <a:avLst/>
          </a:prstGeom>
          <a:noFill/>
          <a:ln/>
        </p:spPr>
        <p:txBody>
          <a:bodyPr wrap="square" lIns="0" tIns="0" rIns="0" bIns="0" rtlCol="0" anchor="ctr"/>
          <a:lstStyle/>
          <a:p>
            <a:pPr marL="0" indent="0" algn="ctr">
              <a:buNone/>
            </a:pPr>
            <a:r>
              <a:rPr lang="en-US" sz="3800" b="1" dirty="0">
                <a:solidFill>
                  <a:srgbClr val="E8C25A"/>
                </a:solidFill>
                <a:latin typeface="Cambria" pitchFamily="34" charset="0"/>
                <a:ea typeface="Cambria" pitchFamily="34" charset="-122"/>
                <a:cs typeface="Cambria" pitchFamily="34" charset="-120"/>
              </a:rPr>
              <a:t>Great Work Today!</a:t>
            </a:r>
            <a:endParaRPr lang="en-US" sz="3800" dirty="0"/>
          </a:p>
        </p:txBody>
      </p:sp>
      <p:sp>
        <p:nvSpPr>
          <p:cNvPr id="4" name="Text 1"/>
          <p:cNvSpPr/>
          <p:nvPr/>
        </p:nvSpPr>
        <p:spPr>
          <a:xfrm>
            <a:off x="1371600" y="3291840"/>
            <a:ext cx="9448495" cy="548640"/>
          </a:xfrm>
          <a:prstGeom prst="rect">
            <a:avLst/>
          </a:prstGeom>
          <a:noFill/>
          <a:ln/>
        </p:spPr>
        <p:txBody>
          <a:bodyPr wrap="square" lIns="0" tIns="0" rIns="0" bIns="0" rtlCol="0" anchor="ctr"/>
          <a:lstStyle/>
          <a:p>
            <a:pPr marL="0" indent="0" algn="ctr">
              <a:buNone/>
            </a:pPr>
            <a:r>
              <a:rPr lang="en-US" sz="1700" dirty="0">
                <a:solidFill>
                  <a:srgbClr val="F4F0E6"/>
                </a:solidFill>
                <a:latin typeface="Calibri" pitchFamily="34" charset="0"/>
                <a:ea typeface="Calibri" pitchFamily="34" charset="-122"/>
                <a:cs typeface="Calibri" pitchFamily="34" charset="-120"/>
              </a:rPr>
              <a:t>Next week: a single enemy on screen, and collision detection - your projectile finally has something to hit.</a:t>
            </a:r>
            <a:endParaRPr lang="en-US" sz="1700" dirty="0"/>
          </a:p>
        </p:txBody>
      </p:sp>
      <p:sp>
        <p:nvSpPr>
          <p:cNvPr id="5" name="Text 2"/>
          <p:cNvSpPr/>
          <p:nvPr/>
        </p:nvSpPr>
        <p:spPr>
          <a:xfrm>
            <a:off x="1371600" y="3931920"/>
            <a:ext cx="9448495" cy="548640"/>
          </a:xfrm>
          <a:prstGeom prst="rect">
            <a:avLst/>
          </a:prstGeom>
          <a:noFill/>
          <a:ln/>
        </p:spPr>
        <p:txBody>
          <a:bodyPr wrap="square" lIns="0" tIns="0" rIns="0" bIns="0" rtlCol="0" anchor="ctr"/>
          <a:lstStyle/>
          <a:p>
            <a:pPr marL="0" indent="0" algn="ctr">
              <a:buNone/>
            </a:pPr>
            <a:r>
              <a:rPr lang="en-US" sz="1300" i="1" dirty="0">
                <a:solidFill>
                  <a:srgbClr val="9FB6D6"/>
                </a:solidFill>
                <a:latin typeface="Calibri" pitchFamily="34" charset="0"/>
                <a:ea typeface="Calibri" pitchFamily="34" charset="-122"/>
                <a:cs typeface="Calibri" pitchFamily="34" charset="-120"/>
              </a:rPr>
              <a:t>Keep polishing your shooting mechanic at home if you'd like - try one of the Level 3 ideas if you haven't already.</a:t>
            </a:r>
            <a:endParaRPr lang="en-US" sz="1300" dirty="0"/>
          </a:p>
        </p:txBody>
      </p:sp>
      <p:sp>
        <p:nvSpPr>
          <p:cNvPr id="6" name="Text 3"/>
          <p:cNvSpPr/>
          <p:nvPr/>
        </p:nvSpPr>
        <p:spPr>
          <a:xfrm>
            <a:off x="457200" y="6528816"/>
            <a:ext cx="4572000" cy="274320"/>
          </a:xfrm>
          <a:prstGeom prst="rect">
            <a:avLst/>
          </a:prstGeom>
          <a:noFill/>
          <a:ln/>
        </p:spPr>
        <p:txBody>
          <a:bodyPr wrap="square" lIns="0" tIns="0" rIns="0" bIns="0" rtlCol="0" anchor="ctr"/>
          <a:lstStyle/>
          <a:p>
            <a:pPr marL="0" indent="0">
              <a:buNone/>
            </a:pPr>
            <a:r>
              <a:rPr lang="en-US" sz="1000" b="1" kern="0" spc="20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7" name="Text 4"/>
          <p:cNvSpPr/>
          <p:nvPr/>
        </p:nvSpPr>
        <p:spPr>
          <a:xfrm>
            <a:off x="10088575" y="6528816"/>
            <a:ext cx="1371600" cy="274320"/>
          </a:xfrm>
          <a:prstGeom prst="rect">
            <a:avLst/>
          </a:prstGeom>
          <a:noFill/>
          <a:ln/>
        </p:spPr>
        <p:txBody>
          <a:bodyPr wrap="square" lIns="0" tIns="0" rIns="0" bIns="0" rtlCol="0" anchor="ctr"/>
          <a:lstStyle/>
          <a:p>
            <a:pPr marL="0" indent="0" algn="r">
              <a:buNone/>
            </a:pPr>
            <a:r>
              <a:rPr lang="en-US" sz="1000" dirty="0">
                <a:solidFill>
                  <a:srgbClr val="E8C25A"/>
                </a:solidFill>
                <a:latin typeface="Calibri" pitchFamily="34" charset="0"/>
                <a:ea typeface="Calibri" pitchFamily="34" charset="-122"/>
                <a:cs typeface="Calibri" pitchFamily="34" charset="-120"/>
              </a:rPr>
              <a:t>Lesson 3</a:t>
            </a:r>
            <a:endParaRPr lang="en-US" sz="1000" dirty="0"/>
          </a:p>
        </p:txBody>
      </p:sp>
      <p:sp>
        <p:nvSpPr>
          <p:cNvPr id="8" name="Text 5"/>
          <p:cNvSpPr/>
          <p:nvPr/>
        </p:nvSpPr>
        <p:spPr>
          <a:xfrm>
            <a:off x="11505895" y="6528816"/>
            <a:ext cx="411480" cy="274320"/>
          </a:xfrm>
          <a:prstGeom prst="rect">
            <a:avLst/>
          </a:prstGeom>
          <a:noFill/>
          <a:ln/>
        </p:spPr>
        <p:txBody>
          <a:bodyPr wrap="square" lIns="0" tIns="0" rIns="0" bIns="0" rtlCol="0" anchor="ctr"/>
          <a:lstStyle/>
          <a:p>
            <a:pPr marL="0" indent="0" algn="r">
              <a:buNone/>
            </a:pPr>
            <a:r>
              <a:rPr lang="en-US" sz="1000" dirty="0">
                <a:solidFill>
                  <a:srgbClr val="E8C25A"/>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TotalTime>
  <Words>2712</Words>
  <Application>Microsoft Office PowerPoint</Application>
  <PresentationFormat>Widescreen</PresentationFormat>
  <Paragraphs>239</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Robert Kuropkat</cp:lastModifiedBy>
  <cp:revision>3</cp:revision>
  <dcterms:created xsi:type="dcterms:W3CDTF">2026-08-07T02:26:19Z</dcterms:created>
  <dcterms:modified xsi:type="dcterms:W3CDTF">2026-08-27T02:11:28Z</dcterms:modified>
</cp:coreProperties>
</file>