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week you turned one enemy into a whole row of them. Quick show of hands - who got every enemy independently destructible? Anyone try the Level 3 visual variety idea?" [Pause, call on 1-2 volunteers]
"Today's a big one. By the end of class, your game will actually be winnable - shoot every enemy, and the game tells you so. This finishes the very first real milestone of your whole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question: your game has 5 enemies right now. How would you know, in code, the exact moment all 5 are gone?" [Pause for guesses - someone may suggest checking a list's length, or counting]
"Both of those work! Today we'll use the simpler of the two: a single number that starts at 5 and counts down by one every time an enemy is destroyed. The moment that number hits zero, we know instantly - no need to check anything else. This kind of tracked number is usually called a counter, and it's one of the most common patterns in all of programming, not just games."
[Demo cue: switch to Scratch, open a project with a working enemy row from Lesson 5]
"Watch: I've got a variable called enemies_left, starting at 5. It's set 'for all sprites', not just this one, because both the Enemy clones and the win check need to see the same shared number. Every time a clone's touching-check destroys one, it changes enemies_left by -1. When it hits zero..." [Destroy all enemies on screen] "...this broadcast fires and the message appears. That's the whole idea - one shared number, counted down by one event at a time."
[Discussion question] "What other things in a game might need a counter like this?" (Examples to draw out if needed: lives remaining, ammo left, score, a timer counting down.)
[Timing checkpoint: wrap by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we know WHEN we've won, how do we tell the player? Every engine has some basic way to just draw text on screen, and that's genuinely all we need today - not a fancy menu, not a scoreboard, just words appearing."
[Demo cue: same Scratch project] "In Scratch, that's just a 'say' block - a speech bubble so simple it's barely UI at all. Other engines are just as simple: Godot has a Label node, GameMaker has draw_text(), TIC-80 has print(), Unreal has a node literally called Print String. None of these need the real UI systems your games will eventually have - that's coming properly in a few weeks, once you've got a score and lives to actually display."
"The lesson here: don't reach for the fanciest tool before you need it. A plain line of text is a completely legitimate way to confirm a win condition works, and it's exactly what a real developer would build first too, before ever touching final art or layout."
[Discussion question] "Can you think of other times in a project where the 'quick and ugly' version is actually the right first step?" (Examples: placeholder art, a console log instead of a UI, a text menu instead of a styled one.)
[Timing checkpoint: wrap by 0:43-0:45]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something worth pausing on. Once your win condition works today, you will have a complete, playable game loop: move, shoot, face enemies, and win. That's not a small thing - that's the Level 1 MVP milestone from your capstone's design document, and it's the first of several big checkpoints across the whole year."
"MVP stands for Minimum Viable Product - the smallest version of something that's still a real, complete, playable experience. It's not supposed to be impressive yet. It's supposed to work, start to finish, which is genuinely the hardest part of finishing any project. Everything from here through Lesson 15 is about making this same core loop more complete, then more polished - but the loop itself, today, is done."
[Timing checkpoint: wrap by 0:50]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lab today, open your own project from last week - not a new one, and no new assets needed. Everything today builds directly on your enemy row from Lesson 5."
"The goal: track enemies remaining, and show 'You Win!' the instant it hits zero. Level 1 is getting that working once. Level 2 is confirming it fires exactly once, at exactly the right moment. Level 3 is turning a plain message into an actual celebration - sound, animation, whatever you want."
[Hand out engine-specific handouts]
"One heads-up: today's win-tracking code needs to live in a slightly different place than last week's hit-detection - your handout walks through exactly where for your engine."
"Questions before we start lab? ... Let's go finish your first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common bug this week: an off-by-one error - the starting counter not matching the actual number of enemies spawned. Have students double-check their Lesson 5 spawn count first.
Second most common: win-tracking code placed somewhere that runs every frame instead of only when an enemy is actually destroyed - this can cause the message to flicker or the counter to behave unpredictably.
Circulate by engine cluster as usual - no engine is especially harder this week, unlike Lesson 5's Scratch wrinkle.
Students who finish Level 2 early should be pointed at the Level 3 ideas on their handout, not given new unrelated work.
At 1:50, call time and do a real celebration share-out - this is the Level 1 MVP milestone, worth more than the usual quick show-and-tell. Consider having 3-4 students demo a full win from start to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2.png"/><Relationship Id="rId4" Type="http://schemas.openxmlformats.org/officeDocument/2006/relationships/image" Target="../media/image-2-2.png"/><Relationship Id="rId5" Type="http://schemas.openxmlformats.org/officeDocument/2006/relationships/image" Target="../media/image-2-2.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2.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2.png"/><Relationship Id="rId4" Type="http://schemas.openxmlformats.org/officeDocument/2006/relationships/image" Target="../media/image-11-2.png"/><Relationship Id="rId5" Type="http://schemas.openxmlformats.org/officeDocument/2006/relationships/image" Target="../media/image-11-2.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3.png"/><Relationship Id="rId5" Type="http://schemas.openxmlformats.org/officeDocument/2006/relationships/image" Target="../media/image-14-3.png"/><Relationship Id="rId6"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bg_title_with_vgc.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502920"/>
            <a:ext cx="12191695" cy="320040"/>
          </a:xfrm>
          <a:prstGeom prst="rect">
            <a:avLst/>
          </a:prstGeom>
          <a:noFill/>
          <a:ln/>
        </p:spPr>
        <p:txBody>
          <a:bodyPr wrap="square" lIns="0" tIns="0" rIns="0" bIns="0" rtlCol="0" anchor="ctr"/>
          <a:lstStyle/>
          <a:p>
            <a:pPr algn="ctr" indent="0" marL="0">
              <a:buNone/>
            </a:pPr>
            <a:r>
              <a:rPr lang="en-US" sz="1300" spc="100" kern="0" dirty="0">
                <a:solidFill>
                  <a:srgbClr val="E8C25A"/>
                </a:solidFill>
                <a:latin typeface="Calibri" pitchFamily="34" charset="0"/>
                <a:ea typeface="Calibri" pitchFamily="34" charset="-122"/>
                <a:cs typeface="Calibri" pitchFamily="34" charset="-120"/>
              </a:rPr>
              <a:t>S O U T H   L A K E   H O M E   E D U C A T O R S</a:t>
            </a:r>
            <a:endParaRPr lang="en-US" sz="1300" dirty="0"/>
          </a:p>
        </p:txBody>
      </p:sp>
      <p:sp>
        <p:nvSpPr>
          <p:cNvPr id="4" name="Text 1"/>
          <p:cNvSpPr/>
          <p:nvPr/>
        </p:nvSpPr>
        <p:spPr>
          <a:xfrm>
            <a:off x="0" y="3383280"/>
            <a:ext cx="12191695" cy="685800"/>
          </a:xfrm>
          <a:prstGeom prst="rect">
            <a:avLst/>
          </a:prstGeom>
          <a:noFill/>
          <a:ln/>
        </p:spPr>
        <p:txBody>
          <a:bodyPr wrap="square" lIns="0" tIns="0" rIns="0" bIns="0" rtlCol="0" anchor="ctr"/>
          <a:lstStyle/>
          <a:p>
            <a:pPr algn="ctr" indent="0" marL="0">
              <a:buNone/>
            </a:pPr>
            <a:r>
              <a:rPr lang="en-US" sz="4400" b="1" dirty="0">
                <a:solidFill>
                  <a:srgbClr val="E8C25A"/>
                </a:solidFill>
                <a:latin typeface="Cambria" pitchFamily="34" charset="0"/>
                <a:ea typeface="Cambria" pitchFamily="34" charset="-122"/>
                <a:cs typeface="Cambria" pitchFamily="34" charset="-120"/>
              </a:rPr>
              <a:t>Lesson 6</a:t>
            </a:r>
            <a:endParaRPr lang="en-US" sz="4400" dirty="0"/>
          </a:p>
        </p:txBody>
      </p:sp>
      <p:sp>
        <p:nvSpPr>
          <p:cNvPr id="5" name="Text 2"/>
          <p:cNvSpPr/>
          <p:nvPr/>
        </p:nvSpPr>
        <p:spPr>
          <a:xfrm>
            <a:off x="914400" y="4114800"/>
            <a:ext cx="10362895" cy="640080"/>
          </a:xfrm>
          <a:prstGeom prst="rect">
            <a:avLst/>
          </a:prstGeom>
          <a:noFill/>
          <a:ln/>
        </p:spPr>
        <p:txBody>
          <a:bodyPr wrap="square" lIns="0" tIns="0" rIns="0" bIns="0" rtlCol="0" anchor="ctr"/>
          <a:lstStyle/>
          <a:p>
            <a:pPr algn="ctr" indent="0" marL="0">
              <a:buNone/>
            </a:pPr>
            <a:r>
              <a:rPr lang="en-US" sz="2200" dirty="0">
                <a:solidFill>
                  <a:srgbClr val="F4F0E6"/>
                </a:solidFill>
                <a:latin typeface="Calibri" pitchFamily="34" charset="0"/>
                <a:ea typeface="Calibri" pitchFamily="34" charset="-122"/>
                <a:cs typeface="Calibri" pitchFamily="34" charset="-120"/>
              </a:rPr>
              <a:t>Programming Basics V: Victory Condition</a:t>
            </a:r>
            <a:endParaRPr lang="en-US" sz="2200" dirty="0"/>
          </a:p>
        </p:txBody>
      </p:sp>
      <p:sp>
        <p:nvSpPr>
          <p:cNvPr id="6" name="Text 3"/>
          <p:cNvSpPr/>
          <p:nvPr/>
        </p:nvSpPr>
        <p:spPr>
          <a:xfrm>
            <a:off x="0" y="4892040"/>
            <a:ext cx="12191695" cy="365760"/>
          </a:xfrm>
          <a:prstGeom prst="rect">
            <a:avLst/>
          </a:prstGeom>
          <a:noFill/>
          <a:ln/>
        </p:spPr>
        <p:txBody>
          <a:bodyPr wrap="square" lIns="0" tIns="0" rIns="0" bIns="0" rtlCol="0" anchor="ctr"/>
          <a:lstStyle/>
          <a:p>
            <a:pPr algn="ctr" indent="0" marL="0">
              <a:buNone/>
            </a:pPr>
            <a:r>
              <a:rPr lang="en-US" sz="1400" b="1" i="1" dirty="0">
                <a:solidFill>
                  <a:srgbClr val="E8C25A"/>
                </a:solidFill>
                <a:latin typeface="Calibri" pitchFamily="34" charset="0"/>
                <a:ea typeface="Calibri" pitchFamily="34" charset="-122"/>
                <a:cs typeface="Calibri" pitchFamily="34" charset="-120"/>
              </a:rPr>
              <a:t>Semester 1, Week 6  -  Level 1 MVP Milestone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At a Glance</a:t>
            </a:r>
            <a:endParaRPr lang="en-US" sz="3800" dirty="0"/>
          </a:p>
        </p:txBody>
      </p:sp>
      <p:sp>
        <p:nvSpPr>
          <p:cNvPr id="4" name="Text 1"/>
          <p:cNvSpPr/>
          <p:nvPr/>
        </p:nvSpPr>
        <p:spPr>
          <a:xfrm>
            <a:off x="548640" y="960120"/>
            <a:ext cx="7315200" cy="365760"/>
          </a:xfrm>
          <a:prstGeom prst="rect">
            <a:avLst/>
          </a:prstGeom>
          <a:noFill/>
          <a:ln/>
        </p:spPr>
        <p:txBody>
          <a:bodyPr wrap="square" lIns="0" tIns="0" rIns="0" bIns="0" rtlCol="0" anchor="ctr"/>
          <a:lstStyle/>
          <a:p>
            <a:pPr indent="0" marL="0">
              <a:buNone/>
            </a:pPr>
            <a:r>
              <a:rPr lang="en-US" sz="1500" i="1" dirty="0">
                <a:solidFill>
                  <a:srgbClr val="5A6472"/>
                </a:solidFill>
                <a:latin typeface="Calibri" pitchFamily="34" charset="0"/>
                <a:ea typeface="Calibri" pitchFamily="34" charset="-122"/>
                <a:cs typeface="Calibri" pitchFamily="34" charset="-120"/>
              </a:rPr>
              <a:t>Lesson 6 objectives &amp; materials</a:t>
            </a:r>
            <a:endParaRPr lang="en-US" sz="1500" dirty="0"/>
          </a:p>
        </p:txBody>
      </p:sp>
      <p:sp>
        <p:nvSpPr>
          <p:cNvPr id="5" name="Text 2"/>
          <p:cNvSpPr/>
          <p:nvPr/>
        </p:nvSpPr>
        <p:spPr>
          <a:xfrm>
            <a:off x="548640" y="1508760"/>
            <a:ext cx="603504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By the end of today, students will:</a:t>
            </a:r>
            <a:endParaRPr lang="en-US" sz="1600" dirty="0"/>
          </a:p>
        </p:txBody>
      </p:sp>
      <p:pic>
        <p:nvPicPr>
          <p:cNvPr id="6" name="Image 1" descr="icons/check.png">    </p:cNvPr>
          <p:cNvPicPr>
            <a:picLocks noChangeAspect="1"/>
          </p:cNvPicPr>
          <p:nvPr/>
        </p:nvPicPr>
        <p:blipFill>
          <a:blip r:embed="rId2"/>
          <a:stretch>
            <a:fillRect/>
          </a:stretch>
        </p:blipFill>
        <p:spPr>
          <a:xfrm>
            <a:off x="548640" y="1965960"/>
            <a:ext cx="384048" cy="384048"/>
          </a:xfrm>
          <a:prstGeom prst="rect">
            <a:avLst/>
          </a:prstGeom>
        </p:spPr>
      </p:pic>
      <p:sp>
        <p:nvSpPr>
          <p:cNvPr id="7" name="Text 3"/>
          <p:cNvSpPr/>
          <p:nvPr/>
        </p:nvSpPr>
        <p:spPr>
          <a:xfrm>
            <a:off x="1051560" y="1938528"/>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what a counter is and how it tracks state</a:t>
            </a:r>
            <a:endParaRPr lang="en-US" sz="1450" dirty="0"/>
          </a:p>
        </p:txBody>
      </p:sp>
      <p:pic>
        <p:nvPicPr>
          <p:cNvPr id="8" name="Image 2" descr="icons/check.png">    </p:cNvPr>
          <p:cNvPicPr>
            <a:picLocks noChangeAspect="1"/>
          </p:cNvPicPr>
          <p:nvPr/>
        </p:nvPicPr>
        <p:blipFill>
          <a:blip r:embed="rId3"/>
          <a:stretch>
            <a:fillRect/>
          </a:stretch>
        </p:blipFill>
        <p:spPr>
          <a:xfrm>
            <a:off x="548640" y="2532888"/>
            <a:ext cx="384048" cy="384048"/>
          </a:xfrm>
          <a:prstGeom prst="rect">
            <a:avLst/>
          </a:prstGeom>
        </p:spPr>
      </p:pic>
      <p:sp>
        <p:nvSpPr>
          <p:cNvPr id="9" name="Text 4"/>
          <p:cNvSpPr/>
          <p:nvPr/>
        </p:nvSpPr>
        <p:spPr>
          <a:xfrm>
            <a:off x="1051560" y="2505456"/>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why simple text tools are enough for now</a:t>
            </a:r>
            <a:endParaRPr lang="en-US" sz="1450" dirty="0"/>
          </a:p>
        </p:txBody>
      </p:sp>
      <p:pic>
        <p:nvPicPr>
          <p:cNvPr id="10" name="Image 3" descr="icons/check.png">    </p:cNvPr>
          <p:cNvPicPr>
            <a:picLocks noChangeAspect="1"/>
          </p:cNvPicPr>
          <p:nvPr/>
        </p:nvPicPr>
        <p:blipFill>
          <a:blip r:embed="rId4"/>
          <a:stretch>
            <a:fillRect/>
          </a:stretch>
        </p:blipFill>
        <p:spPr>
          <a:xfrm>
            <a:off x="548640" y="3099816"/>
            <a:ext cx="384048" cy="384048"/>
          </a:xfrm>
          <a:prstGeom prst="rect">
            <a:avLst/>
          </a:prstGeom>
        </p:spPr>
      </p:pic>
      <p:sp>
        <p:nvSpPr>
          <p:cNvPr id="11" name="Text 5"/>
          <p:cNvSpPr/>
          <p:nvPr/>
        </p:nvSpPr>
        <p:spPr>
          <a:xfrm>
            <a:off x="1051560" y="3072384"/>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Explain what the Level 1 MVP milestone means</a:t>
            </a:r>
            <a:endParaRPr lang="en-US" sz="1450" dirty="0"/>
          </a:p>
        </p:txBody>
      </p:sp>
      <p:pic>
        <p:nvPicPr>
          <p:cNvPr id="12" name="Image 4" descr="icons/check.png">    </p:cNvPr>
          <p:cNvPicPr>
            <a:picLocks noChangeAspect="1"/>
          </p:cNvPicPr>
          <p:nvPr/>
        </p:nvPicPr>
        <p:blipFill>
          <a:blip r:embed="rId5"/>
          <a:stretch>
            <a:fillRect/>
          </a:stretch>
        </p:blipFill>
        <p:spPr>
          <a:xfrm>
            <a:off x="548640" y="3666744"/>
            <a:ext cx="384048" cy="384048"/>
          </a:xfrm>
          <a:prstGeom prst="rect">
            <a:avLst/>
          </a:prstGeom>
        </p:spPr>
      </p:pic>
      <p:sp>
        <p:nvSpPr>
          <p:cNvPr id="13" name="Text 6"/>
          <p:cNvSpPr/>
          <p:nvPr/>
        </p:nvSpPr>
        <p:spPr>
          <a:xfrm>
            <a:off x="1051560" y="3639312"/>
            <a:ext cx="5577840" cy="50292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Implement a working win condition</a:t>
            </a:r>
            <a:endParaRPr lang="en-US" sz="1450" dirty="0"/>
          </a:p>
        </p:txBody>
      </p:sp>
      <p:sp>
        <p:nvSpPr>
          <p:cNvPr id="14" name="Shape 7"/>
          <p:cNvSpPr/>
          <p:nvPr/>
        </p:nvSpPr>
        <p:spPr>
          <a:xfrm>
            <a:off x="6949440" y="1508760"/>
            <a:ext cx="4709160" cy="4206240"/>
          </a:xfrm>
          <a:prstGeom prst="roundRect">
            <a:avLst>
              <a:gd name="adj" fmla="val 2609"/>
            </a:avLst>
          </a:prstGeom>
          <a:solidFill>
            <a:srgbClr val="EDF2F8"/>
          </a:solidFill>
          <a:ln/>
        </p:spPr>
      </p:sp>
      <p:sp>
        <p:nvSpPr>
          <p:cNvPr id="15" name="Text 8"/>
          <p:cNvSpPr/>
          <p:nvPr/>
        </p:nvSpPr>
        <p:spPr>
          <a:xfrm>
            <a:off x="7223760" y="1691640"/>
            <a:ext cx="4206240" cy="365760"/>
          </a:xfrm>
          <a:prstGeom prst="rect">
            <a:avLst/>
          </a:prstGeom>
          <a:noFill/>
          <a:ln/>
        </p:spPr>
        <p:txBody>
          <a:bodyPr wrap="square" lIns="0" tIns="0" rIns="0" bIns="0" rtlCol="0" anchor="ctr"/>
          <a:lstStyle/>
          <a:p>
            <a:pPr indent="0" marL="0">
              <a:buNone/>
            </a:pPr>
            <a:r>
              <a:rPr lang="en-US" sz="1500" b="1" dirty="0">
                <a:solidFill>
                  <a:srgbClr val="1C4A86"/>
                </a:solidFill>
                <a:latin typeface="Calibri" pitchFamily="34" charset="0"/>
                <a:ea typeface="Calibri" pitchFamily="34" charset="-122"/>
                <a:cs typeface="Calibri" pitchFamily="34" charset="-120"/>
              </a:rPr>
              <a:t>What We're Using Today</a:t>
            </a:r>
            <a:endParaRPr lang="en-US" sz="1500" dirty="0"/>
          </a:p>
        </p:txBody>
      </p:sp>
      <p:sp>
        <p:nvSpPr>
          <p:cNvPr id="16" name="Text 9"/>
          <p:cNvSpPr/>
          <p:nvPr/>
        </p:nvSpPr>
        <p:spPr>
          <a:xfrm>
            <a:off x="7223760" y="2148840"/>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7" name="Text 10"/>
          <p:cNvSpPr/>
          <p:nvPr/>
        </p:nvSpPr>
        <p:spPr>
          <a:xfrm>
            <a:off x="7498080" y="2148840"/>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Demo laptop with all 8 engines verified</a:t>
            </a:r>
            <a:endParaRPr lang="en-US" sz="1250" dirty="0"/>
          </a:p>
        </p:txBody>
      </p:sp>
      <p:sp>
        <p:nvSpPr>
          <p:cNvPr id="18" name="Text 11"/>
          <p:cNvSpPr/>
          <p:nvPr/>
        </p:nvSpPr>
        <p:spPr>
          <a:xfrm>
            <a:off x="7223760" y="2807208"/>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19" name="Text 12"/>
          <p:cNvSpPr/>
          <p:nvPr/>
        </p:nvSpPr>
        <p:spPr>
          <a:xfrm>
            <a:off x="7498080" y="2807208"/>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Scratch, for the live lecture demo</a:t>
            </a:r>
            <a:endParaRPr lang="en-US" sz="1250" dirty="0"/>
          </a:p>
        </p:txBody>
      </p:sp>
      <p:sp>
        <p:nvSpPr>
          <p:cNvPr id="20" name="Text 13"/>
          <p:cNvSpPr/>
          <p:nvPr/>
        </p:nvSpPr>
        <p:spPr>
          <a:xfrm>
            <a:off x="7223760" y="3465576"/>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1" name="Text 14"/>
          <p:cNvSpPr/>
          <p:nvPr/>
        </p:nvSpPr>
        <p:spPr>
          <a:xfrm>
            <a:off x="7498080" y="3465576"/>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Engine-specific Student Handouts, one per student</a:t>
            </a:r>
            <a:endParaRPr lang="en-US" sz="1250" dirty="0"/>
          </a:p>
        </p:txBody>
      </p:sp>
      <p:sp>
        <p:nvSpPr>
          <p:cNvPr id="22" name="Text 15"/>
          <p:cNvSpPr/>
          <p:nvPr/>
        </p:nvSpPr>
        <p:spPr>
          <a:xfrm>
            <a:off x="7223760" y="4123944"/>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3" name="Text 16"/>
          <p:cNvSpPr/>
          <p:nvPr/>
        </p:nvSpPr>
        <p:spPr>
          <a:xfrm>
            <a:off x="7498080" y="4123944"/>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No new assets this week - "You Win!" uses each engine's basic text tools</a:t>
            </a:r>
            <a:endParaRPr lang="en-US" sz="1250" dirty="0"/>
          </a:p>
        </p:txBody>
      </p:sp>
      <p:sp>
        <p:nvSpPr>
          <p:cNvPr id="24" name="Text 17"/>
          <p:cNvSpPr/>
          <p:nvPr/>
        </p:nvSpPr>
        <p:spPr>
          <a:xfrm>
            <a:off x="7223760" y="4782312"/>
            <a:ext cx="228600" cy="548640"/>
          </a:xfrm>
          <a:prstGeom prst="rect">
            <a:avLst/>
          </a:prstGeom>
          <a:noFill/>
          <a:ln/>
        </p:spPr>
        <p:txBody>
          <a:bodyPr wrap="square" lIns="0" tIns="0" rIns="0" bIns="0" rtlCol="0" anchor="ctr"/>
          <a:lstStyle/>
          <a:p>
            <a:pPr indent="0" marL="0">
              <a:buNone/>
            </a:pPr>
            <a:r>
              <a:rPr lang="en-US" sz="1500" dirty="0">
                <a:solidFill>
                  <a:srgbClr val="C99A2E"/>
                </a:solidFill>
                <a:latin typeface="Calibri" pitchFamily="34" charset="0"/>
                <a:ea typeface="Calibri" pitchFamily="34" charset="-122"/>
                <a:cs typeface="Calibri" pitchFamily="34" charset="-120"/>
              </a:rPr>
              <a:t>•</a:t>
            </a:r>
            <a:endParaRPr lang="en-US" sz="1500" dirty="0"/>
          </a:p>
        </p:txBody>
      </p:sp>
      <p:sp>
        <p:nvSpPr>
          <p:cNvPr id="25" name="Text 18"/>
          <p:cNvSpPr/>
          <p:nvPr/>
        </p:nvSpPr>
        <p:spPr>
          <a:xfrm>
            <a:off x="7498080" y="4782312"/>
            <a:ext cx="4023360" cy="621792"/>
          </a:xfrm>
          <a:prstGeom prst="rect">
            <a:avLst/>
          </a:prstGeom>
          <a:noFill/>
          <a:ln/>
        </p:spPr>
        <p:txBody>
          <a:bodyPr wrap="square" lIns="0" tIns="0" rIns="0" bIns="0" rtlCol="0" anchor="ctr"/>
          <a:lstStyle/>
          <a:p>
            <a:pPr indent="0" marL="0">
              <a:buNone/>
            </a:pPr>
            <a:r>
              <a:rPr lang="en-US" sz="1250" dirty="0">
                <a:solidFill>
                  <a:srgbClr val="222222"/>
                </a:solidFill>
                <a:latin typeface="Calibri" pitchFamily="34" charset="0"/>
                <a:ea typeface="Calibri" pitchFamily="34" charset="-122"/>
                <a:cs typeface="Calibri" pitchFamily="34" charset="-120"/>
              </a:rPr>
              <a:t>Your own [YourName]Game project from Lesson 5 - not a new one</a:t>
            </a:r>
            <a:endParaRPr lang="en-US" sz="1250" dirty="0"/>
          </a:p>
        </p:txBody>
      </p:sp>
      <p:sp>
        <p:nvSpPr>
          <p:cNvPr id="26" name="Text 19"/>
          <p:cNvSpPr/>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A6472"/>
                </a:solidFill>
                <a:latin typeface="Calibri" pitchFamily="34" charset="0"/>
                <a:ea typeface="Calibri" pitchFamily="34" charset="-122"/>
                <a:cs typeface="Calibri" pitchFamily="34" charset="-120"/>
              </a:rPr>
              <a:t>IGDA framework tie-in:  Programming - state tracking, win/lose conditions, event-driven programming (introductory).</a:t>
            </a:r>
            <a:endParaRPr lang="en-US" sz="1150" dirty="0"/>
          </a:p>
        </p:txBody>
      </p:sp>
      <p:sp>
        <p:nvSpPr>
          <p:cNvPr id="27" name="Text 20"/>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8" name="Text 21"/>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6</a:t>
            </a:r>
            <a:endParaRPr lang="en-US" sz="1000" dirty="0"/>
          </a:p>
        </p:txBody>
      </p:sp>
      <p:sp>
        <p:nvSpPr>
          <p:cNvPr id="29" name="Text 22"/>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7315200" cy="640080"/>
          </a:xfrm>
          <a:prstGeom prst="rect">
            <a:avLst/>
          </a:prstGeom>
          <a:noFill/>
          <a:ln/>
        </p:spPr>
        <p:txBody>
          <a:bodyPr wrap="square" lIns="0" tIns="0" rIns="0" bIns="0" rtlCol="0" anchor="ctr"/>
          <a:lstStyle/>
          <a:p>
            <a:pPr indent="0" marL="0">
              <a:buNone/>
            </a:pPr>
            <a:r>
              <a:rPr lang="en-US" sz="3800" b="1" dirty="0">
                <a:solidFill>
                  <a:srgbClr val="1C4A86"/>
                </a:solidFill>
                <a:latin typeface="Cambria" pitchFamily="34" charset="0"/>
                <a:ea typeface="Cambria" pitchFamily="34" charset="-122"/>
                <a:cs typeface="Cambria" pitchFamily="34" charset="-120"/>
              </a:rPr>
              <a:t>Today's Agenda</a:t>
            </a:r>
            <a:endParaRPr lang="en-US" sz="3800" dirty="0"/>
          </a:p>
        </p:txBody>
      </p:sp>
      <p:pic>
        <p:nvPicPr>
          <p:cNvPr id="4" name="Image 1" descr="icons/production.png">    </p:cNvPr>
          <p:cNvPicPr>
            <a:picLocks noChangeAspect="1"/>
          </p:cNvPicPr>
          <p:nvPr/>
        </p:nvPicPr>
        <p:blipFill>
          <a:blip r:embed="rId2"/>
          <a:stretch>
            <a:fillRect/>
          </a:stretch>
        </p:blipFill>
        <p:spPr>
          <a:xfrm>
            <a:off x="10607040" y="365760"/>
            <a:ext cx="822960" cy="822960"/>
          </a:xfrm>
          <a:prstGeom prst="rect">
            <a:avLst/>
          </a:prstGeom>
        </p:spPr>
      </p:pic>
      <p:sp>
        <p:nvSpPr>
          <p:cNvPr id="5" name="Shape 1"/>
          <p:cNvSpPr/>
          <p:nvPr/>
        </p:nvSpPr>
        <p:spPr>
          <a:xfrm>
            <a:off x="548640" y="1417320"/>
            <a:ext cx="11064240" cy="548640"/>
          </a:xfrm>
          <a:prstGeom prst="roundRect">
            <a:avLst>
              <a:gd name="adj" fmla="val 13333"/>
            </a:avLst>
          </a:prstGeom>
          <a:solidFill>
            <a:srgbClr val="FFFFFF"/>
          </a:solidFill>
          <a:ln w="12700">
            <a:solidFill>
              <a:srgbClr val="DCE3EC"/>
            </a:solidFill>
            <a:prstDash val="solid"/>
          </a:ln>
        </p:spPr>
      </p:sp>
      <p:sp>
        <p:nvSpPr>
          <p:cNvPr id="6" name="Text 2"/>
          <p:cNvSpPr/>
          <p:nvPr/>
        </p:nvSpPr>
        <p:spPr>
          <a:xfrm>
            <a:off x="822960" y="1417320"/>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0:00 - 0:05</a:t>
            </a:r>
            <a:endParaRPr lang="en-US" sz="1350" dirty="0"/>
          </a:p>
        </p:txBody>
      </p:sp>
      <p:sp>
        <p:nvSpPr>
          <p:cNvPr id="7" name="Text 3"/>
          <p:cNvSpPr/>
          <p:nvPr/>
        </p:nvSpPr>
        <p:spPr>
          <a:xfrm>
            <a:off x="3017520" y="1417320"/>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Welcome back, Lesson 5 recap, quick share-out</a:t>
            </a:r>
            <a:endParaRPr lang="en-US" sz="1280" dirty="0"/>
          </a:p>
        </p:txBody>
      </p:sp>
      <p:sp>
        <p:nvSpPr>
          <p:cNvPr id="8" name="Shape 4"/>
          <p:cNvSpPr/>
          <p:nvPr/>
        </p:nvSpPr>
        <p:spPr>
          <a:xfrm>
            <a:off x="548640" y="2066544"/>
            <a:ext cx="11064240" cy="548640"/>
          </a:xfrm>
          <a:prstGeom prst="roundRect">
            <a:avLst>
              <a:gd name="adj" fmla="val 13333"/>
            </a:avLst>
          </a:prstGeom>
          <a:solidFill>
            <a:srgbClr val="FFFFFF"/>
          </a:solidFill>
          <a:ln w="12700">
            <a:solidFill>
              <a:srgbClr val="DCE3EC"/>
            </a:solidFill>
            <a:prstDash val="solid"/>
          </a:ln>
        </p:spPr>
      </p:sp>
      <p:sp>
        <p:nvSpPr>
          <p:cNvPr id="9" name="Text 5"/>
          <p:cNvSpPr/>
          <p:nvPr/>
        </p:nvSpPr>
        <p:spPr>
          <a:xfrm>
            <a:off x="822960" y="2066544"/>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0:05 - 0:25</a:t>
            </a:r>
            <a:endParaRPr lang="en-US" sz="1350" dirty="0"/>
          </a:p>
        </p:txBody>
      </p:sp>
      <p:sp>
        <p:nvSpPr>
          <p:cNvPr id="10" name="Text 6"/>
          <p:cNvSpPr/>
          <p:nvPr/>
        </p:nvSpPr>
        <p:spPr>
          <a:xfrm>
            <a:off x="3017520" y="2066544"/>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Tracking State: Counting Down to Zero</a:t>
            </a:r>
            <a:endParaRPr lang="en-US" sz="1280" dirty="0"/>
          </a:p>
        </p:txBody>
      </p:sp>
      <p:sp>
        <p:nvSpPr>
          <p:cNvPr id="11" name="Shape 7"/>
          <p:cNvSpPr/>
          <p:nvPr/>
        </p:nvSpPr>
        <p:spPr>
          <a:xfrm>
            <a:off x="548640" y="2715768"/>
            <a:ext cx="11064240" cy="548640"/>
          </a:xfrm>
          <a:prstGeom prst="roundRect">
            <a:avLst>
              <a:gd name="adj" fmla="val 13333"/>
            </a:avLst>
          </a:prstGeom>
          <a:solidFill>
            <a:srgbClr val="FFFFFF"/>
          </a:solidFill>
          <a:ln w="12700">
            <a:solidFill>
              <a:srgbClr val="DCE3EC"/>
            </a:solidFill>
            <a:prstDash val="solid"/>
          </a:ln>
        </p:spPr>
      </p:sp>
      <p:sp>
        <p:nvSpPr>
          <p:cNvPr id="12" name="Text 8"/>
          <p:cNvSpPr/>
          <p:nvPr/>
        </p:nvSpPr>
        <p:spPr>
          <a:xfrm>
            <a:off x="822960" y="2715768"/>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0:25 - 0:45</a:t>
            </a:r>
            <a:endParaRPr lang="en-US" sz="1350" dirty="0"/>
          </a:p>
        </p:txBody>
      </p:sp>
      <p:sp>
        <p:nvSpPr>
          <p:cNvPr id="13" name="Text 9"/>
          <p:cNvSpPr/>
          <p:nvPr/>
        </p:nvSpPr>
        <p:spPr>
          <a:xfrm>
            <a:off x="3017520" y="2715768"/>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Announcing the Win: Each Engine's Simplest Text Tool</a:t>
            </a:r>
            <a:endParaRPr lang="en-US" sz="1280" dirty="0"/>
          </a:p>
        </p:txBody>
      </p:sp>
      <p:sp>
        <p:nvSpPr>
          <p:cNvPr id="14" name="Shape 10"/>
          <p:cNvSpPr/>
          <p:nvPr/>
        </p:nvSpPr>
        <p:spPr>
          <a:xfrm>
            <a:off x="548640" y="3364992"/>
            <a:ext cx="11064240" cy="548640"/>
          </a:xfrm>
          <a:prstGeom prst="roundRect">
            <a:avLst>
              <a:gd name="adj" fmla="val 13333"/>
            </a:avLst>
          </a:prstGeom>
          <a:solidFill>
            <a:srgbClr val="FFFFFF"/>
          </a:solidFill>
          <a:ln w="12700">
            <a:solidFill>
              <a:srgbClr val="DCE3EC"/>
            </a:solidFill>
            <a:prstDash val="solid"/>
          </a:ln>
        </p:spPr>
      </p:sp>
      <p:sp>
        <p:nvSpPr>
          <p:cNvPr id="15" name="Text 11"/>
          <p:cNvSpPr/>
          <p:nvPr/>
        </p:nvSpPr>
        <p:spPr>
          <a:xfrm>
            <a:off x="822960" y="3364992"/>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0:45 - 0:50</a:t>
            </a:r>
            <a:endParaRPr lang="en-US" sz="1350" dirty="0"/>
          </a:p>
        </p:txBody>
      </p:sp>
      <p:sp>
        <p:nvSpPr>
          <p:cNvPr id="16" name="Text 12"/>
          <p:cNvSpPr/>
          <p:nvPr/>
        </p:nvSpPr>
        <p:spPr>
          <a:xfrm>
            <a:off x="3017520" y="3364992"/>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Milestone Moment: What "Level 1 MVP" Actually Means</a:t>
            </a:r>
            <a:endParaRPr lang="en-US" sz="1280" dirty="0"/>
          </a:p>
        </p:txBody>
      </p:sp>
      <p:sp>
        <p:nvSpPr>
          <p:cNvPr id="17" name="Shape 13"/>
          <p:cNvSpPr/>
          <p:nvPr/>
        </p:nvSpPr>
        <p:spPr>
          <a:xfrm>
            <a:off x="548640" y="4014216"/>
            <a:ext cx="11064240" cy="548640"/>
          </a:xfrm>
          <a:prstGeom prst="roundRect">
            <a:avLst>
              <a:gd name="adj" fmla="val 13333"/>
            </a:avLst>
          </a:prstGeom>
          <a:solidFill>
            <a:srgbClr val="FFFFFF"/>
          </a:solidFill>
          <a:ln w="12700">
            <a:solidFill>
              <a:srgbClr val="DCE3EC"/>
            </a:solidFill>
            <a:prstDash val="solid"/>
          </a:ln>
        </p:spPr>
      </p:sp>
      <p:sp>
        <p:nvSpPr>
          <p:cNvPr id="18" name="Text 14"/>
          <p:cNvSpPr/>
          <p:nvPr/>
        </p:nvSpPr>
        <p:spPr>
          <a:xfrm>
            <a:off x="822960" y="4014216"/>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0:50 - 1:00</a:t>
            </a:r>
            <a:endParaRPr lang="en-US" sz="1350" dirty="0"/>
          </a:p>
        </p:txBody>
      </p:sp>
      <p:sp>
        <p:nvSpPr>
          <p:cNvPr id="19" name="Text 15"/>
          <p:cNvSpPr/>
          <p:nvPr/>
        </p:nvSpPr>
        <p:spPr>
          <a:xfrm>
            <a:off x="3017520" y="4014216"/>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Introduce lab exercise, hand out engine-specific handouts</a:t>
            </a:r>
            <a:endParaRPr lang="en-US" sz="1280" dirty="0"/>
          </a:p>
        </p:txBody>
      </p:sp>
      <p:sp>
        <p:nvSpPr>
          <p:cNvPr id="20" name="Shape 16"/>
          <p:cNvSpPr/>
          <p:nvPr/>
        </p:nvSpPr>
        <p:spPr>
          <a:xfrm>
            <a:off x="548640" y="4663440"/>
            <a:ext cx="11064240" cy="457200"/>
          </a:xfrm>
          <a:prstGeom prst="roundRect">
            <a:avLst>
              <a:gd name="adj" fmla="val 16000"/>
            </a:avLst>
          </a:prstGeom>
          <a:solidFill>
            <a:srgbClr val="C99A2E"/>
          </a:solidFill>
          <a:ln w="12700">
            <a:solidFill>
              <a:srgbClr val="DCE3EC"/>
            </a:solidFill>
            <a:prstDash val="solid"/>
          </a:ln>
        </p:spPr>
      </p:sp>
      <p:sp>
        <p:nvSpPr>
          <p:cNvPr id="21" name="Text 17"/>
          <p:cNvSpPr/>
          <p:nvPr/>
        </p:nvSpPr>
        <p:spPr>
          <a:xfrm>
            <a:off x="822960" y="4663440"/>
            <a:ext cx="2103120" cy="457200"/>
          </a:xfrm>
          <a:prstGeom prst="rect">
            <a:avLst/>
          </a:prstGeom>
          <a:noFill/>
          <a:ln/>
        </p:spPr>
        <p:txBody>
          <a:bodyPr wrap="square" lIns="0" tIns="0" rIns="0" bIns="0" rtlCol="0" anchor="ctr"/>
          <a:lstStyle/>
          <a:p>
            <a:pPr indent="0" marL="0">
              <a:buNone/>
            </a:pPr>
            <a:r>
              <a:rPr lang="en-US" sz="1300" b="1" dirty="0">
                <a:solidFill>
                  <a:srgbClr val="16305C"/>
                </a:solidFill>
                <a:latin typeface="Calibri" pitchFamily="34" charset="0"/>
                <a:ea typeface="Calibri" pitchFamily="34" charset="-122"/>
                <a:cs typeface="Calibri" pitchFamily="34" charset="-120"/>
              </a:rPr>
              <a:t>LAB TIME</a:t>
            </a:r>
            <a:endParaRPr lang="en-US" sz="1300" dirty="0"/>
          </a:p>
        </p:txBody>
      </p:sp>
      <p:sp>
        <p:nvSpPr>
          <p:cNvPr id="22" name="Text 18"/>
          <p:cNvSpPr/>
          <p:nvPr/>
        </p:nvSpPr>
        <p:spPr>
          <a:xfrm>
            <a:off x="3017520" y="4663440"/>
            <a:ext cx="8412480" cy="457200"/>
          </a:xfrm>
          <a:prstGeom prst="rect">
            <a:avLst/>
          </a:prstGeom>
          <a:noFill/>
          <a:ln/>
        </p:spPr>
        <p:txBody>
          <a:bodyPr wrap="square" lIns="0" tIns="0" rIns="0" bIns="0" rtlCol="0" anchor="ctr"/>
          <a:lstStyle/>
          <a:p>
            <a:pPr indent="0" marL="0">
              <a:buNone/>
            </a:pPr>
            <a:r>
              <a:rPr lang="en-US" sz="1300" b="1" i="1" dirty="0">
                <a:solidFill>
                  <a:srgbClr val="16305C"/>
                </a:solidFill>
                <a:latin typeface="Calibri" pitchFamily="34" charset="0"/>
                <a:ea typeface="Calibri" pitchFamily="34" charset="-122"/>
                <a:cs typeface="Calibri" pitchFamily="34" charset="-120"/>
              </a:rPr>
              <a:t>— Victory Condition —</a:t>
            </a:r>
            <a:endParaRPr lang="en-US" sz="1300" dirty="0"/>
          </a:p>
        </p:txBody>
      </p:sp>
      <p:sp>
        <p:nvSpPr>
          <p:cNvPr id="23" name="Shape 19"/>
          <p:cNvSpPr/>
          <p:nvPr/>
        </p:nvSpPr>
        <p:spPr>
          <a:xfrm>
            <a:off x="548640" y="5221224"/>
            <a:ext cx="11064240" cy="548640"/>
          </a:xfrm>
          <a:prstGeom prst="roundRect">
            <a:avLst>
              <a:gd name="adj" fmla="val 13333"/>
            </a:avLst>
          </a:prstGeom>
          <a:solidFill>
            <a:srgbClr val="FFFFFF"/>
          </a:solidFill>
          <a:ln w="12700">
            <a:solidFill>
              <a:srgbClr val="DCE3EC"/>
            </a:solidFill>
            <a:prstDash val="solid"/>
          </a:ln>
        </p:spPr>
      </p:sp>
      <p:sp>
        <p:nvSpPr>
          <p:cNvPr id="24" name="Text 20"/>
          <p:cNvSpPr/>
          <p:nvPr/>
        </p:nvSpPr>
        <p:spPr>
          <a:xfrm>
            <a:off x="822960" y="5221224"/>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1:00 - 1:50</a:t>
            </a:r>
            <a:endParaRPr lang="en-US" sz="1350" dirty="0"/>
          </a:p>
        </p:txBody>
      </p:sp>
      <p:sp>
        <p:nvSpPr>
          <p:cNvPr id="25" name="Text 21"/>
          <p:cNvSpPr/>
          <p:nvPr/>
        </p:nvSpPr>
        <p:spPr>
          <a:xfrm>
            <a:off x="3017520" y="5221224"/>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Add a win condition to your Semester 1 project</a:t>
            </a:r>
            <a:endParaRPr lang="en-US" sz="1280" dirty="0"/>
          </a:p>
        </p:txBody>
      </p:sp>
      <p:sp>
        <p:nvSpPr>
          <p:cNvPr id="26" name="Shape 22"/>
          <p:cNvSpPr/>
          <p:nvPr/>
        </p:nvSpPr>
        <p:spPr>
          <a:xfrm>
            <a:off x="548640" y="5870448"/>
            <a:ext cx="11064240" cy="548640"/>
          </a:xfrm>
          <a:prstGeom prst="roundRect">
            <a:avLst>
              <a:gd name="adj" fmla="val 13333"/>
            </a:avLst>
          </a:prstGeom>
          <a:solidFill>
            <a:srgbClr val="FFFFFF"/>
          </a:solidFill>
          <a:ln w="12700">
            <a:solidFill>
              <a:srgbClr val="DCE3EC"/>
            </a:solidFill>
            <a:prstDash val="solid"/>
          </a:ln>
        </p:spPr>
      </p:sp>
      <p:sp>
        <p:nvSpPr>
          <p:cNvPr id="27" name="Text 23"/>
          <p:cNvSpPr/>
          <p:nvPr/>
        </p:nvSpPr>
        <p:spPr>
          <a:xfrm>
            <a:off x="822960" y="5870448"/>
            <a:ext cx="2103120" cy="548640"/>
          </a:xfrm>
          <a:prstGeom prst="rect">
            <a:avLst/>
          </a:prstGeom>
          <a:noFill/>
          <a:ln/>
        </p:spPr>
        <p:txBody>
          <a:bodyPr wrap="square" lIns="0" tIns="0" rIns="0" bIns="0" rtlCol="0" anchor="ctr"/>
          <a:lstStyle/>
          <a:p>
            <a:pPr indent="0" marL="0">
              <a:buNone/>
            </a:pPr>
            <a:r>
              <a:rPr lang="en-US" sz="1350" b="1" dirty="0">
                <a:solidFill>
                  <a:srgbClr val="1C4A86"/>
                </a:solidFill>
                <a:latin typeface="Calibri" pitchFamily="34" charset="0"/>
                <a:ea typeface="Calibri" pitchFamily="34" charset="-122"/>
                <a:cs typeface="Calibri" pitchFamily="34" charset="-120"/>
              </a:rPr>
              <a:t>1:50 - 2:00</a:t>
            </a:r>
            <a:endParaRPr lang="en-US" sz="1350" dirty="0"/>
          </a:p>
        </p:txBody>
      </p:sp>
      <p:sp>
        <p:nvSpPr>
          <p:cNvPr id="28" name="Text 24"/>
          <p:cNvSpPr/>
          <p:nvPr/>
        </p:nvSpPr>
        <p:spPr>
          <a:xfrm>
            <a:off x="3017520" y="5870448"/>
            <a:ext cx="8412480" cy="548640"/>
          </a:xfrm>
          <a:prstGeom prst="rect">
            <a:avLst/>
          </a:prstGeom>
          <a:noFill/>
          <a:ln/>
        </p:spPr>
        <p:txBody>
          <a:bodyPr wrap="square" lIns="0" tIns="0" rIns="0" bIns="0" rtlCol="0" anchor="ctr"/>
          <a:lstStyle/>
          <a:p>
            <a:pPr indent="0" marL="0">
              <a:buNone/>
            </a:pPr>
            <a:r>
              <a:rPr lang="en-US" sz="1280" dirty="0">
                <a:solidFill>
                  <a:srgbClr val="222222"/>
                </a:solidFill>
                <a:latin typeface="Calibri" pitchFamily="34" charset="0"/>
                <a:ea typeface="Calibri" pitchFamily="34" charset="-122"/>
                <a:cs typeface="Calibri" pitchFamily="34" charset="-120"/>
              </a:rPr>
              <a:t>Exit check: milestone celebration share-out</a:t>
            </a:r>
            <a:endParaRPr lang="en-US" sz="1280" dirty="0"/>
          </a:p>
        </p:txBody>
      </p:sp>
      <p:sp>
        <p:nvSpPr>
          <p:cNvPr id="29" name="Text 2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30" name="Text 2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6</a:t>
            </a:r>
            <a:endParaRPr lang="en-US" sz="1000" dirty="0"/>
          </a:p>
        </p:txBody>
      </p:sp>
      <p:sp>
        <p:nvSpPr>
          <p:cNvPr id="31" name="Text 2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bg_title_book.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Welcome Back</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Lesson 5 recap and a quick share of enemy rows.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6</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Welcome Back</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515600" cy="36576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Quick recap of Lesson 5:</a:t>
            </a:r>
            <a:endParaRPr lang="en-US" sz="1600" dirty="0"/>
          </a:p>
        </p:txBody>
      </p:sp>
      <p:pic>
        <p:nvPicPr>
          <p:cNvPr id="7" name="Image 1" descr="icons/check.png">    </p:cNvPr>
          <p:cNvPicPr>
            <a:picLocks noChangeAspect="1"/>
          </p:cNvPicPr>
          <p:nvPr/>
        </p:nvPicPr>
        <p:blipFill>
          <a:blip r:embed="rId2"/>
          <a:stretch>
            <a:fillRect/>
          </a:stretch>
        </p:blipFill>
        <p:spPr>
          <a:xfrm>
            <a:off x="548640" y="1828800"/>
            <a:ext cx="365760" cy="365760"/>
          </a:xfrm>
          <a:prstGeom prst="rect">
            <a:avLst/>
          </a:prstGeom>
        </p:spPr>
      </p:pic>
      <p:sp>
        <p:nvSpPr>
          <p:cNvPr id="8" name="Text 4"/>
          <p:cNvSpPr/>
          <p:nvPr/>
        </p:nvSpPr>
        <p:spPr>
          <a:xfrm>
            <a:off x="1051560" y="175564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Loops - a whole row of enemies, created from one block of code</a:t>
            </a:r>
            <a:endParaRPr lang="en-US" sz="1500" dirty="0"/>
          </a:p>
        </p:txBody>
      </p:sp>
      <p:pic>
        <p:nvPicPr>
          <p:cNvPr id="9" name="Image 2" descr="icons/check.png">    </p:cNvPr>
          <p:cNvPicPr>
            <a:picLocks noChangeAspect="1"/>
          </p:cNvPicPr>
          <p:nvPr/>
        </p:nvPicPr>
        <p:blipFill>
          <a:blip r:embed="rId3"/>
          <a:stretch>
            <a:fillRect/>
          </a:stretch>
        </p:blipFill>
        <p:spPr>
          <a:xfrm>
            <a:off x="548640" y="2606040"/>
            <a:ext cx="365760" cy="365760"/>
          </a:xfrm>
          <a:prstGeom prst="rect">
            <a:avLst/>
          </a:prstGeom>
        </p:spPr>
      </p:pic>
      <p:sp>
        <p:nvSpPr>
          <p:cNvPr id="10" name="Text 5"/>
          <p:cNvSpPr/>
          <p:nvPr/>
        </p:nvSpPr>
        <p:spPr>
          <a:xfrm>
            <a:off x="1051560" y="253288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Every enemy independently destructible, thanks to good structure from Lesson 4</a:t>
            </a:r>
            <a:endParaRPr lang="en-US" sz="1500" dirty="0"/>
          </a:p>
        </p:txBody>
      </p:sp>
      <p:pic>
        <p:nvPicPr>
          <p:cNvPr id="11" name="Image 3" descr="icons/check.png">    </p:cNvPr>
          <p:cNvPicPr>
            <a:picLocks noChangeAspect="1"/>
          </p:cNvPicPr>
          <p:nvPr/>
        </p:nvPicPr>
        <p:blipFill>
          <a:blip r:embed="rId4"/>
          <a:stretch>
            <a:fillRect/>
          </a:stretch>
        </p:blipFill>
        <p:spPr>
          <a:xfrm>
            <a:off x="548640" y="3383280"/>
            <a:ext cx="365760" cy="365760"/>
          </a:xfrm>
          <a:prstGeom prst="rect">
            <a:avLst/>
          </a:prstGeom>
        </p:spPr>
      </p:pic>
      <p:sp>
        <p:nvSpPr>
          <p:cNvPr id="12" name="Text 6"/>
          <p:cNvSpPr/>
          <p:nvPr/>
        </p:nvSpPr>
        <p:spPr>
          <a:xfrm>
            <a:off x="1051560" y="3310128"/>
            <a:ext cx="10332720" cy="685800"/>
          </a:xfrm>
          <a:prstGeom prst="rect">
            <a:avLst/>
          </a:prstGeom>
          <a:noFill/>
          <a:ln/>
        </p:spPr>
        <p:txBody>
          <a:bodyPr wrap="square" lIns="0" tIns="0" rIns="0" bIns="0" rtlCol="0" anchor="ctr"/>
          <a:lstStyle/>
          <a:p>
            <a:pPr indent="0" marL="0">
              <a:buNone/>
            </a:pPr>
            <a:r>
              <a:rPr lang="en-US" sz="1500" dirty="0">
                <a:solidFill>
                  <a:srgbClr val="222222"/>
                </a:solidFill>
                <a:latin typeface="Calibri" pitchFamily="34" charset="0"/>
                <a:ea typeface="Calibri" pitchFamily="34" charset="-122"/>
                <a:cs typeface="Calibri" pitchFamily="34" charset="-120"/>
              </a:rPr>
              <a:t>Today: a real win condition - the final piece of a complete, playable game loop</a:t>
            </a:r>
            <a:endParaRPr lang="en-US" sz="1500" dirty="0"/>
          </a:p>
        </p:txBody>
      </p:sp>
      <p:sp>
        <p:nvSpPr>
          <p:cNvPr id="13" name="Shape 7"/>
          <p:cNvSpPr/>
          <p:nvPr/>
        </p:nvSpPr>
        <p:spPr>
          <a:xfrm>
            <a:off x="548640" y="4343400"/>
            <a:ext cx="11064240" cy="1371600"/>
          </a:xfrm>
          <a:prstGeom prst="roundRect">
            <a:avLst>
              <a:gd name="adj" fmla="val 8000"/>
            </a:avLst>
          </a:prstGeom>
          <a:solidFill>
            <a:srgbClr val="EDF2F8"/>
          </a:solidFill>
          <a:ln/>
        </p:spPr>
      </p:sp>
      <p:pic>
        <p:nvPicPr>
          <p:cNvPr id="14" name="Image 4" descr="icons/wrench.png">    </p:cNvPr>
          <p:cNvPicPr>
            <a:picLocks noChangeAspect="1"/>
          </p:cNvPicPr>
          <p:nvPr/>
        </p:nvPicPr>
        <p:blipFill>
          <a:blip r:embed="rId5"/>
          <a:stretch>
            <a:fillRect/>
          </a:stretch>
        </p:blipFill>
        <p:spPr>
          <a:xfrm>
            <a:off x="777240" y="4572000"/>
            <a:ext cx="548640" cy="548640"/>
          </a:xfrm>
          <a:prstGeom prst="rect">
            <a:avLst/>
          </a:prstGeom>
        </p:spPr>
      </p:pic>
      <p:sp>
        <p:nvSpPr>
          <p:cNvPr id="15" name="Text 8"/>
          <p:cNvSpPr/>
          <p:nvPr/>
        </p:nvSpPr>
        <p:spPr>
          <a:xfrm>
            <a:off x="1508760" y="4526280"/>
            <a:ext cx="9875520" cy="96012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Open your own project from last week today, not a new one - and no new assets needed either, everything builds on Lesson 5's enemy row.</a:t>
            </a:r>
            <a:endParaRPr lang="en-US" sz="1400" dirty="0"/>
          </a:p>
        </p:txBody>
      </p:sp>
      <p:sp>
        <p:nvSpPr>
          <p:cNvPr id="17"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8"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6</a:t>
            </a:r>
            <a:endParaRPr lang="en-US" sz="1000" dirty="0"/>
          </a:p>
        </p:txBody>
      </p:sp>
      <p:sp>
        <p:nvSpPr>
          <p:cNvPr id="19"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bg_title_programming.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Tracking State</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How does the game know the exact moment every enemy is gone?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6</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Tracking State</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64008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A counter is a single number that starts at 5 and counts down by one every time an enemy is destroyed. Hits zero? All enemies are gone.</a:t>
            </a:r>
            <a:endParaRPr lang="en-US" sz="1600" dirty="0"/>
          </a:p>
        </p:txBody>
      </p:sp>
      <p:sp>
        <p:nvSpPr>
          <p:cNvPr id="7" name="Text 4"/>
          <p:cNvSpPr/>
          <p:nvPr/>
        </p:nvSpPr>
        <p:spPr>
          <a:xfrm>
            <a:off x="548640" y="1920240"/>
            <a:ext cx="10881360" cy="457200"/>
          </a:xfrm>
          <a:prstGeom prst="rect">
            <a:avLst/>
          </a:prstGeom>
          <a:noFill/>
          <a:ln/>
        </p:spPr>
        <p:txBody>
          <a:bodyPr wrap="square" lIns="0" tIns="0" rIns="0" bIns="0" rtlCol="0" anchor="ctr"/>
          <a:lstStyle/>
          <a:p>
            <a:pPr indent="0" marL="0">
              <a:buNone/>
            </a:pPr>
            <a:r>
              <a:rPr lang="en-US" sz="1400" i="1" dirty="0">
                <a:solidFill>
                  <a:srgbClr val="5A6472"/>
                </a:solidFill>
                <a:latin typeface="Calibri" pitchFamily="34" charset="0"/>
                <a:ea typeface="Calibri" pitchFamily="34" charset="-122"/>
                <a:cs typeface="Calibri" pitchFamily="34" charset="-120"/>
              </a:rPr>
              <a:t>One of the most common patterns in all of programming, not just games.</a:t>
            </a:r>
            <a:endParaRPr lang="en-US" sz="1400" dirty="0"/>
          </a:p>
        </p:txBody>
      </p:sp>
      <p:sp>
        <p:nvSpPr>
          <p:cNvPr id="8" name="Shape 5"/>
          <p:cNvSpPr/>
          <p:nvPr/>
        </p:nvSpPr>
        <p:spPr>
          <a:xfrm>
            <a:off x="548640" y="2606040"/>
            <a:ext cx="11064240" cy="1554480"/>
          </a:xfrm>
          <a:prstGeom prst="roundRect">
            <a:avLst>
              <a:gd name="adj" fmla="val 7059"/>
            </a:avLst>
          </a:prstGeom>
          <a:solidFill>
            <a:srgbClr val="EDF2F8"/>
          </a:solidFill>
          <a:ln/>
        </p:spPr>
      </p:sp>
      <p:pic>
        <p:nvPicPr>
          <p:cNvPr id="9" name="Image 1" descr="icons/design.png">    </p:cNvPr>
          <p:cNvPicPr>
            <a:picLocks noChangeAspect="1"/>
          </p:cNvPicPr>
          <p:nvPr/>
        </p:nvPicPr>
        <p:blipFill>
          <a:blip r:embed="rId2"/>
          <a:stretch>
            <a:fillRect/>
          </a:stretch>
        </p:blipFill>
        <p:spPr>
          <a:xfrm>
            <a:off x="777240" y="2834640"/>
            <a:ext cx="502920" cy="502920"/>
          </a:xfrm>
          <a:prstGeom prst="rect">
            <a:avLst/>
          </a:prstGeom>
        </p:spPr>
      </p:pic>
      <p:sp>
        <p:nvSpPr>
          <p:cNvPr id="10" name="Text 6"/>
          <p:cNvSpPr/>
          <p:nvPr/>
        </p:nvSpPr>
        <p:spPr>
          <a:xfrm>
            <a:off x="1463040" y="2743200"/>
            <a:ext cx="9966960" cy="12801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enemies_left starts at 5. Every enemy destroyed subtracts one. When it reaches zero - and only then - the win condition is met, with no need to check anything else.</a:t>
            </a:r>
            <a:endParaRPr lang="en-US" sz="1450" dirty="0"/>
          </a:p>
        </p:txBody>
      </p:sp>
      <p:sp>
        <p:nvSpPr>
          <p:cNvPr id="11" name="Shape 7"/>
          <p:cNvSpPr/>
          <p:nvPr/>
        </p:nvSpPr>
        <p:spPr>
          <a:xfrm>
            <a:off x="548640" y="4343400"/>
            <a:ext cx="11064240" cy="1005840"/>
          </a:xfrm>
          <a:prstGeom prst="roundRect">
            <a:avLst>
              <a:gd name="adj" fmla="val 10909"/>
            </a:avLst>
          </a:prstGeom>
          <a:solidFill>
            <a:srgbClr val="0F2C52"/>
          </a:solidFill>
          <a:ln w="12700">
            <a:solidFill>
              <a:srgbClr val="C99A2E"/>
            </a:solidFill>
            <a:prstDash val="solid"/>
          </a:ln>
        </p:spPr>
      </p:sp>
      <p:pic>
        <p:nvPicPr>
          <p:cNvPr id="12" name="Image 2" descr="icons/chat.png">    </p:cNvPr>
          <p:cNvPicPr>
            <a:picLocks noChangeAspect="1"/>
          </p:cNvPicPr>
          <p:nvPr/>
        </p:nvPicPr>
        <p:blipFill>
          <a:blip r:embed="rId3"/>
          <a:stretch>
            <a:fillRect/>
          </a:stretch>
        </p:blipFill>
        <p:spPr>
          <a:xfrm>
            <a:off x="777240" y="4526280"/>
            <a:ext cx="502920" cy="502920"/>
          </a:xfrm>
          <a:prstGeom prst="rect">
            <a:avLst/>
          </a:prstGeom>
        </p:spPr>
      </p:pic>
      <p:sp>
        <p:nvSpPr>
          <p:cNvPr id="13" name="Text 8"/>
          <p:cNvSpPr/>
          <p:nvPr/>
        </p:nvSpPr>
        <p:spPr>
          <a:xfrm>
            <a:off x="1463040" y="4480560"/>
            <a:ext cx="9966960" cy="685800"/>
          </a:xfrm>
          <a:prstGeom prst="rect">
            <a:avLst/>
          </a:prstGeom>
          <a:noFill/>
          <a:ln/>
        </p:spPr>
        <p:txBody>
          <a:bodyPr wrap="square" lIns="0" tIns="0" rIns="0" bIns="0" rtlCol="0" anchor="ctr"/>
          <a:lstStyle/>
          <a:p>
            <a:pPr indent="0" marL="0">
              <a:buNone/>
            </a:pPr>
            <a:r>
              <a:rPr lang="en-US" sz="1450" i="1" dirty="0">
                <a:solidFill>
                  <a:srgbClr val="F4F0E6"/>
                </a:solidFill>
                <a:latin typeface="Calibri" pitchFamily="34" charset="0"/>
                <a:ea typeface="Calibri" pitchFamily="34" charset="-122"/>
                <a:cs typeface="Calibri" pitchFamily="34" charset="-120"/>
              </a:rPr>
              <a:t>Discussion: what other things in a game might need a counter like this?</a:t>
            </a:r>
            <a:endParaRPr lang="en-US" sz="1450" dirty="0"/>
          </a:p>
        </p:txBody>
      </p:sp>
      <p:sp>
        <p:nvSpPr>
          <p:cNvPr id="15" name="Text 9"/>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6" name="Text 10"/>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6</a:t>
            </a:r>
            <a:endParaRPr lang="en-US" sz="1000" dirty="0"/>
          </a:p>
        </p:txBody>
      </p:sp>
      <p:sp>
        <p:nvSpPr>
          <p:cNvPr id="17" name="Text 11"/>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bg_title_desig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Announcing the Win</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Each engine's simplest way to just draw text on screen.</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20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6</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Announcing the Win</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20 min</a:t>
            </a:r>
            <a:endParaRPr lang="en-US" sz="1200" dirty="0"/>
          </a:p>
        </p:txBody>
      </p:sp>
      <p:sp>
        <p:nvSpPr>
          <p:cNvPr id="6" name="Text 3"/>
          <p:cNvSpPr/>
          <p:nvPr/>
        </p:nvSpPr>
        <p:spPr>
          <a:xfrm>
            <a:off x="548640" y="1325880"/>
            <a:ext cx="10881360" cy="640080"/>
          </a:xfrm>
          <a:prstGeom prst="rect">
            <a:avLst/>
          </a:prstGeom>
          <a:noFill/>
          <a:ln/>
        </p:spPr>
        <p:txBody>
          <a:bodyPr wrap="square" lIns="0" tIns="0" rIns="0" bIns="0" rtlCol="0" anchor="ctr"/>
          <a:lstStyle/>
          <a:p>
            <a:pPr indent="0" marL="0">
              <a:buNone/>
            </a:pPr>
            <a:r>
              <a:rPr lang="en-US" sz="1550" b="1" dirty="0">
                <a:solidFill>
                  <a:srgbClr val="1C4A86"/>
                </a:solidFill>
                <a:latin typeface="Calibri" pitchFamily="34" charset="0"/>
                <a:ea typeface="Calibri" pitchFamily="34" charset="-122"/>
                <a:cs typeface="Calibri" pitchFamily="34" charset="-120"/>
              </a:rPr>
              <a:t>Today, a plain line of text is completely legitimate - the real UI system comes later, once there's a score and lives to actually display.</a:t>
            </a:r>
            <a:endParaRPr lang="en-US" sz="1550" dirty="0"/>
          </a:p>
        </p:txBody>
      </p:sp>
      <p:sp>
        <p:nvSpPr>
          <p:cNvPr id="7" name="Text 4"/>
          <p:cNvSpPr/>
          <p:nvPr/>
        </p:nvSpPr>
        <p:spPr>
          <a:xfrm>
            <a:off x="548640" y="2103120"/>
            <a:ext cx="7315200" cy="365760"/>
          </a:xfrm>
          <a:prstGeom prst="rect">
            <a:avLst/>
          </a:prstGeom>
          <a:noFill/>
          <a:ln/>
        </p:spPr>
        <p:txBody>
          <a:bodyPr wrap="square" lIns="0" tIns="0" rIns="0" bIns="0" rtlCol="0" anchor="ctr"/>
          <a:lstStyle/>
          <a:p>
            <a:pPr indent="0" marL="0">
              <a:buNone/>
            </a:pPr>
            <a:r>
              <a:rPr lang="en-US" sz="1400" b="1" dirty="0">
                <a:solidFill>
                  <a:srgbClr val="1C4A86"/>
                </a:solidFill>
                <a:latin typeface="Calibri" pitchFamily="34" charset="0"/>
                <a:ea typeface="Calibri" pitchFamily="34" charset="-122"/>
                <a:cs typeface="Calibri" pitchFamily="34" charset="-120"/>
              </a:rPr>
              <a:t>Each engine's simplest built-in text tool:</a:t>
            </a:r>
            <a:endParaRPr lang="en-US" sz="1400" dirty="0"/>
          </a:p>
        </p:txBody>
      </p:sp>
      <p:sp>
        <p:nvSpPr>
          <p:cNvPr id="8" name="Text 5"/>
          <p:cNvSpPr/>
          <p:nvPr/>
        </p:nvSpPr>
        <p:spPr>
          <a:xfrm>
            <a:off x="548640" y="2514600"/>
            <a:ext cx="2377440" cy="384048"/>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Godot</a:t>
            </a:r>
            <a:endParaRPr lang="en-US" sz="1250" dirty="0"/>
          </a:p>
        </p:txBody>
      </p:sp>
      <p:sp>
        <p:nvSpPr>
          <p:cNvPr id="9" name="Text 6"/>
          <p:cNvSpPr/>
          <p:nvPr/>
        </p:nvSpPr>
        <p:spPr>
          <a:xfrm>
            <a:off x="2926080" y="2514600"/>
            <a:ext cx="3200400" cy="384048"/>
          </a:xfrm>
          <a:prstGeom prst="rect">
            <a:avLst/>
          </a:prstGeom>
          <a:noFill/>
          <a:ln/>
        </p:spPr>
        <p:txBody>
          <a:bodyPr wrap="square" lIns="0" tIns="0" rIns="0" bIns="0" rtlCol="0" anchor="ctr"/>
          <a:lstStyle/>
          <a:p>
            <a:pPr indent="0" marL="0">
              <a:buNone/>
            </a:pPr>
            <a:r>
              <a:rPr lang="en-US" sz="1150" dirty="0">
                <a:solidFill>
                  <a:srgbClr val="222222"/>
                </a:solidFill>
                <a:latin typeface="Courier New" pitchFamily="34" charset="0"/>
                <a:ea typeface="Courier New" pitchFamily="34" charset="-122"/>
                <a:cs typeface="Courier New" pitchFamily="34" charset="-120"/>
              </a:rPr>
              <a:t>a Label node</a:t>
            </a:r>
            <a:endParaRPr lang="en-US" sz="1150" dirty="0"/>
          </a:p>
        </p:txBody>
      </p:sp>
      <p:sp>
        <p:nvSpPr>
          <p:cNvPr id="10" name="Text 7"/>
          <p:cNvSpPr/>
          <p:nvPr/>
        </p:nvSpPr>
        <p:spPr>
          <a:xfrm>
            <a:off x="548640" y="2971800"/>
            <a:ext cx="2377440" cy="384048"/>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Unity</a:t>
            </a:r>
            <a:endParaRPr lang="en-US" sz="1250" dirty="0"/>
          </a:p>
        </p:txBody>
      </p:sp>
      <p:sp>
        <p:nvSpPr>
          <p:cNvPr id="11" name="Text 8"/>
          <p:cNvSpPr/>
          <p:nvPr/>
        </p:nvSpPr>
        <p:spPr>
          <a:xfrm>
            <a:off x="2926080" y="2971800"/>
            <a:ext cx="3200400" cy="384048"/>
          </a:xfrm>
          <a:prstGeom prst="rect">
            <a:avLst/>
          </a:prstGeom>
          <a:noFill/>
          <a:ln/>
        </p:spPr>
        <p:txBody>
          <a:bodyPr wrap="square" lIns="0" tIns="0" rIns="0" bIns="0" rtlCol="0" anchor="ctr"/>
          <a:lstStyle/>
          <a:p>
            <a:pPr indent="0" marL="0">
              <a:buNone/>
            </a:pPr>
            <a:r>
              <a:rPr lang="en-US" sz="1150" dirty="0">
                <a:solidFill>
                  <a:srgbClr val="222222"/>
                </a:solidFill>
                <a:latin typeface="Courier New" pitchFamily="34" charset="0"/>
                <a:ea typeface="Courier New" pitchFamily="34" charset="-122"/>
                <a:cs typeface="Courier New" pitchFamily="34" charset="-120"/>
              </a:rPr>
              <a:t>GUI.Label() inside OnGUI()</a:t>
            </a:r>
            <a:endParaRPr lang="en-US" sz="1150" dirty="0"/>
          </a:p>
        </p:txBody>
      </p:sp>
      <p:sp>
        <p:nvSpPr>
          <p:cNvPr id="12" name="Text 9"/>
          <p:cNvSpPr/>
          <p:nvPr/>
        </p:nvSpPr>
        <p:spPr>
          <a:xfrm>
            <a:off x="548640" y="3429000"/>
            <a:ext cx="2377440" cy="384048"/>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GameMaker</a:t>
            </a:r>
            <a:endParaRPr lang="en-US" sz="1250" dirty="0"/>
          </a:p>
        </p:txBody>
      </p:sp>
      <p:sp>
        <p:nvSpPr>
          <p:cNvPr id="13" name="Text 10"/>
          <p:cNvSpPr/>
          <p:nvPr/>
        </p:nvSpPr>
        <p:spPr>
          <a:xfrm>
            <a:off x="2926080" y="3429000"/>
            <a:ext cx="3200400" cy="384048"/>
          </a:xfrm>
          <a:prstGeom prst="rect">
            <a:avLst/>
          </a:prstGeom>
          <a:noFill/>
          <a:ln/>
        </p:spPr>
        <p:txBody>
          <a:bodyPr wrap="square" lIns="0" tIns="0" rIns="0" bIns="0" rtlCol="0" anchor="ctr"/>
          <a:lstStyle/>
          <a:p>
            <a:pPr indent="0" marL="0">
              <a:buNone/>
            </a:pPr>
            <a:r>
              <a:rPr lang="en-US" sz="1150" dirty="0">
                <a:solidFill>
                  <a:srgbClr val="222222"/>
                </a:solidFill>
                <a:latin typeface="Courier New" pitchFamily="34" charset="0"/>
                <a:ea typeface="Courier New" pitchFamily="34" charset="-122"/>
                <a:cs typeface="Courier New" pitchFamily="34" charset="-120"/>
              </a:rPr>
              <a:t>draw_text()</a:t>
            </a:r>
            <a:endParaRPr lang="en-US" sz="1150" dirty="0"/>
          </a:p>
        </p:txBody>
      </p:sp>
      <p:sp>
        <p:nvSpPr>
          <p:cNvPr id="14" name="Text 11"/>
          <p:cNvSpPr/>
          <p:nvPr/>
        </p:nvSpPr>
        <p:spPr>
          <a:xfrm>
            <a:off x="548640" y="3886200"/>
            <a:ext cx="2377440" cy="384048"/>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GDevelop</a:t>
            </a:r>
            <a:endParaRPr lang="en-US" sz="1250" dirty="0"/>
          </a:p>
        </p:txBody>
      </p:sp>
      <p:sp>
        <p:nvSpPr>
          <p:cNvPr id="15" name="Text 12"/>
          <p:cNvSpPr/>
          <p:nvPr/>
        </p:nvSpPr>
        <p:spPr>
          <a:xfrm>
            <a:off x="2926080" y="3886200"/>
            <a:ext cx="3200400" cy="384048"/>
          </a:xfrm>
          <a:prstGeom prst="rect">
            <a:avLst/>
          </a:prstGeom>
          <a:noFill/>
          <a:ln/>
        </p:spPr>
        <p:txBody>
          <a:bodyPr wrap="square" lIns="0" tIns="0" rIns="0" bIns="0" rtlCol="0" anchor="ctr"/>
          <a:lstStyle/>
          <a:p>
            <a:pPr indent="0" marL="0">
              <a:buNone/>
            </a:pPr>
            <a:r>
              <a:rPr lang="en-US" sz="1150" dirty="0">
                <a:solidFill>
                  <a:srgbClr val="222222"/>
                </a:solidFill>
                <a:latin typeface="Courier New" pitchFamily="34" charset="0"/>
                <a:ea typeface="Courier New" pitchFamily="34" charset="-122"/>
                <a:cs typeface="Courier New" pitchFamily="34" charset="-120"/>
              </a:rPr>
              <a:t>a Text object, shown on demand</a:t>
            </a:r>
            <a:endParaRPr lang="en-US" sz="1150" dirty="0"/>
          </a:p>
        </p:txBody>
      </p:sp>
      <p:sp>
        <p:nvSpPr>
          <p:cNvPr id="16" name="Text 13"/>
          <p:cNvSpPr/>
          <p:nvPr/>
        </p:nvSpPr>
        <p:spPr>
          <a:xfrm>
            <a:off x="6217920" y="2514600"/>
            <a:ext cx="2377440" cy="384048"/>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TIC-80</a:t>
            </a:r>
            <a:endParaRPr lang="en-US" sz="1250" dirty="0"/>
          </a:p>
        </p:txBody>
      </p:sp>
      <p:sp>
        <p:nvSpPr>
          <p:cNvPr id="17" name="Text 14"/>
          <p:cNvSpPr/>
          <p:nvPr/>
        </p:nvSpPr>
        <p:spPr>
          <a:xfrm>
            <a:off x="8595360" y="2514600"/>
            <a:ext cx="3200400" cy="384048"/>
          </a:xfrm>
          <a:prstGeom prst="rect">
            <a:avLst/>
          </a:prstGeom>
          <a:noFill/>
          <a:ln/>
        </p:spPr>
        <p:txBody>
          <a:bodyPr wrap="square" lIns="0" tIns="0" rIns="0" bIns="0" rtlCol="0" anchor="ctr"/>
          <a:lstStyle/>
          <a:p>
            <a:pPr indent="0" marL="0">
              <a:buNone/>
            </a:pPr>
            <a:r>
              <a:rPr lang="en-US" sz="1150" dirty="0">
                <a:solidFill>
                  <a:srgbClr val="222222"/>
                </a:solidFill>
                <a:latin typeface="Courier New" pitchFamily="34" charset="0"/>
                <a:ea typeface="Courier New" pitchFamily="34" charset="-122"/>
                <a:cs typeface="Courier New" pitchFamily="34" charset="-120"/>
              </a:rPr>
              <a:t>print()</a:t>
            </a:r>
            <a:endParaRPr lang="en-US" sz="1150" dirty="0"/>
          </a:p>
        </p:txBody>
      </p:sp>
      <p:sp>
        <p:nvSpPr>
          <p:cNvPr id="18" name="Text 15"/>
          <p:cNvSpPr/>
          <p:nvPr/>
        </p:nvSpPr>
        <p:spPr>
          <a:xfrm>
            <a:off x="6217920" y="2971800"/>
            <a:ext cx="2377440" cy="384048"/>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001 Game Creator</a:t>
            </a:r>
            <a:endParaRPr lang="en-US" sz="1250" dirty="0"/>
          </a:p>
        </p:txBody>
      </p:sp>
      <p:sp>
        <p:nvSpPr>
          <p:cNvPr id="19" name="Text 16"/>
          <p:cNvSpPr/>
          <p:nvPr/>
        </p:nvSpPr>
        <p:spPr>
          <a:xfrm>
            <a:off x="8595360" y="2971800"/>
            <a:ext cx="3200400" cy="384048"/>
          </a:xfrm>
          <a:prstGeom prst="rect">
            <a:avLst/>
          </a:prstGeom>
          <a:noFill/>
          <a:ln/>
        </p:spPr>
        <p:txBody>
          <a:bodyPr wrap="square" lIns="0" tIns="0" rIns="0" bIns="0" rtlCol="0" anchor="ctr"/>
          <a:lstStyle/>
          <a:p>
            <a:pPr indent="0" marL="0">
              <a:buNone/>
            </a:pPr>
            <a:r>
              <a:rPr lang="en-US" sz="1150" dirty="0">
                <a:solidFill>
                  <a:srgbClr val="222222"/>
                </a:solidFill>
                <a:latin typeface="Courier New" pitchFamily="34" charset="0"/>
                <a:ea typeface="Courier New" pitchFamily="34" charset="-122"/>
                <a:cs typeface="Courier New" pitchFamily="34" charset="-120"/>
              </a:rPr>
              <a:t>Message Box</a:t>
            </a:r>
            <a:endParaRPr lang="en-US" sz="1150" dirty="0"/>
          </a:p>
        </p:txBody>
      </p:sp>
      <p:sp>
        <p:nvSpPr>
          <p:cNvPr id="20" name="Text 17"/>
          <p:cNvSpPr/>
          <p:nvPr/>
        </p:nvSpPr>
        <p:spPr>
          <a:xfrm>
            <a:off x="6217920" y="3429000"/>
            <a:ext cx="2377440" cy="384048"/>
          </a:xfrm>
          <a:prstGeom prst="rect">
            <a:avLst/>
          </a:prstGeom>
          <a:noFill/>
          <a:ln/>
        </p:spPr>
        <p:txBody>
          <a:bodyPr wrap="square" lIns="0" tIns="0" rIns="0" bIns="0" rtlCol="0" anchor="ctr"/>
          <a:lstStyle/>
          <a:p>
            <a:pPr indent="0" marL="0">
              <a:buNone/>
            </a:pPr>
            <a:r>
              <a:rPr lang="en-US" sz="1250" b="1" dirty="0">
                <a:solidFill>
                  <a:srgbClr val="16305C"/>
                </a:solidFill>
                <a:latin typeface="Calibri" pitchFamily="34" charset="0"/>
                <a:ea typeface="Calibri" pitchFamily="34" charset="-122"/>
                <a:cs typeface="Calibri" pitchFamily="34" charset="-120"/>
              </a:rPr>
              <a:t>Unreal</a:t>
            </a:r>
            <a:endParaRPr lang="en-US" sz="1250" dirty="0"/>
          </a:p>
        </p:txBody>
      </p:sp>
      <p:sp>
        <p:nvSpPr>
          <p:cNvPr id="21" name="Text 18"/>
          <p:cNvSpPr/>
          <p:nvPr/>
        </p:nvSpPr>
        <p:spPr>
          <a:xfrm>
            <a:off x="8595360" y="3429000"/>
            <a:ext cx="3200400" cy="384048"/>
          </a:xfrm>
          <a:prstGeom prst="rect">
            <a:avLst/>
          </a:prstGeom>
          <a:noFill/>
          <a:ln/>
        </p:spPr>
        <p:txBody>
          <a:bodyPr wrap="square" lIns="0" tIns="0" rIns="0" bIns="0" rtlCol="0" anchor="ctr"/>
          <a:lstStyle/>
          <a:p>
            <a:pPr indent="0" marL="0">
              <a:buNone/>
            </a:pPr>
            <a:r>
              <a:rPr lang="en-US" sz="1150" dirty="0">
                <a:solidFill>
                  <a:srgbClr val="222222"/>
                </a:solidFill>
                <a:latin typeface="Courier New" pitchFamily="34" charset="0"/>
                <a:ea typeface="Courier New" pitchFamily="34" charset="-122"/>
                <a:cs typeface="Courier New" pitchFamily="34" charset="-120"/>
              </a:rPr>
              <a:t>Print String (Print to Screen)</a:t>
            </a:r>
            <a:endParaRPr lang="en-US" sz="1150" dirty="0"/>
          </a:p>
        </p:txBody>
      </p:sp>
      <p:sp>
        <p:nvSpPr>
          <p:cNvPr id="22" name="Shape 19"/>
          <p:cNvSpPr/>
          <p:nvPr/>
        </p:nvSpPr>
        <p:spPr>
          <a:xfrm>
            <a:off x="548640" y="4617720"/>
            <a:ext cx="11064240" cy="1280160"/>
          </a:xfrm>
          <a:prstGeom prst="roundRect">
            <a:avLst>
              <a:gd name="adj" fmla="val 8571"/>
            </a:avLst>
          </a:prstGeom>
          <a:solidFill>
            <a:srgbClr val="0F2C52"/>
          </a:solidFill>
          <a:ln w="12700">
            <a:solidFill>
              <a:srgbClr val="C99A2E"/>
            </a:solidFill>
            <a:prstDash val="solid"/>
          </a:ln>
        </p:spPr>
      </p:sp>
      <p:pic>
        <p:nvPicPr>
          <p:cNvPr id="23" name="Image 1" descr="icons/chat.png">    </p:cNvPr>
          <p:cNvPicPr>
            <a:picLocks noChangeAspect="1"/>
          </p:cNvPicPr>
          <p:nvPr/>
        </p:nvPicPr>
        <p:blipFill>
          <a:blip r:embed="rId2"/>
          <a:stretch>
            <a:fillRect/>
          </a:stretch>
        </p:blipFill>
        <p:spPr>
          <a:xfrm>
            <a:off x="777240" y="4828032"/>
            <a:ext cx="502920" cy="502920"/>
          </a:xfrm>
          <a:prstGeom prst="rect">
            <a:avLst/>
          </a:prstGeom>
        </p:spPr>
      </p:pic>
      <p:sp>
        <p:nvSpPr>
          <p:cNvPr id="24" name="Text 20"/>
          <p:cNvSpPr/>
          <p:nvPr/>
        </p:nvSpPr>
        <p:spPr>
          <a:xfrm>
            <a:off x="1463040" y="4754880"/>
            <a:ext cx="9966960" cy="1097280"/>
          </a:xfrm>
          <a:prstGeom prst="rect">
            <a:avLst/>
          </a:prstGeom>
          <a:noFill/>
          <a:ln/>
        </p:spPr>
        <p:txBody>
          <a:bodyPr wrap="square" lIns="0" tIns="0" rIns="0" bIns="0" rtlCol="0" anchor="ctr"/>
          <a:lstStyle/>
          <a:p>
            <a:pPr indent="0" marL="0">
              <a:buNone/>
            </a:pPr>
            <a:r>
              <a:rPr lang="en-US" sz="1300" i="1" dirty="0">
                <a:solidFill>
                  <a:srgbClr val="F4F0E6"/>
                </a:solidFill>
                <a:latin typeface="Calibri" pitchFamily="34" charset="0"/>
                <a:ea typeface="Calibri" pitchFamily="34" charset="-122"/>
                <a:cs typeface="Calibri" pitchFamily="34" charset="-120"/>
              </a:rPr>
              <a:t>Discussion: what other times is the "quick and ugly" version actually the right first step? (Placeholder art, a console log instead of a UI, a text menu instead of a styled one.)</a:t>
            </a:r>
            <a:endParaRPr lang="en-US" sz="1300" dirty="0"/>
          </a:p>
        </p:txBody>
      </p:sp>
      <p:sp>
        <p:nvSpPr>
          <p:cNvPr id="26" name="Text 21"/>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7" name="Text 22"/>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6</a:t>
            </a:r>
            <a:endParaRPr lang="en-US" sz="1000" dirty="0"/>
          </a:p>
        </p:txBody>
      </p:sp>
      <p:sp>
        <p:nvSpPr>
          <p:cNvPr id="28" name="Text 23"/>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bg_title_shiel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Milestone Moment</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What finishing the Level 1 MVP actually means.</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5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6</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Level 1 MVP</a:t>
            </a:r>
            <a:endParaRPr lang="en-US" sz="34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5 min</a:t>
            </a:r>
            <a:endParaRPr lang="en-US" sz="1200" dirty="0"/>
          </a:p>
        </p:txBody>
      </p:sp>
      <p:sp>
        <p:nvSpPr>
          <p:cNvPr id="6" name="Text 3"/>
          <p:cNvSpPr/>
          <p:nvPr/>
        </p:nvSpPr>
        <p:spPr>
          <a:xfrm>
            <a:off x="548640" y="1371600"/>
            <a:ext cx="10881360" cy="548640"/>
          </a:xfrm>
          <a:prstGeom prst="rect">
            <a:avLst/>
          </a:prstGeom>
          <a:noFill/>
          <a:ln/>
        </p:spPr>
        <p:txBody>
          <a:bodyPr wrap="square" lIns="0" tIns="0" rIns="0" bIns="0" rtlCol="0" anchor="ctr"/>
          <a:lstStyle/>
          <a:p>
            <a:pPr indent="0" marL="0">
              <a:buNone/>
            </a:pPr>
            <a:r>
              <a:rPr lang="en-US" sz="1600" b="1" dirty="0">
                <a:solidFill>
                  <a:srgbClr val="1C4A86"/>
                </a:solidFill>
                <a:latin typeface="Calibri" pitchFamily="34" charset="0"/>
                <a:ea typeface="Calibri" pitchFamily="34" charset="-122"/>
                <a:cs typeface="Calibri" pitchFamily="34" charset="-120"/>
              </a:rPr>
              <a:t>MVP = Minimum Viable Product: the smallest version of something that's still a real, complete, playable experience.</a:t>
            </a:r>
            <a:endParaRPr lang="en-US" sz="1600" dirty="0"/>
          </a:p>
        </p:txBody>
      </p:sp>
      <p:sp>
        <p:nvSpPr>
          <p:cNvPr id="7" name="Shape 4"/>
          <p:cNvSpPr/>
          <p:nvPr/>
        </p:nvSpPr>
        <p:spPr>
          <a:xfrm>
            <a:off x="548640" y="2148840"/>
            <a:ext cx="11064240" cy="1828800"/>
          </a:xfrm>
          <a:prstGeom prst="roundRect">
            <a:avLst>
              <a:gd name="adj" fmla="val 6000"/>
            </a:avLst>
          </a:prstGeom>
          <a:solidFill>
            <a:srgbClr val="EDF2F8"/>
          </a:solidFill>
          <a:ln/>
        </p:spPr>
      </p:sp>
      <p:sp>
        <p:nvSpPr>
          <p:cNvPr id="8" name="Text 5"/>
          <p:cNvSpPr/>
          <p:nvPr/>
        </p:nvSpPr>
        <p:spPr>
          <a:xfrm>
            <a:off x="822960" y="2331720"/>
            <a:ext cx="105156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Once your win condition works today, your game has:</a:t>
            </a:r>
            <a:endParaRPr lang="en-US" sz="1450" dirty="0"/>
          </a:p>
        </p:txBody>
      </p:sp>
      <p:pic>
        <p:nvPicPr>
          <p:cNvPr id="9" name="Image 1" descr="icons/check.png">    </p:cNvPr>
          <p:cNvPicPr>
            <a:picLocks noChangeAspect="1"/>
          </p:cNvPicPr>
          <p:nvPr/>
        </p:nvPicPr>
        <p:blipFill>
          <a:blip r:embed="rId2"/>
          <a:stretch>
            <a:fillRect/>
          </a:stretch>
        </p:blipFill>
        <p:spPr>
          <a:xfrm>
            <a:off x="822960" y="2743200"/>
            <a:ext cx="347472" cy="347472"/>
          </a:xfrm>
          <a:prstGeom prst="rect">
            <a:avLst/>
          </a:prstGeom>
        </p:spPr>
      </p:pic>
      <p:sp>
        <p:nvSpPr>
          <p:cNvPr id="10" name="Text 6"/>
          <p:cNvSpPr/>
          <p:nvPr/>
        </p:nvSpPr>
        <p:spPr>
          <a:xfrm>
            <a:off x="1234440" y="2724912"/>
            <a:ext cx="4572000" cy="384048"/>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Movement</a:t>
            </a:r>
            <a:endParaRPr lang="en-US" sz="1400" dirty="0"/>
          </a:p>
        </p:txBody>
      </p:sp>
      <p:pic>
        <p:nvPicPr>
          <p:cNvPr id="11" name="Image 2" descr="icons/check.png">    </p:cNvPr>
          <p:cNvPicPr>
            <a:picLocks noChangeAspect="1"/>
          </p:cNvPicPr>
          <p:nvPr/>
        </p:nvPicPr>
        <p:blipFill>
          <a:blip r:embed="rId3"/>
          <a:stretch>
            <a:fillRect/>
          </a:stretch>
        </p:blipFill>
        <p:spPr>
          <a:xfrm>
            <a:off x="6217920" y="2743200"/>
            <a:ext cx="347472" cy="347472"/>
          </a:xfrm>
          <a:prstGeom prst="rect">
            <a:avLst/>
          </a:prstGeom>
        </p:spPr>
      </p:pic>
      <p:sp>
        <p:nvSpPr>
          <p:cNvPr id="12" name="Text 7"/>
          <p:cNvSpPr/>
          <p:nvPr/>
        </p:nvSpPr>
        <p:spPr>
          <a:xfrm>
            <a:off x="6629400" y="2724912"/>
            <a:ext cx="4572000" cy="384048"/>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Shooting</a:t>
            </a:r>
            <a:endParaRPr lang="en-US" sz="1400" dirty="0"/>
          </a:p>
        </p:txBody>
      </p:sp>
      <p:pic>
        <p:nvPicPr>
          <p:cNvPr id="13" name="Image 3" descr="icons/check.png">    </p:cNvPr>
          <p:cNvPicPr>
            <a:picLocks noChangeAspect="1"/>
          </p:cNvPicPr>
          <p:nvPr/>
        </p:nvPicPr>
        <p:blipFill>
          <a:blip r:embed="rId4"/>
          <a:stretch>
            <a:fillRect/>
          </a:stretch>
        </p:blipFill>
        <p:spPr>
          <a:xfrm>
            <a:off x="822960" y="3291840"/>
            <a:ext cx="347472" cy="347472"/>
          </a:xfrm>
          <a:prstGeom prst="rect">
            <a:avLst/>
          </a:prstGeom>
        </p:spPr>
      </p:pic>
      <p:sp>
        <p:nvSpPr>
          <p:cNvPr id="14" name="Text 8"/>
          <p:cNvSpPr/>
          <p:nvPr/>
        </p:nvSpPr>
        <p:spPr>
          <a:xfrm>
            <a:off x="1234440" y="3273552"/>
            <a:ext cx="4572000" cy="384048"/>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Multiple enemies</a:t>
            </a:r>
            <a:endParaRPr lang="en-US" sz="1400" dirty="0"/>
          </a:p>
        </p:txBody>
      </p:sp>
      <p:pic>
        <p:nvPicPr>
          <p:cNvPr id="15" name="Image 4" descr="icons/check.png">    </p:cNvPr>
          <p:cNvPicPr>
            <a:picLocks noChangeAspect="1"/>
          </p:cNvPicPr>
          <p:nvPr/>
        </p:nvPicPr>
        <p:blipFill>
          <a:blip r:embed="rId5"/>
          <a:stretch>
            <a:fillRect/>
          </a:stretch>
        </p:blipFill>
        <p:spPr>
          <a:xfrm>
            <a:off x="6217920" y="3291840"/>
            <a:ext cx="347472" cy="347472"/>
          </a:xfrm>
          <a:prstGeom prst="rect">
            <a:avLst/>
          </a:prstGeom>
        </p:spPr>
      </p:pic>
      <p:sp>
        <p:nvSpPr>
          <p:cNvPr id="16" name="Text 9"/>
          <p:cNvSpPr/>
          <p:nvPr/>
        </p:nvSpPr>
        <p:spPr>
          <a:xfrm>
            <a:off x="6629400" y="3273552"/>
            <a:ext cx="4572000" cy="384048"/>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A win condition</a:t>
            </a:r>
            <a:endParaRPr lang="en-US" sz="1400" dirty="0"/>
          </a:p>
        </p:txBody>
      </p:sp>
      <p:sp>
        <p:nvSpPr>
          <p:cNvPr id="17" name="Shape 10"/>
          <p:cNvSpPr/>
          <p:nvPr/>
        </p:nvSpPr>
        <p:spPr>
          <a:xfrm>
            <a:off x="548640" y="4160520"/>
            <a:ext cx="11064240" cy="1737360"/>
          </a:xfrm>
          <a:prstGeom prst="roundRect">
            <a:avLst>
              <a:gd name="adj" fmla="val 6316"/>
            </a:avLst>
          </a:prstGeom>
          <a:solidFill>
            <a:srgbClr val="0F2C52"/>
          </a:solidFill>
          <a:ln w="12700">
            <a:solidFill>
              <a:srgbClr val="C99A2E"/>
            </a:solidFill>
            <a:prstDash val="solid"/>
          </a:ln>
        </p:spPr>
      </p:sp>
      <p:sp>
        <p:nvSpPr>
          <p:cNvPr id="18" name="Text 11"/>
          <p:cNvSpPr/>
          <p:nvPr/>
        </p:nvSpPr>
        <p:spPr>
          <a:xfrm>
            <a:off x="822960" y="4343400"/>
            <a:ext cx="10515600" cy="1371600"/>
          </a:xfrm>
          <a:prstGeom prst="rect">
            <a:avLst/>
          </a:prstGeom>
          <a:noFill/>
          <a:ln/>
        </p:spPr>
        <p:txBody>
          <a:bodyPr wrap="square" lIns="0" tIns="0" rIns="0" bIns="0" rtlCol="0" anchor="ctr"/>
          <a:lstStyle/>
          <a:p>
            <a:pPr indent="0" marL="0">
              <a:buNone/>
            </a:pPr>
            <a:r>
              <a:rPr lang="en-US" sz="1500" i="1" dirty="0">
                <a:solidFill>
                  <a:srgbClr val="F4F0E6"/>
                </a:solidFill>
                <a:latin typeface="Calibri" pitchFamily="34" charset="0"/>
                <a:ea typeface="Calibri" pitchFamily="34" charset="-122"/>
                <a:cs typeface="Calibri" pitchFamily="34" charset="-120"/>
              </a:rPr>
              <a:t>That's a complete, playable core loop - not impressive yet, but genuinely done, start to finish. Everything through Lesson 15 makes this same loop more complete, then more polished.</a:t>
            </a:r>
            <a:endParaRPr lang="en-US" sz="1500" dirty="0"/>
          </a:p>
        </p:txBody>
      </p:sp>
      <p:sp>
        <p:nvSpPr>
          <p:cNvPr id="20" name="Text 12"/>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1" name="Text 13"/>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6</a:t>
            </a:r>
            <a:endParaRPr lang="en-US" sz="1000" dirty="0"/>
          </a:p>
        </p:txBody>
      </p:sp>
      <p:sp>
        <p:nvSpPr>
          <p:cNvPr id="22" name="Text 14"/>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bg_title_production.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2834640" y="2377440"/>
            <a:ext cx="8412480" cy="914400"/>
          </a:xfrm>
          <a:prstGeom prst="rect">
            <a:avLst/>
          </a:prstGeom>
          <a:noFill/>
          <a:ln/>
        </p:spPr>
        <p:txBody>
          <a:bodyPr wrap="square" lIns="0" tIns="0" rIns="0" bIns="0" rtlCol="0" anchor="ctr"/>
          <a:lstStyle/>
          <a:p>
            <a:pPr indent="0" marL="0">
              <a:buNone/>
            </a:pPr>
            <a:r>
              <a:rPr lang="en-US" sz="4000" b="1" dirty="0">
                <a:solidFill>
                  <a:srgbClr val="E8C25A"/>
                </a:solidFill>
                <a:latin typeface="Cambria" pitchFamily="34" charset="0"/>
                <a:ea typeface="Cambria" pitchFamily="34" charset="-122"/>
                <a:cs typeface="Cambria" pitchFamily="34" charset="-120"/>
              </a:rPr>
              <a:t>Today's Exercise &amp; Lab</a:t>
            </a:r>
            <a:endParaRPr lang="en-US" sz="4000" dirty="0"/>
          </a:p>
        </p:txBody>
      </p:sp>
      <p:sp>
        <p:nvSpPr>
          <p:cNvPr id="4" name="Text 1"/>
          <p:cNvSpPr/>
          <p:nvPr/>
        </p:nvSpPr>
        <p:spPr>
          <a:xfrm>
            <a:off x="2880360" y="3337560"/>
            <a:ext cx="8229600" cy="640080"/>
          </a:xfrm>
          <a:prstGeom prst="rect">
            <a:avLst/>
          </a:prstGeom>
          <a:noFill/>
          <a:ln/>
        </p:spPr>
        <p:txBody>
          <a:bodyPr wrap="square" lIns="0" tIns="0" rIns="0" bIns="0" rtlCol="0" anchor="ctr"/>
          <a:lstStyle/>
          <a:p>
            <a:pPr indent="0" marL="0">
              <a:buNone/>
            </a:pPr>
            <a:r>
              <a:rPr lang="en-US" sz="1600" dirty="0">
                <a:solidFill>
                  <a:srgbClr val="F4F0E6"/>
                </a:solidFill>
                <a:latin typeface="Calibri" pitchFamily="34" charset="0"/>
                <a:ea typeface="Calibri" pitchFamily="34" charset="-122"/>
                <a:cs typeface="Calibri" pitchFamily="34" charset="-120"/>
              </a:rPr>
              <a:t>Victory Condition - finishing your Level 1 MVP milestone.</a:t>
            </a:r>
            <a:endParaRPr lang="en-US" sz="1600" dirty="0"/>
          </a:p>
        </p:txBody>
      </p:sp>
      <p:sp>
        <p:nvSpPr>
          <p:cNvPr id="5" name="Shape 2"/>
          <p:cNvSpPr/>
          <p:nvPr/>
        </p:nvSpPr>
        <p:spPr>
          <a:xfrm>
            <a:off x="2880360" y="3977640"/>
            <a:ext cx="1371600" cy="347472"/>
          </a:xfrm>
          <a:prstGeom prst="roundRect">
            <a:avLst>
              <a:gd name="adj" fmla="val 50000"/>
            </a:avLst>
          </a:prstGeom>
          <a:solidFill>
            <a:srgbClr val="0F2C52"/>
          </a:solidFill>
          <a:ln w="12700">
            <a:solidFill>
              <a:srgbClr val="C99A2E"/>
            </a:solidFill>
            <a:prstDash val="solid"/>
          </a:ln>
        </p:spPr>
      </p:sp>
      <p:sp>
        <p:nvSpPr>
          <p:cNvPr id="6" name="Text 3"/>
          <p:cNvSpPr/>
          <p:nvPr/>
        </p:nvSpPr>
        <p:spPr>
          <a:xfrm>
            <a:off x="2880360" y="3977640"/>
            <a:ext cx="1371600" cy="347472"/>
          </a:xfrm>
          <a:prstGeom prst="rect">
            <a:avLst/>
          </a:prstGeom>
          <a:noFill/>
          <a:ln/>
        </p:spPr>
        <p:txBody>
          <a:bodyPr wrap="square" lIns="0" tIns="0" rIns="0" bIns="0" rtlCol="0" anchor="ctr"/>
          <a:lstStyle/>
          <a:p>
            <a:pPr algn="ctr" indent="0" marL="0">
              <a:buNone/>
            </a:pPr>
            <a:r>
              <a:rPr lang="en-US" sz="1200" b="1" dirty="0">
                <a:solidFill>
                  <a:srgbClr val="E8C25A"/>
                </a:solidFill>
                <a:latin typeface="Calibri" pitchFamily="34" charset="0"/>
                <a:ea typeface="Calibri" pitchFamily="34" charset="-122"/>
                <a:cs typeface="Calibri" pitchFamily="34" charset="-120"/>
              </a:rPr>
              <a:t>10 min</a:t>
            </a:r>
            <a:endParaRPr lang="en-US" sz="12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6</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200" b="1" dirty="0">
                <a:solidFill>
                  <a:srgbClr val="1C4A86"/>
                </a:solidFill>
                <a:latin typeface="Cambria" pitchFamily="34" charset="0"/>
                <a:ea typeface="Cambria" pitchFamily="34" charset="-122"/>
                <a:cs typeface="Cambria" pitchFamily="34" charset="-120"/>
              </a:rPr>
              <a:t>Victory Condition</a:t>
            </a:r>
            <a:endParaRPr lang="en-US" sz="3200" dirty="0"/>
          </a:p>
        </p:txBody>
      </p:sp>
      <p:sp>
        <p:nvSpPr>
          <p:cNvPr id="4" name="Shape 1"/>
          <p:cNvSpPr/>
          <p:nvPr/>
        </p:nvSpPr>
        <p:spPr>
          <a:xfrm>
            <a:off x="10424160" y="457200"/>
            <a:ext cx="1188720" cy="347472"/>
          </a:xfrm>
          <a:prstGeom prst="roundRect">
            <a:avLst>
              <a:gd name="adj" fmla="val 50000"/>
            </a:avLst>
          </a:prstGeom>
          <a:solidFill>
            <a:srgbClr val="F4F0E6"/>
          </a:solidFill>
          <a:ln w="12700">
            <a:solidFill>
              <a:srgbClr val="C99A2E"/>
            </a:solidFill>
            <a:prstDash val="solid"/>
          </a:ln>
        </p:spPr>
      </p:sp>
      <p:sp>
        <p:nvSpPr>
          <p:cNvPr id="5" name="Text 2"/>
          <p:cNvSpPr/>
          <p:nvPr/>
        </p:nvSpPr>
        <p:spPr>
          <a:xfrm>
            <a:off x="10424160" y="457200"/>
            <a:ext cx="1188720" cy="347472"/>
          </a:xfrm>
          <a:prstGeom prst="rect">
            <a:avLst/>
          </a:prstGeom>
          <a:noFill/>
          <a:ln/>
        </p:spPr>
        <p:txBody>
          <a:bodyPr wrap="square" lIns="0" tIns="0" rIns="0" bIns="0" rtlCol="0" anchor="ctr"/>
          <a:lstStyle/>
          <a:p>
            <a:pPr algn="ctr" indent="0" marL="0">
              <a:buNone/>
            </a:pPr>
            <a:r>
              <a:rPr lang="en-US" sz="1200" b="1" dirty="0">
                <a:solidFill>
                  <a:srgbClr val="1C4A86"/>
                </a:solidFill>
                <a:latin typeface="Calibri" pitchFamily="34" charset="0"/>
                <a:ea typeface="Calibri" pitchFamily="34" charset="-122"/>
                <a:cs typeface="Calibri" pitchFamily="34" charset="-120"/>
              </a:rPr>
              <a:t>10 min</a:t>
            </a:r>
            <a:endParaRPr lang="en-US" sz="1200" dirty="0"/>
          </a:p>
        </p:txBody>
      </p:sp>
      <p:sp>
        <p:nvSpPr>
          <p:cNvPr id="6" name="Text 3"/>
          <p:cNvSpPr/>
          <p:nvPr/>
        </p:nvSpPr>
        <p:spPr>
          <a:xfrm>
            <a:off x="548640" y="1280160"/>
            <a:ext cx="10881360" cy="594360"/>
          </a:xfrm>
          <a:prstGeom prst="rect">
            <a:avLst/>
          </a:prstGeom>
          <a:noFill/>
          <a:ln/>
        </p:spPr>
        <p:txBody>
          <a:bodyPr wrap="square" lIns="0" tIns="0" rIns="0" bIns="0" rtlCol="0" anchor="ctr"/>
          <a:lstStyle/>
          <a:p>
            <a:pPr indent="0" marL="0">
              <a:buNone/>
            </a:pPr>
            <a:r>
              <a:rPr lang="en-US" sz="1450" dirty="0">
                <a:solidFill>
                  <a:srgbClr val="222222"/>
                </a:solidFill>
                <a:latin typeface="Calibri" pitchFamily="34" charset="0"/>
                <a:ea typeface="Calibri" pitchFamily="34" charset="-122"/>
                <a:cs typeface="Calibri" pitchFamily="34" charset="-120"/>
              </a:rPr>
              <a:t>"You Win!" appears the instant the last enemy is destroyed - built on top of your existing project.</a:t>
            </a:r>
            <a:endParaRPr lang="en-US" sz="1450" dirty="0"/>
          </a:p>
        </p:txBody>
      </p:sp>
      <p:sp>
        <p:nvSpPr>
          <p:cNvPr id="7" name="Shape 4"/>
          <p:cNvSpPr/>
          <p:nvPr/>
        </p:nvSpPr>
        <p:spPr>
          <a:xfrm>
            <a:off x="548640" y="2103120"/>
            <a:ext cx="3566160" cy="1920240"/>
          </a:xfrm>
          <a:prstGeom prst="roundRect">
            <a:avLst>
              <a:gd name="adj" fmla="val 4762"/>
            </a:avLst>
          </a:prstGeom>
          <a:solidFill>
            <a:srgbClr val="EDF2F8"/>
          </a:solidFill>
          <a:ln w="12700">
            <a:solidFill>
              <a:srgbClr val="DCE3EC"/>
            </a:solidFill>
            <a:prstDash val="solid"/>
          </a:ln>
        </p:spPr>
      </p:sp>
      <p:sp>
        <p:nvSpPr>
          <p:cNvPr id="8" name="Text 5"/>
          <p:cNvSpPr/>
          <p:nvPr/>
        </p:nvSpPr>
        <p:spPr>
          <a:xfrm>
            <a:off x="73152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1 - Minimal</a:t>
            </a:r>
            <a:endParaRPr lang="en-US" sz="1450" dirty="0"/>
          </a:p>
        </p:txBody>
      </p:sp>
      <p:sp>
        <p:nvSpPr>
          <p:cNvPr id="9" name="Text 6"/>
          <p:cNvSpPr/>
          <p:nvPr/>
        </p:nvSpPr>
        <p:spPr>
          <a:xfrm>
            <a:off x="73152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"You Win!" appears when the last enemy is destroyed.</a:t>
            </a:r>
            <a:endParaRPr lang="en-US" sz="1200" dirty="0"/>
          </a:p>
        </p:txBody>
      </p:sp>
      <p:sp>
        <p:nvSpPr>
          <p:cNvPr id="10" name="Text 7"/>
          <p:cNvSpPr/>
          <p:nvPr/>
        </p:nvSpPr>
        <p:spPr>
          <a:xfrm>
            <a:off x="73152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MVP - a complete finish for today.</a:t>
            </a:r>
            <a:endParaRPr lang="en-US" sz="1150" dirty="0"/>
          </a:p>
        </p:txBody>
      </p:sp>
      <p:sp>
        <p:nvSpPr>
          <p:cNvPr id="11" name="Shape 8"/>
          <p:cNvSpPr/>
          <p:nvPr/>
        </p:nvSpPr>
        <p:spPr>
          <a:xfrm>
            <a:off x="4297680" y="2103120"/>
            <a:ext cx="3566160" cy="1920240"/>
          </a:xfrm>
          <a:prstGeom prst="roundRect">
            <a:avLst>
              <a:gd name="adj" fmla="val 4762"/>
            </a:avLst>
          </a:prstGeom>
          <a:solidFill>
            <a:srgbClr val="EDF2F8"/>
          </a:solidFill>
          <a:ln w="12700">
            <a:solidFill>
              <a:srgbClr val="DCE3EC"/>
            </a:solidFill>
            <a:prstDash val="solid"/>
          </a:ln>
        </p:spPr>
      </p:sp>
      <p:sp>
        <p:nvSpPr>
          <p:cNvPr id="12" name="Text 9"/>
          <p:cNvSpPr/>
          <p:nvPr/>
        </p:nvSpPr>
        <p:spPr>
          <a:xfrm>
            <a:off x="448056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2 - Complete</a:t>
            </a:r>
            <a:endParaRPr lang="en-US" sz="1450" dirty="0"/>
          </a:p>
        </p:txBody>
      </p:sp>
      <p:sp>
        <p:nvSpPr>
          <p:cNvPr id="13" name="Text 10"/>
          <p:cNvSpPr/>
          <p:nvPr/>
        </p:nvSpPr>
        <p:spPr>
          <a:xfrm>
            <a:off x="448056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The message appears exactly once, at exactly the right time.</a:t>
            </a:r>
            <a:endParaRPr lang="en-US" sz="1200" dirty="0"/>
          </a:p>
        </p:txBody>
      </p:sp>
      <p:sp>
        <p:nvSpPr>
          <p:cNvPr id="14" name="Text 11"/>
          <p:cNvSpPr/>
          <p:nvPr/>
        </p:nvSpPr>
        <p:spPr>
          <a:xfrm>
            <a:off x="448056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Everything works end to end.</a:t>
            </a:r>
            <a:endParaRPr lang="en-US" sz="1150" dirty="0"/>
          </a:p>
        </p:txBody>
      </p:sp>
      <p:sp>
        <p:nvSpPr>
          <p:cNvPr id="15" name="Shape 12"/>
          <p:cNvSpPr/>
          <p:nvPr/>
        </p:nvSpPr>
        <p:spPr>
          <a:xfrm>
            <a:off x="8046720" y="2103120"/>
            <a:ext cx="3566160" cy="1920240"/>
          </a:xfrm>
          <a:prstGeom prst="roundRect">
            <a:avLst>
              <a:gd name="adj" fmla="val 4762"/>
            </a:avLst>
          </a:prstGeom>
          <a:solidFill>
            <a:srgbClr val="EDF2F8"/>
          </a:solidFill>
          <a:ln w="12700">
            <a:solidFill>
              <a:srgbClr val="DCE3EC"/>
            </a:solidFill>
            <a:prstDash val="solid"/>
          </a:ln>
        </p:spPr>
      </p:sp>
      <p:sp>
        <p:nvSpPr>
          <p:cNvPr id="16" name="Text 13"/>
          <p:cNvSpPr/>
          <p:nvPr/>
        </p:nvSpPr>
        <p:spPr>
          <a:xfrm>
            <a:off x="8229600" y="2240280"/>
            <a:ext cx="3200400" cy="365760"/>
          </a:xfrm>
          <a:prstGeom prst="rect">
            <a:avLst/>
          </a:prstGeom>
          <a:noFill/>
          <a:ln/>
        </p:spPr>
        <p:txBody>
          <a:bodyPr wrap="square" lIns="0" tIns="0" rIns="0" bIns="0" rtlCol="0" anchor="ctr"/>
          <a:lstStyle/>
          <a:p>
            <a:pPr indent="0" marL="0">
              <a:buNone/>
            </a:pPr>
            <a:r>
              <a:rPr lang="en-US" sz="1450" b="1" dirty="0">
                <a:solidFill>
                  <a:srgbClr val="1C4A86"/>
                </a:solidFill>
                <a:latin typeface="Calibri" pitchFamily="34" charset="0"/>
                <a:ea typeface="Calibri" pitchFamily="34" charset="-122"/>
                <a:cs typeface="Calibri" pitchFamily="34" charset="-120"/>
              </a:rPr>
              <a:t>Level 3 - Refined</a:t>
            </a:r>
            <a:endParaRPr lang="en-US" sz="1450" dirty="0"/>
          </a:p>
        </p:txBody>
      </p:sp>
      <p:sp>
        <p:nvSpPr>
          <p:cNvPr id="17" name="Text 14"/>
          <p:cNvSpPr/>
          <p:nvPr/>
        </p:nvSpPr>
        <p:spPr>
          <a:xfrm>
            <a:off x="8229600" y="2651760"/>
            <a:ext cx="3200400" cy="914400"/>
          </a:xfrm>
          <a:prstGeom prst="rect">
            <a:avLst/>
          </a:prstGeom>
          <a:noFill/>
          <a:ln/>
        </p:spPr>
        <p:txBody>
          <a:bodyPr wrap="square" lIns="0" tIns="0" rIns="0" bIns="0" rtlCol="0" anchor="ctr"/>
          <a:lstStyle/>
          <a:p>
            <a:pPr indent="0" marL="0">
              <a:buNone/>
            </a:pPr>
            <a:r>
              <a:rPr lang="en-US" sz="1200" dirty="0">
                <a:solidFill>
                  <a:srgbClr val="222222"/>
                </a:solidFill>
                <a:latin typeface="Calibri" pitchFamily="34" charset="0"/>
                <a:ea typeface="Calibri" pitchFamily="34" charset="-122"/>
                <a:cs typeface="Calibri" pitchFamily="34" charset="-120"/>
              </a:rPr>
              <a:t>Add a victory sound and/or a more celebratory message.</a:t>
            </a:r>
            <a:endParaRPr lang="en-US" sz="1200" dirty="0"/>
          </a:p>
        </p:txBody>
      </p:sp>
      <p:sp>
        <p:nvSpPr>
          <p:cNvPr id="18" name="Text 15"/>
          <p:cNvSpPr/>
          <p:nvPr/>
        </p:nvSpPr>
        <p:spPr>
          <a:xfrm>
            <a:off x="8229600" y="3566160"/>
            <a:ext cx="3200400" cy="365760"/>
          </a:xfrm>
          <a:prstGeom prst="rect">
            <a:avLst/>
          </a:prstGeom>
          <a:noFill/>
          <a:ln/>
        </p:spPr>
        <p:txBody>
          <a:bodyPr wrap="square" lIns="0" tIns="0" rIns="0" bIns="0" rtlCol="0" anchor="ctr"/>
          <a:lstStyle/>
          <a:p>
            <a:pPr indent="0" marL="0">
              <a:buNone/>
            </a:pPr>
            <a:r>
              <a:rPr lang="en-US" sz="1150" i="1" dirty="0">
                <a:solidFill>
                  <a:srgbClr val="C99A2E"/>
                </a:solidFill>
                <a:latin typeface="Calibri" pitchFamily="34" charset="0"/>
                <a:ea typeface="Calibri" pitchFamily="34" charset="-122"/>
                <a:cs typeface="Calibri" pitchFamily="34" charset="-120"/>
              </a:rPr>
              <a:t>Ready to share.</a:t>
            </a:r>
            <a:endParaRPr lang="en-US" sz="1150" dirty="0"/>
          </a:p>
        </p:txBody>
      </p:sp>
      <p:sp>
        <p:nvSpPr>
          <p:cNvPr id="19" name="Shape 16"/>
          <p:cNvSpPr/>
          <p:nvPr/>
        </p:nvSpPr>
        <p:spPr>
          <a:xfrm>
            <a:off x="548640" y="4297680"/>
            <a:ext cx="11064240" cy="1417320"/>
          </a:xfrm>
          <a:prstGeom prst="roundRect">
            <a:avLst>
              <a:gd name="adj" fmla="val 7742"/>
            </a:avLst>
          </a:prstGeom>
          <a:solidFill>
            <a:srgbClr val="0F2C52"/>
          </a:solidFill>
          <a:ln w="12700">
            <a:solidFill>
              <a:srgbClr val="C99A2E"/>
            </a:solidFill>
            <a:prstDash val="solid"/>
          </a:ln>
        </p:spPr>
      </p:sp>
      <p:pic>
        <p:nvPicPr>
          <p:cNvPr id="20" name="Image 1" descr="icons/wrench.png">    </p:cNvPr>
          <p:cNvPicPr>
            <a:picLocks noChangeAspect="1"/>
          </p:cNvPicPr>
          <p:nvPr/>
        </p:nvPicPr>
        <p:blipFill>
          <a:blip r:embed="rId2"/>
          <a:stretch>
            <a:fillRect/>
          </a:stretch>
        </p:blipFill>
        <p:spPr>
          <a:xfrm>
            <a:off x="777240" y="4498848"/>
            <a:ext cx="502920" cy="502920"/>
          </a:xfrm>
          <a:prstGeom prst="rect">
            <a:avLst/>
          </a:prstGeom>
        </p:spPr>
      </p:pic>
      <p:sp>
        <p:nvSpPr>
          <p:cNvPr id="21" name="Text 17"/>
          <p:cNvSpPr/>
          <p:nvPr/>
        </p:nvSpPr>
        <p:spPr>
          <a:xfrm>
            <a:off x="1463040" y="4407408"/>
            <a:ext cx="9966960" cy="1188720"/>
          </a:xfrm>
          <a:prstGeom prst="rect">
            <a:avLst/>
          </a:prstGeom>
          <a:noFill/>
          <a:ln/>
        </p:spPr>
        <p:txBody>
          <a:bodyPr wrap="square" lIns="0" tIns="0" rIns="0" bIns="0" rtlCol="0" anchor="ctr"/>
          <a:lstStyle/>
          <a:p>
            <a:pPr indent="0" marL="0">
              <a:buNone/>
            </a:pPr>
            <a:r>
              <a:rPr lang="en-US" sz="1250" dirty="0">
                <a:solidFill>
                  <a:srgbClr val="F4F0E6"/>
                </a:solidFill>
                <a:latin typeface="Calibri" pitchFamily="34" charset="0"/>
                <a:ea typeface="Calibri" pitchFamily="34" charset="-122"/>
                <a:cs typeface="Calibri" pitchFamily="34" charset="-120"/>
              </a:rPr>
              <a:t>Heads up: today's win-tracking code lives in a slightly different place than last week's hit-detection - your handout walks through exactly where for your engine.</a:t>
            </a:r>
            <a:endParaRPr lang="en-US" sz="1250" dirty="0"/>
          </a:p>
        </p:txBody>
      </p:sp>
      <p:sp>
        <p:nvSpPr>
          <p:cNvPr id="23" name="Text 18"/>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24" name="Text 19"/>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6</a:t>
            </a:r>
            <a:endParaRPr lang="en-US" sz="1000" dirty="0"/>
          </a:p>
        </p:txBody>
      </p:sp>
      <p:sp>
        <p:nvSpPr>
          <p:cNvPr id="25" name="Text 20"/>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bg_content.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 y="411480"/>
            <a:ext cx="8686800" cy="640080"/>
          </a:xfrm>
          <a:prstGeom prst="rect">
            <a:avLst/>
          </a:prstGeom>
          <a:noFill/>
          <a:ln/>
        </p:spPr>
        <p:txBody>
          <a:bodyPr wrap="square" lIns="0" tIns="0" rIns="0" bIns="0" rtlCol="0" anchor="ctr"/>
          <a:lstStyle/>
          <a:p>
            <a:pPr indent="0" marL="0">
              <a:buNone/>
            </a:pPr>
            <a:r>
              <a:rPr lang="en-US" sz="3400" b="1" dirty="0">
                <a:solidFill>
                  <a:srgbClr val="1C4A86"/>
                </a:solidFill>
                <a:latin typeface="Cambria" pitchFamily="34" charset="0"/>
                <a:ea typeface="Cambria" pitchFamily="34" charset="-122"/>
                <a:cs typeface="Cambria" pitchFamily="34" charset="-120"/>
              </a:rPr>
              <a:t>Lab Time Notes</a:t>
            </a:r>
            <a:endParaRPr lang="en-US" sz="3400" dirty="0"/>
          </a:p>
        </p:txBody>
      </p:sp>
      <p:pic>
        <p:nvPicPr>
          <p:cNvPr id="4" name="Image 1" descr="icons/wrench.png">    </p:cNvPr>
          <p:cNvPicPr>
            <a:picLocks noChangeAspect="1"/>
          </p:cNvPicPr>
          <p:nvPr/>
        </p:nvPicPr>
        <p:blipFill>
          <a:blip r:embed="rId2"/>
          <a:stretch>
            <a:fillRect/>
          </a:stretch>
        </p:blipFill>
        <p:spPr>
          <a:xfrm>
            <a:off x="10515600" y="365760"/>
            <a:ext cx="914400" cy="914400"/>
          </a:xfrm>
          <a:prstGeom prst="rect">
            <a:avLst/>
          </a:prstGeom>
        </p:spPr>
      </p:pic>
      <p:pic>
        <p:nvPicPr>
          <p:cNvPr id="5" name="Image 2" descr="icons/check.png">    </p:cNvPr>
          <p:cNvPicPr>
            <a:picLocks noChangeAspect="1"/>
          </p:cNvPicPr>
          <p:nvPr/>
        </p:nvPicPr>
        <p:blipFill>
          <a:blip r:embed="rId3"/>
          <a:stretch>
            <a:fillRect/>
          </a:stretch>
        </p:blipFill>
        <p:spPr>
          <a:xfrm>
            <a:off x="548640" y="1600200"/>
            <a:ext cx="384048" cy="384048"/>
          </a:xfrm>
          <a:prstGeom prst="rect">
            <a:avLst/>
          </a:prstGeom>
        </p:spPr>
      </p:pic>
      <p:sp>
        <p:nvSpPr>
          <p:cNvPr id="6" name="Text 1"/>
          <p:cNvSpPr/>
          <p:nvPr/>
        </p:nvSpPr>
        <p:spPr>
          <a:xfrm>
            <a:off x="1097280" y="1463040"/>
            <a:ext cx="10332720" cy="8229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Most common bug this week: an off-by-one error - the starting counter not matching the actual number of enemies spawned. Check the Lesson 5 spawn count first.</a:t>
            </a:r>
            <a:endParaRPr lang="en-US" sz="1400" dirty="0"/>
          </a:p>
        </p:txBody>
      </p:sp>
      <p:pic>
        <p:nvPicPr>
          <p:cNvPr id="7" name="Image 3" descr="icons/check.png">    </p:cNvPr>
          <p:cNvPicPr>
            <a:picLocks noChangeAspect="1"/>
          </p:cNvPicPr>
          <p:nvPr/>
        </p:nvPicPr>
        <p:blipFill>
          <a:blip r:embed="rId4"/>
          <a:stretch>
            <a:fillRect/>
          </a:stretch>
        </p:blipFill>
        <p:spPr>
          <a:xfrm>
            <a:off x="548640" y="2651760"/>
            <a:ext cx="384048" cy="384048"/>
          </a:xfrm>
          <a:prstGeom prst="rect">
            <a:avLst/>
          </a:prstGeom>
        </p:spPr>
      </p:pic>
      <p:sp>
        <p:nvSpPr>
          <p:cNvPr id="8" name="Text 2"/>
          <p:cNvSpPr/>
          <p:nvPr/>
        </p:nvSpPr>
        <p:spPr>
          <a:xfrm>
            <a:off x="1097280" y="2514600"/>
            <a:ext cx="10332720" cy="8229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Second most common: win-tracking code placed somewhere that runs every frame instead of only when an enemy is destroyed - can cause flickering or unpredictable behavior.</a:t>
            </a:r>
            <a:endParaRPr lang="en-US" sz="1400" dirty="0"/>
          </a:p>
        </p:txBody>
      </p:sp>
      <p:pic>
        <p:nvPicPr>
          <p:cNvPr id="9" name="Image 4" descr="icons/check.png">    </p:cNvPr>
          <p:cNvPicPr>
            <a:picLocks noChangeAspect="1"/>
          </p:cNvPicPr>
          <p:nvPr/>
        </p:nvPicPr>
        <p:blipFill>
          <a:blip r:embed="rId5"/>
          <a:stretch>
            <a:fillRect/>
          </a:stretch>
        </p:blipFill>
        <p:spPr>
          <a:xfrm>
            <a:off x="548640" y="3703320"/>
            <a:ext cx="384048" cy="384048"/>
          </a:xfrm>
          <a:prstGeom prst="rect">
            <a:avLst/>
          </a:prstGeom>
        </p:spPr>
      </p:pic>
      <p:sp>
        <p:nvSpPr>
          <p:cNvPr id="10" name="Text 3"/>
          <p:cNvSpPr/>
          <p:nvPr/>
        </p:nvSpPr>
        <p:spPr>
          <a:xfrm>
            <a:off x="1097280" y="3566160"/>
            <a:ext cx="10332720" cy="8229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No engine is especially harder this week, unlike Lesson 5's Scratch wrinkle - circulate normally.</a:t>
            </a:r>
            <a:endParaRPr lang="en-US" sz="1400" dirty="0"/>
          </a:p>
        </p:txBody>
      </p:sp>
      <p:pic>
        <p:nvPicPr>
          <p:cNvPr id="11" name="Image 5" descr="icons/check.png">    </p:cNvPr>
          <p:cNvPicPr>
            <a:picLocks noChangeAspect="1"/>
          </p:cNvPicPr>
          <p:nvPr/>
        </p:nvPicPr>
        <p:blipFill>
          <a:blip r:embed="rId6"/>
          <a:stretch>
            <a:fillRect/>
          </a:stretch>
        </p:blipFill>
        <p:spPr>
          <a:xfrm>
            <a:off x="548640" y="4754880"/>
            <a:ext cx="384048" cy="384048"/>
          </a:xfrm>
          <a:prstGeom prst="rect">
            <a:avLst/>
          </a:prstGeom>
        </p:spPr>
      </p:pic>
      <p:sp>
        <p:nvSpPr>
          <p:cNvPr id="12" name="Text 4"/>
          <p:cNvSpPr/>
          <p:nvPr/>
        </p:nvSpPr>
        <p:spPr>
          <a:xfrm>
            <a:off x="1097280" y="4617720"/>
            <a:ext cx="10332720" cy="822960"/>
          </a:xfrm>
          <a:prstGeom prst="rect">
            <a:avLst/>
          </a:prstGeom>
          <a:noFill/>
          <a:ln/>
        </p:spPr>
        <p:txBody>
          <a:bodyPr wrap="square" lIns="0" tIns="0" rIns="0" bIns="0" rtlCol="0" anchor="ctr"/>
          <a:lstStyle/>
          <a:p>
            <a:pPr indent="0" marL="0">
              <a:buNone/>
            </a:pPr>
            <a:r>
              <a:rPr lang="en-US" sz="1400" dirty="0">
                <a:solidFill>
                  <a:srgbClr val="222222"/>
                </a:solidFill>
                <a:latin typeface="Calibri" pitchFamily="34" charset="0"/>
                <a:ea typeface="Calibri" pitchFamily="34" charset="-122"/>
                <a:cs typeface="Calibri" pitchFamily="34" charset="-120"/>
              </a:rPr>
              <a:t>At 1:50, do a real celebration share-out - this is the Level 1 MVP milestone. Consider 3-4 students demoing a full win from start to finish.</a:t>
            </a:r>
            <a:endParaRPr lang="en-US" sz="1400" dirty="0"/>
          </a:p>
        </p:txBody>
      </p:sp>
      <p:sp>
        <p:nvSpPr>
          <p:cNvPr id="14" name="Text 5"/>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5A6472"/>
                </a:solidFill>
                <a:latin typeface="Calibri" pitchFamily="34" charset="0"/>
                <a:ea typeface="Calibri" pitchFamily="34" charset="-122"/>
                <a:cs typeface="Calibri" pitchFamily="34" charset="-120"/>
              </a:rPr>
              <a:t>VIDEO GAME CREATION</a:t>
            </a:r>
            <a:endParaRPr lang="en-US" sz="1000" dirty="0"/>
          </a:p>
        </p:txBody>
      </p:sp>
      <p:sp>
        <p:nvSpPr>
          <p:cNvPr id="15" name="Text 6"/>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Lesson 6</a:t>
            </a:r>
            <a:endParaRPr lang="en-US" sz="1000" dirty="0"/>
          </a:p>
        </p:txBody>
      </p:sp>
      <p:sp>
        <p:nvSpPr>
          <p:cNvPr id="16" name="Text 7"/>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5A6472"/>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bg_title_with_slhe.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0" y="2240280"/>
            <a:ext cx="12191695" cy="731520"/>
          </a:xfrm>
          <a:prstGeom prst="rect">
            <a:avLst/>
          </a:prstGeom>
          <a:noFill/>
          <a:ln/>
        </p:spPr>
        <p:txBody>
          <a:bodyPr wrap="square" lIns="0" tIns="0" rIns="0" bIns="0" rtlCol="0" anchor="ctr"/>
          <a:lstStyle/>
          <a:p>
            <a:pPr algn="ctr" indent="0" marL="0">
              <a:buNone/>
            </a:pPr>
            <a:r>
              <a:rPr lang="en-US" sz="4000" b="1" dirty="0">
                <a:solidFill>
                  <a:srgbClr val="E8C25A"/>
                </a:solidFill>
                <a:latin typeface="Cambria" pitchFamily="34" charset="0"/>
                <a:ea typeface="Cambria" pitchFamily="34" charset="-122"/>
                <a:cs typeface="Cambria" pitchFamily="34" charset="-120"/>
              </a:rPr>
              <a:t>Milestone Complete!</a:t>
            </a:r>
            <a:endParaRPr lang="en-US" sz="4000" dirty="0"/>
          </a:p>
        </p:txBody>
      </p:sp>
      <p:sp>
        <p:nvSpPr>
          <p:cNvPr id="4" name="Text 1"/>
          <p:cNvSpPr/>
          <p:nvPr/>
        </p:nvSpPr>
        <p:spPr>
          <a:xfrm>
            <a:off x="1371600" y="3063240"/>
            <a:ext cx="9448495" cy="548640"/>
          </a:xfrm>
          <a:prstGeom prst="rect">
            <a:avLst/>
          </a:prstGeom>
          <a:noFill/>
          <a:ln/>
        </p:spPr>
        <p:txBody>
          <a:bodyPr wrap="square" lIns="0" tIns="0" rIns="0" bIns="0" rtlCol="0" anchor="ctr"/>
          <a:lstStyle/>
          <a:p>
            <a:pPr algn="ctr" indent="0" marL="0">
              <a:buNone/>
            </a:pPr>
            <a:r>
              <a:rPr lang="en-US" sz="1700" dirty="0">
                <a:solidFill>
                  <a:srgbClr val="F4F0E6"/>
                </a:solidFill>
                <a:latin typeface="Calibri" pitchFamily="34" charset="0"/>
                <a:ea typeface="Calibri" pitchFamily="34" charset="-122"/>
                <a:cs typeface="Calibri" pitchFamily="34" charset="-120"/>
              </a:rPr>
              <a:t>Level 1 MVP: move, shoot, face enemies, and win - a complete, playable game loop.</a:t>
            </a:r>
            <a:endParaRPr lang="en-US" sz="1700" dirty="0"/>
          </a:p>
        </p:txBody>
      </p:sp>
      <p:sp>
        <p:nvSpPr>
          <p:cNvPr id="5" name="Text 2"/>
          <p:cNvSpPr/>
          <p:nvPr/>
        </p:nvSpPr>
        <p:spPr>
          <a:xfrm>
            <a:off x="1371600" y="3657600"/>
            <a:ext cx="9448495" cy="548640"/>
          </a:xfrm>
          <a:prstGeom prst="rect">
            <a:avLst/>
          </a:prstGeom>
          <a:noFill/>
          <a:ln/>
        </p:spPr>
        <p:txBody>
          <a:bodyPr wrap="square" lIns="0" tIns="0" rIns="0" bIns="0" rtlCol="0" anchor="ctr"/>
          <a:lstStyle/>
          <a:p>
            <a:pPr algn="ctr" indent="0" marL="0">
              <a:buNone/>
            </a:pPr>
            <a:r>
              <a:rPr lang="en-US" sz="1500" dirty="0">
                <a:solidFill>
                  <a:srgbClr val="F4F0E6"/>
                </a:solidFill>
                <a:latin typeface="Calibri" pitchFamily="34" charset="0"/>
                <a:ea typeface="Calibri" pitchFamily="34" charset="-122"/>
                <a:cs typeface="Calibri" pitchFamily="34" charset="-120"/>
              </a:rPr>
              <a:t>Next week: enemies that advance toward the player - the first step into Level 2.</a:t>
            </a:r>
            <a:endParaRPr lang="en-US" sz="1500" dirty="0"/>
          </a:p>
        </p:txBody>
      </p:sp>
      <p:sp>
        <p:nvSpPr>
          <p:cNvPr id="6" name="Text 3"/>
          <p:cNvSpPr/>
          <p:nvPr/>
        </p:nvSpPr>
        <p:spPr>
          <a:xfrm>
            <a:off x="1371600" y="4297680"/>
            <a:ext cx="9448495" cy="548640"/>
          </a:xfrm>
          <a:prstGeom prst="rect">
            <a:avLst/>
          </a:prstGeom>
          <a:noFill/>
          <a:ln/>
        </p:spPr>
        <p:txBody>
          <a:bodyPr wrap="square" lIns="0" tIns="0" rIns="0" bIns="0" rtlCol="0" anchor="ctr"/>
          <a:lstStyle/>
          <a:p>
            <a:pPr algn="ctr" indent="0" marL="0">
              <a:buNone/>
            </a:pPr>
            <a:r>
              <a:rPr lang="en-US" sz="1300" i="1" dirty="0">
                <a:solidFill>
                  <a:srgbClr val="9FB6D6"/>
                </a:solidFill>
                <a:latin typeface="Calibri" pitchFamily="34" charset="0"/>
                <a:ea typeface="Calibri" pitchFamily="34" charset="-122"/>
                <a:cs typeface="Calibri" pitchFamily="34" charset="-120"/>
              </a:rPr>
              <a:t>Keep polishing your win moment at home if you'd like - try one of the Level 3 ideas if you haven't already.</a:t>
            </a:r>
            <a:endParaRPr lang="en-US" sz="1300" dirty="0"/>
          </a:p>
        </p:txBody>
      </p:sp>
      <p:sp>
        <p:nvSpPr>
          <p:cNvPr id="7" name="Text 4"/>
          <p:cNvSpPr/>
          <p:nvPr/>
        </p:nvSpPr>
        <p:spPr>
          <a:xfrm>
            <a:off x="457200" y="6528816"/>
            <a:ext cx="4572000" cy="274320"/>
          </a:xfrm>
          <a:prstGeom prst="rect">
            <a:avLst/>
          </a:prstGeom>
          <a:noFill/>
          <a:ln/>
        </p:spPr>
        <p:txBody>
          <a:bodyPr wrap="square" lIns="0" tIns="0" rIns="0" bIns="0" rtlCol="0" anchor="ctr"/>
          <a:lstStyle/>
          <a:p>
            <a:pPr indent="0" marL="0">
              <a:buNone/>
            </a:pPr>
            <a:r>
              <a:rPr lang="en-US" sz="1000" b="1" spc="200" kern="0" dirty="0">
                <a:solidFill>
                  <a:srgbClr val="E8C25A"/>
                </a:solidFill>
                <a:latin typeface="Calibri" pitchFamily="34" charset="0"/>
                <a:ea typeface="Calibri" pitchFamily="34" charset="-122"/>
                <a:cs typeface="Calibri" pitchFamily="34" charset="-120"/>
              </a:rPr>
              <a:t>VIDEO GAME CREATION</a:t>
            </a:r>
            <a:endParaRPr lang="en-US" sz="1000" dirty="0"/>
          </a:p>
        </p:txBody>
      </p:sp>
      <p:sp>
        <p:nvSpPr>
          <p:cNvPr id="8" name="Text 5"/>
          <p:cNvSpPr/>
          <p:nvPr/>
        </p:nvSpPr>
        <p:spPr>
          <a:xfrm>
            <a:off x="10088575" y="6528816"/>
            <a:ext cx="137160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Lesson 6</a:t>
            </a:r>
            <a:endParaRPr lang="en-US" sz="1000" dirty="0"/>
          </a:p>
        </p:txBody>
      </p:sp>
      <p:sp>
        <p:nvSpPr>
          <p:cNvPr id="9" name="Text 6"/>
          <p:cNvSpPr/>
          <p:nvPr/>
        </p:nvSpPr>
        <p:spPr>
          <a:xfrm>
            <a:off x="11505895" y="6528816"/>
            <a:ext cx="411480" cy="274320"/>
          </a:xfrm>
          <a:prstGeom prst="rect">
            <a:avLst/>
          </a:prstGeom>
          <a:noFill/>
          <a:ln/>
        </p:spPr>
        <p:txBody>
          <a:bodyPr wrap="square" lIns="0" tIns="0" rIns="0" bIns="0" rtlCol="0" anchor="ctr"/>
          <a:lstStyle/>
          <a:p>
            <a:pPr algn="r" indent="0" marL="0">
              <a:buNone/>
            </a:pPr>
            <a:r>
              <a:rPr lang="en-US" sz="1000" dirty="0">
                <a:solidFill>
                  <a:srgbClr val="E8C25A"/>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2026-09-17T11:35:22Z</dcterms:created>
  <dcterms:modified xsi:type="dcterms:W3CDTF">2026-09-17T11:35:22Z</dcterms:modified>
</cp:coreProperties>
</file>