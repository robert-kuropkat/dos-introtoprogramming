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before you open your projects. Looking back at Lesson 6, we noticed the win-counter ended up living in a different place in almost every engine - the main scene here, the spawner there, one project's collision branch somewhere else. Only one of you, building in Unity, had it living on its own dedicated object built just to hold that kind of information. That turned out to be the better habit, so we've updated the Lesson 6 materials to match it everywhere, and I want you to update your own project too."
"It's a quick change, not a rebuild: create one object whose only job is holding game-wide information like the win-counter, and have everything else report to it instead of touching that number directly. Your updated Lesson 6 handout for your engine now shows exactly what that looks like - use it as your reference. Do this before you start today's movement work, since today's bug-fix discussion is about the exact same question: which piece of code should own which job."
[Give students 3-5 minutes to make the change if they haven't already, or confirm it's already in place. Circulate - GameMaker and Scratch tend to have the most questions here, since the retrofit is least like anything else they've built.]
[This slide's notes are a verbatim excerpt of the "[1:00-1:05] Today's Exercise &amp; Handouts" section of Lesson_07_Teacher_Script.docx - keep both in sync if either is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before we move on: why bother with a separate object for this at all? Couldn't the win-counter just keep living on the spawner, or the player, like it did before?" [Pause for guesses]
"A few real reasons this is worth doing, not just tidiness for its own sake. First - anyone joining this project later, including future-you in three weeks, has exactly one place to look for shared information, instead of having to remember or rediscover which object happens to be holding it this time. Second - it means objects don't have to reach into each other's private variables to get work done; the Bullet doesn't need to know anything about how the Spawner is built, it just talks to the GameManager. Third, and this is the one that pays off soonest: next lesson we're adding lives, and the lesson after that, score. Both of those are exactly the same kind of shared, game-wide information as today's win-counter - and they already have an obvious home waiting for them."
[Demo cue, optional: pull up any one engine's GameManager object live and point out it currently holds exactly two things - point out that by Lesson 9 it'll hold four, and that's the design working as intended, not scope creep.]
"This pattern has a bunch of different names depending on who you ask - Game Manager, Singleton, Game State - but it's the same idea everywhere: one object, one job, holding information the rest of the game needs to share."
[This slide's notes are a verbatim excerpt of the "[1:00-1:05] Today's Exercise &amp; Handouts" section of Lesson_07_Teacher_Script.docx - keep both in sync if either is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2.png"/><Relationship Id="rId4" Type="http://schemas.openxmlformats.org/officeDocument/2006/relationships/image" Target="../media/image-16-2.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3.png"/><Relationship Id="rId5" Type="http://schemas.openxmlformats.org/officeDocument/2006/relationships/image" Target="../media/image-18-3.png"/><Relationship Id="rId6" Type="http://schemas.openxmlformats.org/officeDocument/2006/relationships/image" Target="../media/image-18-3.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7</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Core Mechanics I: On the Move</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7  -  Core Mechanics Unit Begins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7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Implement continuous, frame-rate-independent movement</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Distinguish "destroyed by a hit" from "destroyed by escaping"</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why generic "on destroyed" hooks can silently misfire</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Relocate state-changing logic to the specific event it belongs to</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Godot,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GameMaker, for the bug-discussion contrast</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logic-only lesson</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6 -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game loops and continuous simulation, event-driven programming, debugging and code correctness (introductory).</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417320"/>
            <a:ext cx="11064240" cy="548640"/>
          </a:xfrm>
          <a:prstGeom prst="roundRect">
            <a:avLst>
              <a:gd name="adj" fmla="val 13333"/>
            </a:avLst>
          </a:prstGeom>
          <a:solidFill>
            <a:srgbClr val="FFFFFF"/>
          </a:solidFill>
          <a:ln w="12700">
            <a:solidFill>
              <a:srgbClr val="DCE3EC"/>
            </a:solidFill>
            <a:prstDash val="solid"/>
          </a:ln>
        </p:spPr>
      </p:sp>
      <p:sp>
        <p:nvSpPr>
          <p:cNvPr id="6" name="Text 2"/>
          <p:cNvSpPr/>
          <p:nvPr/>
        </p:nvSpPr>
        <p:spPr>
          <a:xfrm>
            <a:off x="822960" y="1417320"/>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0:00 - 0:05</a:t>
            </a:r>
            <a:endParaRPr lang="en-US" sz="1350" dirty="0"/>
          </a:p>
        </p:txBody>
      </p:sp>
      <p:sp>
        <p:nvSpPr>
          <p:cNvPr id="7" name="Text 3"/>
          <p:cNvSpPr/>
          <p:nvPr/>
        </p:nvSpPr>
        <p:spPr>
          <a:xfrm>
            <a:off x="3017520" y="1417320"/>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Welcome back, Lesson 6 recap, milestone check-in</a:t>
            </a:r>
            <a:endParaRPr lang="en-US" sz="1280" dirty="0"/>
          </a:p>
        </p:txBody>
      </p:sp>
      <p:sp>
        <p:nvSpPr>
          <p:cNvPr id="8" name="Shape 4"/>
          <p:cNvSpPr/>
          <p:nvPr/>
        </p:nvSpPr>
        <p:spPr>
          <a:xfrm>
            <a:off x="548640" y="2066544"/>
            <a:ext cx="11064240" cy="548640"/>
          </a:xfrm>
          <a:prstGeom prst="roundRect">
            <a:avLst>
              <a:gd name="adj" fmla="val 13333"/>
            </a:avLst>
          </a:prstGeom>
          <a:solidFill>
            <a:srgbClr val="FFFFFF"/>
          </a:solidFill>
          <a:ln w="12700">
            <a:solidFill>
              <a:srgbClr val="DCE3EC"/>
            </a:solidFill>
            <a:prstDash val="solid"/>
          </a:ln>
        </p:spPr>
      </p:sp>
      <p:sp>
        <p:nvSpPr>
          <p:cNvPr id="9" name="Text 5"/>
          <p:cNvSpPr/>
          <p:nvPr/>
        </p:nvSpPr>
        <p:spPr>
          <a:xfrm>
            <a:off x="822960" y="206654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0:05 - 0:20</a:t>
            </a:r>
            <a:endParaRPr lang="en-US" sz="1350" dirty="0"/>
          </a:p>
        </p:txBody>
      </p:sp>
      <p:sp>
        <p:nvSpPr>
          <p:cNvPr id="10" name="Text 6"/>
          <p:cNvSpPr/>
          <p:nvPr/>
        </p:nvSpPr>
        <p:spPr>
          <a:xfrm>
            <a:off x="3017520" y="206654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New Unit: Core Mechanics - what's ahead through Lesson 11</a:t>
            </a:r>
            <a:endParaRPr lang="en-US" sz="1280" dirty="0"/>
          </a:p>
        </p:txBody>
      </p:sp>
      <p:sp>
        <p:nvSpPr>
          <p:cNvPr id="11" name="Shape 7"/>
          <p:cNvSpPr/>
          <p:nvPr/>
        </p:nvSpPr>
        <p:spPr>
          <a:xfrm>
            <a:off x="548640" y="2715768"/>
            <a:ext cx="11064240" cy="548640"/>
          </a:xfrm>
          <a:prstGeom prst="roundRect">
            <a:avLst>
              <a:gd name="adj" fmla="val 13333"/>
            </a:avLst>
          </a:prstGeom>
          <a:solidFill>
            <a:srgbClr val="FFFFFF"/>
          </a:solidFill>
          <a:ln w="12700">
            <a:solidFill>
              <a:srgbClr val="DCE3EC"/>
            </a:solidFill>
            <a:prstDash val="solid"/>
          </a:ln>
        </p:spPr>
      </p:sp>
      <p:sp>
        <p:nvSpPr>
          <p:cNvPr id="12" name="Text 8"/>
          <p:cNvSpPr/>
          <p:nvPr/>
        </p:nvSpPr>
        <p:spPr>
          <a:xfrm>
            <a:off x="822960" y="271576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0:20 - 0:40</a:t>
            </a:r>
            <a:endParaRPr lang="en-US" sz="1350" dirty="0"/>
          </a:p>
        </p:txBody>
      </p:sp>
      <p:sp>
        <p:nvSpPr>
          <p:cNvPr id="13" name="Text 9"/>
          <p:cNvSpPr/>
          <p:nvPr/>
        </p:nvSpPr>
        <p:spPr>
          <a:xfrm>
            <a:off x="3017520" y="271576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Movement That Doesn't Stop: Continuous Motion</a:t>
            </a:r>
            <a:endParaRPr lang="en-US" sz="1280" dirty="0"/>
          </a:p>
        </p:txBody>
      </p:sp>
      <p:sp>
        <p:nvSpPr>
          <p:cNvPr id="14" name="Shape 10"/>
          <p:cNvSpPr/>
          <p:nvPr/>
        </p:nvSpPr>
        <p:spPr>
          <a:xfrm>
            <a:off x="548640" y="3364992"/>
            <a:ext cx="11064240" cy="548640"/>
          </a:xfrm>
          <a:prstGeom prst="roundRect">
            <a:avLst>
              <a:gd name="adj" fmla="val 13333"/>
            </a:avLst>
          </a:prstGeom>
          <a:solidFill>
            <a:srgbClr val="FFFFFF"/>
          </a:solidFill>
          <a:ln w="12700">
            <a:solidFill>
              <a:srgbClr val="DCE3EC"/>
            </a:solidFill>
            <a:prstDash val="solid"/>
          </a:ln>
        </p:spPr>
      </p:sp>
      <p:sp>
        <p:nvSpPr>
          <p:cNvPr id="15" name="Text 11"/>
          <p:cNvSpPr/>
          <p:nvPr/>
        </p:nvSpPr>
        <p:spPr>
          <a:xfrm>
            <a:off x="822960" y="3364992"/>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0:40 - 1:00</a:t>
            </a:r>
            <a:endParaRPr lang="en-US" sz="1350" dirty="0"/>
          </a:p>
        </p:txBody>
      </p:sp>
      <p:sp>
        <p:nvSpPr>
          <p:cNvPr id="16" name="Text 12"/>
          <p:cNvSpPr/>
          <p:nvPr/>
        </p:nvSpPr>
        <p:spPr>
          <a:xfrm>
            <a:off x="3017520" y="3364992"/>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The Hidden Bug: When "Destroyed" Doesn't Mean "Defeated"</a:t>
            </a:r>
            <a:endParaRPr lang="en-US" sz="1280" dirty="0"/>
          </a:p>
        </p:txBody>
      </p:sp>
      <p:sp>
        <p:nvSpPr>
          <p:cNvPr id="17" name="Shape 13"/>
          <p:cNvSpPr/>
          <p:nvPr/>
        </p:nvSpPr>
        <p:spPr>
          <a:xfrm>
            <a:off x="548640" y="4014216"/>
            <a:ext cx="11064240" cy="548640"/>
          </a:xfrm>
          <a:prstGeom prst="roundRect">
            <a:avLst>
              <a:gd name="adj" fmla="val 13333"/>
            </a:avLst>
          </a:prstGeom>
          <a:solidFill>
            <a:srgbClr val="FFFFFF"/>
          </a:solidFill>
          <a:ln w="12700">
            <a:solidFill>
              <a:srgbClr val="DCE3EC"/>
            </a:solidFill>
            <a:prstDash val="solid"/>
          </a:ln>
        </p:spPr>
      </p:sp>
      <p:sp>
        <p:nvSpPr>
          <p:cNvPr id="18" name="Text 14"/>
          <p:cNvSpPr/>
          <p:nvPr/>
        </p:nvSpPr>
        <p:spPr>
          <a:xfrm>
            <a:off x="822960" y="4014216"/>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1:00 - 1:05</a:t>
            </a:r>
            <a:endParaRPr lang="en-US" sz="1350" dirty="0"/>
          </a:p>
        </p:txBody>
      </p:sp>
      <p:sp>
        <p:nvSpPr>
          <p:cNvPr id="19" name="Text 15"/>
          <p:cNvSpPr/>
          <p:nvPr/>
        </p:nvSpPr>
        <p:spPr>
          <a:xfrm>
            <a:off x="3017520" y="4014216"/>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Introduce lab exercise, hand out engine-specific handouts</a:t>
            </a:r>
            <a:endParaRPr lang="en-US" sz="1280" dirty="0"/>
          </a:p>
        </p:txBody>
      </p:sp>
      <p:sp>
        <p:nvSpPr>
          <p:cNvPr id="20" name="Shape 16"/>
          <p:cNvSpPr/>
          <p:nvPr/>
        </p:nvSpPr>
        <p:spPr>
          <a:xfrm>
            <a:off x="548640" y="4663440"/>
            <a:ext cx="11064240" cy="457200"/>
          </a:xfrm>
          <a:prstGeom prst="roundRect">
            <a:avLst>
              <a:gd name="adj" fmla="val 16000"/>
            </a:avLst>
          </a:prstGeom>
          <a:solidFill>
            <a:srgbClr val="C99A2E"/>
          </a:solidFill>
          <a:ln w="12700">
            <a:solidFill>
              <a:srgbClr val="DCE3EC"/>
            </a:solidFill>
            <a:prstDash val="solid"/>
          </a:ln>
        </p:spPr>
      </p:sp>
      <p:sp>
        <p:nvSpPr>
          <p:cNvPr id="21" name="Text 17"/>
          <p:cNvSpPr/>
          <p:nvPr/>
        </p:nvSpPr>
        <p:spPr>
          <a:xfrm>
            <a:off x="822960" y="4663440"/>
            <a:ext cx="2103120" cy="457200"/>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LAB TIME</a:t>
            </a:r>
            <a:endParaRPr lang="en-US" sz="1300" dirty="0"/>
          </a:p>
        </p:txBody>
      </p:sp>
      <p:sp>
        <p:nvSpPr>
          <p:cNvPr id="22" name="Text 18"/>
          <p:cNvSpPr/>
          <p:nvPr/>
        </p:nvSpPr>
        <p:spPr>
          <a:xfrm>
            <a:off x="3017520" y="4663440"/>
            <a:ext cx="8412480" cy="457200"/>
          </a:xfrm>
          <a:prstGeom prst="rect">
            <a:avLst/>
          </a:prstGeom>
          <a:noFill/>
          <a:ln/>
        </p:spPr>
        <p:txBody>
          <a:bodyPr wrap="square" lIns="0" tIns="0" rIns="0" bIns="0" rtlCol="0" anchor="ctr"/>
          <a:lstStyle/>
          <a:p>
            <a:pPr indent="0" marL="0">
              <a:buNone/>
            </a:pPr>
            <a:r>
              <a:rPr lang="en-US" sz="1300" b="1" i="1" dirty="0">
                <a:solidFill>
                  <a:srgbClr val="16305C"/>
                </a:solidFill>
                <a:latin typeface="Calibri" pitchFamily="34" charset="0"/>
                <a:ea typeface="Calibri" pitchFamily="34" charset="-122"/>
                <a:cs typeface="Calibri" pitchFamily="34" charset="-120"/>
              </a:rPr>
              <a:t>— On the Move —</a:t>
            </a:r>
            <a:endParaRPr lang="en-US" sz="1300" dirty="0"/>
          </a:p>
        </p:txBody>
      </p:sp>
      <p:sp>
        <p:nvSpPr>
          <p:cNvPr id="23" name="Shape 19"/>
          <p:cNvSpPr/>
          <p:nvPr/>
        </p:nvSpPr>
        <p:spPr>
          <a:xfrm>
            <a:off x="548640" y="5221224"/>
            <a:ext cx="11064240" cy="548640"/>
          </a:xfrm>
          <a:prstGeom prst="roundRect">
            <a:avLst>
              <a:gd name="adj" fmla="val 13333"/>
            </a:avLst>
          </a:prstGeom>
          <a:solidFill>
            <a:srgbClr val="FFFFFF"/>
          </a:solidFill>
          <a:ln w="12700">
            <a:solidFill>
              <a:srgbClr val="DCE3EC"/>
            </a:solidFill>
            <a:prstDash val="solid"/>
          </a:ln>
        </p:spPr>
      </p:sp>
      <p:sp>
        <p:nvSpPr>
          <p:cNvPr id="24" name="Text 20"/>
          <p:cNvSpPr/>
          <p:nvPr/>
        </p:nvSpPr>
        <p:spPr>
          <a:xfrm>
            <a:off x="822960" y="522122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1:05 - 1:55</a:t>
            </a:r>
            <a:endParaRPr lang="en-US" sz="1350" dirty="0"/>
          </a:p>
        </p:txBody>
      </p:sp>
      <p:sp>
        <p:nvSpPr>
          <p:cNvPr id="25" name="Text 21"/>
          <p:cNvSpPr/>
          <p:nvPr/>
        </p:nvSpPr>
        <p:spPr>
          <a:xfrm>
            <a:off x="3017520" y="522122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Advance enemies toward the player + escape cleanup</a:t>
            </a:r>
            <a:endParaRPr lang="en-US" sz="1280" dirty="0"/>
          </a:p>
        </p:txBody>
      </p:sp>
      <p:sp>
        <p:nvSpPr>
          <p:cNvPr id="26" name="Shape 22"/>
          <p:cNvSpPr/>
          <p:nvPr/>
        </p:nvSpPr>
        <p:spPr>
          <a:xfrm>
            <a:off x="548640" y="5870448"/>
            <a:ext cx="11064240" cy="548640"/>
          </a:xfrm>
          <a:prstGeom prst="roundRect">
            <a:avLst>
              <a:gd name="adj" fmla="val 13333"/>
            </a:avLst>
          </a:prstGeom>
          <a:solidFill>
            <a:srgbClr val="FFFFFF"/>
          </a:solidFill>
          <a:ln w="12700">
            <a:solidFill>
              <a:srgbClr val="DCE3EC"/>
            </a:solidFill>
            <a:prstDash val="solid"/>
          </a:ln>
        </p:spPr>
      </p:sp>
      <p:sp>
        <p:nvSpPr>
          <p:cNvPr id="27" name="Text 23"/>
          <p:cNvSpPr/>
          <p:nvPr/>
        </p:nvSpPr>
        <p:spPr>
          <a:xfrm>
            <a:off x="822960" y="587044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1:55 - 2:00</a:t>
            </a:r>
            <a:endParaRPr lang="en-US" sz="1350" dirty="0"/>
          </a:p>
        </p:txBody>
      </p:sp>
      <p:sp>
        <p:nvSpPr>
          <p:cNvPr id="28" name="Text 24"/>
          <p:cNvSpPr/>
          <p:nvPr/>
        </p:nvSpPr>
        <p:spPr>
          <a:xfrm>
            <a:off x="3017520" y="587044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Exit check / quick share-out</a:t>
            </a:r>
            <a:endParaRPr lang="en-US" sz="128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6 recap - you hit the Level 1 MVP milestone.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7</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6:</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working win condition - the final piece of the Level 1 MVP milestone</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complete, playable game loop: move, shoot, face enemies, win</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enemies stop standing still - the first step into Level 2</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wrench.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either, this is a logic-only lesson.</a:t>
            </a:r>
            <a:endParaRPr lang="en-US" sz="1400" dirty="0"/>
          </a:p>
        </p:txBody>
      </p:sp>
      <p:sp>
        <p:nvSpPr>
          <p:cNvPr id="16"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7"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18"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New Unit: Core Mechanics</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Collision, scoring, win/lose states, simple UI - Lessons 7 through 11.</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7</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Core Mechanics</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15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You just finished "Programming Basics" - variables, loops, collision, state tracking. Starting today, a new unit builds toward a complete, replayable arcade shooter.</a:t>
            </a:r>
            <a:endParaRPr lang="en-US" sz="1550" dirty="0"/>
          </a:p>
        </p:txBody>
      </p:sp>
      <p:sp>
        <p:nvSpPr>
          <p:cNvPr id="7" name="Shape 4"/>
          <p:cNvSpPr/>
          <p:nvPr/>
        </p:nvSpPr>
        <p:spPr>
          <a:xfrm>
            <a:off x="548640" y="2331720"/>
            <a:ext cx="11064240" cy="566928"/>
          </a:xfrm>
          <a:prstGeom prst="roundRect">
            <a:avLst>
              <a:gd name="adj" fmla="val 12903"/>
            </a:avLst>
          </a:prstGeom>
          <a:solidFill>
            <a:srgbClr val="0F2C52"/>
          </a:solidFill>
          <a:ln/>
        </p:spPr>
      </p:sp>
      <p:sp>
        <p:nvSpPr>
          <p:cNvPr id="8" name="Text 5"/>
          <p:cNvSpPr/>
          <p:nvPr/>
        </p:nvSpPr>
        <p:spPr>
          <a:xfrm>
            <a:off x="822960" y="2331720"/>
            <a:ext cx="1828800" cy="566928"/>
          </a:xfrm>
          <a:prstGeom prst="rect">
            <a:avLst/>
          </a:prstGeom>
          <a:noFill/>
          <a:ln/>
        </p:spPr>
        <p:txBody>
          <a:bodyPr wrap="square" lIns="0" tIns="0" rIns="0" bIns="0" rtlCol="0" anchor="ctr"/>
          <a:lstStyle/>
          <a:p>
            <a:pPr indent="0" marL="0">
              <a:buNone/>
            </a:pPr>
            <a:r>
              <a:rPr lang="en-US" sz="1350" b="1" dirty="0">
                <a:solidFill>
                  <a:srgbClr val="E8C25A"/>
                </a:solidFill>
                <a:latin typeface="Calibri" pitchFamily="34" charset="0"/>
                <a:ea typeface="Calibri" pitchFamily="34" charset="-122"/>
                <a:cs typeface="Calibri" pitchFamily="34" charset="-120"/>
              </a:rPr>
              <a:t>Lesson 7</a:t>
            </a:r>
            <a:endParaRPr lang="en-US" sz="1350" dirty="0"/>
          </a:p>
        </p:txBody>
      </p:sp>
      <p:sp>
        <p:nvSpPr>
          <p:cNvPr id="9" name="Text 6"/>
          <p:cNvSpPr/>
          <p:nvPr/>
        </p:nvSpPr>
        <p:spPr>
          <a:xfrm>
            <a:off x="2743200" y="2331720"/>
            <a:ext cx="8595360" cy="566928"/>
          </a:xfrm>
          <a:prstGeom prst="rect">
            <a:avLst/>
          </a:prstGeom>
          <a:noFill/>
          <a:ln/>
        </p:spPr>
        <p:txBody>
          <a:bodyPr wrap="square" lIns="0" tIns="0" rIns="0" bIns="0" rtlCol="0" anchor="ctr"/>
          <a:lstStyle/>
          <a:p>
            <a:pPr indent="0" marL="0">
              <a:buNone/>
            </a:pPr>
            <a:r>
              <a:rPr lang="en-US" sz="1300" dirty="0">
                <a:solidFill>
                  <a:srgbClr val="F4F0E6"/>
                </a:solidFill>
                <a:latin typeface="Calibri" pitchFamily="34" charset="0"/>
                <a:ea typeface="Calibri" pitchFamily="34" charset="-122"/>
                <a:cs typeface="Calibri" pitchFamily="34" charset="-120"/>
              </a:rPr>
              <a:t>Enemies advance toward the player (today)</a:t>
            </a:r>
            <a:endParaRPr lang="en-US" sz="1300" dirty="0"/>
          </a:p>
        </p:txBody>
      </p:sp>
      <p:sp>
        <p:nvSpPr>
          <p:cNvPr id="10" name="Shape 7"/>
          <p:cNvSpPr/>
          <p:nvPr/>
        </p:nvSpPr>
        <p:spPr>
          <a:xfrm>
            <a:off x="548640" y="2990088"/>
            <a:ext cx="11064240" cy="566928"/>
          </a:xfrm>
          <a:prstGeom prst="roundRect">
            <a:avLst>
              <a:gd name="adj" fmla="val 12903"/>
            </a:avLst>
          </a:prstGeom>
          <a:solidFill>
            <a:srgbClr val="EDF2F8"/>
          </a:solidFill>
          <a:ln/>
        </p:spPr>
      </p:sp>
      <p:sp>
        <p:nvSpPr>
          <p:cNvPr id="11" name="Text 8"/>
          <p:cNvSpPr/>
          <p:nvPr/>
        </p:nvSpPr>
        <p:spPr>
          <a:xfrm>
            <a:off x="822960" y="2990088"/>
            <a:ext cx="1828800" cy="566928"/>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Lesson 8</a:t>
            </a:r>
            <a:endParaRPr lang="en-US" sz="1350" dirty="0"/>
          </a:p>
        </p:txBody>
      </p:sp>
      <p:sp>
        <p:nvSpPr>
          <p:cNvPr id="12" name="Text 9"/>
          <p:cNvSpPr/>
          <p:nvPr/>
        </p:nvSpPr>
        <p:spPr>
          <a:xfrm>
            <a:off x="2743200" y="2990088"/>
            <a:ext cx="8595360" cy="56692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Lose condition + lives system</a:t>
            </a:r>
            <a:endParaRPr lang="en-US" sz="1300" dirty="0"/>
          </a:p>
        </p:txBody>
      </p:sp>
      <p:sp>
        <p:nvSpPr>
          <p:cNvPr id="13" name="Shape 10"/>
          <p:cNvSpPr/>
          <p:nvPr/>
        </p:nvSpPr>
        <p:spPr>
          <a:xfrm>
            <a:off x="548640" y="3648456"/>
            <a:ext cx="11064240" cy="566928"/>
          </a:xfrm>
          <a:prstGeom prst="roundRect">
            <a:avLst>
              <a:gd name="adj" fmla="val 12903"/>
            </a:avLst>
          </a:prstGeom>
          <a:solidFill>
            <a:srgbClr val="EDF2F8"/>
          </a:solidFill>
          <a:ln/>
        </p:spPr>
      </p:sp>
      <p:sp>
        <p:nvSpPr>
          <p:cNvPr id="14" name="Text 11"/>
          <p:cNvSpPr/>
          <p:nvPr/>
        </p:nvSpPr>
        <p:spPr>
          <a:xfrm>
            <a:off x="822960" y="3648456"/>
            <a:ext cx="1828800" cy="566928"/>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Lesson 9</a:t>
            </a:r>
            <a:endParaRPr lang="en-US" sz="1350" dirty="0"/>
          </a:p>
        </p:txBody>
      </p:sp>
      <p:sp>
        <p:nvSpPr>
          <p:cNvPr id="15" name="Text 12"/>
          <p:cNvSpPr/>
          <p:nvPr/>
        </p:nvSpPr>
        <p:spPr>
          <a:xfrm>
            <a:off x="2743200" y="3648456"/>
            <a:ext cx="8595360" cy="56692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Score tracking + basic on-screen UI</a:t>
            </a:r>
            <a:endParaRPr lang="en-US" sz="1300" dirty="0"/>
          </a:p>
        </p:txBody>
      </p:sp>
      <p:sp>
        <p:nvSpPr>
          <p:cNvPr id="16" name="Shape 13"/>
          <p:cNvSpPr/>
          <p:nvPr/>
        </p:nvSpPr>
        <p:spPr>
          <a:xfrm>
            <a:off x="548640" y="4306824"/>
            <a:ext cx="11064240" cy="566928"/>
          </a:xfrm>
          <a:prstGeom prst="roundRect">
            <a:avLst>
              <a:gd name="adj" fmla="val 12903"/>
            </a:avLst>
          </a:prstGeom>
          <a:solidFill>
            <a:srgbClr val="EDF2F8"/>
          </a:solidFill>
          <a:ln/>
        </p:spPr>
      </p:sp>
      <p:sp>
        <p:nvSpPr>
          <p:cNvPr id="17" name="Text 14"/>
          <p:cNvSpPr/>
          <p:nvPr/>
        </p:nvSpPr>
        <p:spPr>
          <a:xfrm>
            <a:off x="822960" y="4306824"/>
            <a:ext cx="1828800" cy="566928"/>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Lesson 10</a:t>
            </a:r>
            <a:endParaRPr lang="en-US" sz="1350" dirty="0"/>
          </a:p>
        </p:txBody>
      </p:sp>
      <p:sp>
        <p:nvSpPr>
          <p:cNvPr id="18" name="Text 15"/>
          <p:cNvSpPr/>
          <p:nvPr/>
        </p:nvSpPr>
        <p:spPr>
          <a:xfrm>
            <a:off x="2743200" y="4306824"/>
            <a:ext cx="8595360" cy="56692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Game-over and restart flow</a:t>
            </a:r>
            <a:endParaRPr lang="en-US" sz="1300" dirty="0"/>
          </a:p>
        </p:txBody>
      </p:sp>
      <p:sp>
        <p:nvSpPr>
          <p:cNvPr id="19" name="Shape 16"/>
          <p:cNvSpPr/>
          <p:nvPr/>
        </p:nvSpPr>
        <p:spPr>
          <a:xfrm>
            <a:off x="548640" y="4965192"/>
            <a:ext cx="11064240" cy="566928"/>
          </a:xfrm>
          <a:prstGeom prst="roundRect">
            <a:avLst>
              <a:gd name="adj" fmla="val 12903"/>
            </a:avLst>
          </a:prstGeom>
          <a:solidFill>
            <a:srgbClr val="EDF2F8"/>
          </a:solidFill>
          <a:ln/>
        </p:spPr>
      </p:sp>
      <p:sp>
        <p:nvSpPr>
          <p:cNvPr id="20" name="Text 17"/>
          <p:cNvSpPr/>
          <p:nvPr/>
        </p:nvSpPr>
        <p:spPr>
          <a:xfrm>
            <a:off x="822960" y="4965192"/>
            <a:ext cx="1828800" cy="566928"/>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Lesson 11</a:t>
            </a:r>
            <a:endParaRPr lang="en-US" sz="1350" dirty="0"/>
          </a:p>
        </p:txBody>
      </p:sp>
      <p:sp>
        <p:nvSpPr>
          <p:cNvPr id="21" name="Text 18"/>
          <p:cNvSpPr/>
          <p:nvPr/>
        </p:nvSpPr>
        <p:spPr>
          <a:xfrm>
            <a:off x="2743200" y="4965192"/>
            <a:ext cx="8595360" cy="566928"/>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Multiple waves - Level 2 Complete milestone</a:t>
            </a:r>
            <a:endParaRPr lang="en-US" sz="1300" dirty="0"/>
          </a:p>
        </p:txBody>
      </p:sp>
      <p:sp>
        <p:nvSpPr>
          <p:cNvPr id="22" name="Text 1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3" name="Text 2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24" name="Text 2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Movement That Doesn't Stop</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Enemies that move every frame, with nothing triggering it.</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7</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Continuous Motion</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68580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So far, everything has moved in response to something - a key press, a spawn. Today's movement just keeps happening, every single frame, forever.</a:t>
            </a:r>
            <a:endParaRPr lang="en-US" sz="1550" dirty="0"/>
          </a:p>
        </p:txBody>
      </p:sp>
      <p:sp>
        <p:nvSpPr>
          <p:cNvPr id="7" name="Shape 4"/>
          <p:cNvSpPr/>
          <p:nvPr/>
        </p:nvSpPr>
        <p:spPr>
          <a:xfrm>
            <a:off x="548640" y="2194560"/>
            <a:ext cx="11064240" cy="1554480"/>
          </a:xfrm>
          <a:prstGeom prst="roundRect">
            <a:avLst>
              <a:gd name="adj" fmla="val 7059"/>
            </a:avLst>
          </a:prstGeom>
          <a:solidFill>
            <a:srgbClr val="EDF2F8"/>
          </a:solidFill>
          <a:ln/>
        </p:spPr>
      </p:sp>
      <p:pic>
        <p:nvPicPr>
          <p:cNvPr id="8" name="Image 1" descr="icons/programming.png">    </p:cNvPr>
          <p:cNvPicPr>
            <a:picLocks noChangeAspect="1"/>
          </p:cNvPicPr>
          <p:nvPr/>
        </p:nvPicPr>
        <p:blipFill>
          <a:blip r:embed="rId2"/>
          <a:stretch>
            <a:fillRect/>
          </a:stretch>
        </p:blipFill>
        <p:spPr>
          <a:xfrm>
            <a:off x="777240" y="2423160"/>
            <a:ext cx="502920" cy="502920"/>
          </a:xfrm>
          <a:prstGeom prst="rect">
            <a:avLst/>
          </a:prstGeom>
        </p:spPr>
      </p:pic>
      <p:sp>
        <p:nvSpPr>
          <p:cNvPr id="9" name="Text 5"/>
          <p:cNvSpPr/>
          <p:nvPr/>
        </p:nvSpPr>
        <p:spPr>
          <a:xfrm>
            <a:off x="1463040" y="2331720"/>
            <a:ext cx="9966960" cy="12801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Multiply movement by delta (time since the last frame) to keep speed the same no matter how fast the game runs - the same pattern player movement has used since Lesson 2.</a:t>
            </a:r>
            <a:endParaRPr lang="en-US" sz="1450" dirty="0"/>
          </a:p>
        </p:txBody>
      </p:sp>
      <p:sp>
        <p:nvSpPr>
          <p:cNvPr id="10" name="Text 6"/>
          <p:cNvSpPr/>
          <p:nvPr/>
        </p:nvSpPr>
        <p:spPr>
          <a:xfrm>
            <a:off x="548640" y="3931920"/>
            <a:ext cx="10881360" cy="50292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Every enemy also gets a bottom-of-screen check: reach the bottom unshot, and it's removed - but does NOT count as a kill.</a:t>
            </a:r>
            <a:endParaRPr lang="en-US" sz="1450" dirty="0"/>
          </a:p>
        </p:txBody>
      </p:sp>
      <p:sp>
        <p:nvSpPr>
          <p:cNvPr id="11" name="Shape 7"/>
          <p:cNvSpPr/>
          <p:nvPr/>
        </p:nvSpPr>
        <p:spPr>
          <a:xfrm>
            <a:off x="548640" y="4572000"/>
            <a:ext cx="11064240" cy="1143000"/>
          </a:xfrm>
          <a:prstGeom prst="roundRect">
            <a:avLst>
              <a:gd name="adj" fmla="val 9600"/>
            </a:avLst>
          </a:prstGeom>
          <a:solidFill>
            <a:srgbClr val="0F2C52"/>
          </a:solidFill>
          <a:ln w="12700">
            <a:solidFill>
              <a:srgbClr val="C99A2E"/>
            </a:solidFill>
            <a:prstDash val="solid"/>
          </a:ln>
        </p:spPr>
      </p:sp>
      <p:pic>
        <p:nvPicPr>
          <p:cNvPr id="12" name="Image 2" descr="icons/chat.png">    </p:cNvPr>
          <p:cNvPicPr>
            <a:picLocks noChangeAspect="1"/>
          </p:cNvPicPr>
          <p:nvPr/>
        </p:nvPicPr>
        <p:blipFill>
          <a:blip r:embed="rId3"/>
          <a:stretch>
            <a:fillRect/>
          </a:stretch>
        </p:blipFill>
        <p:spPr>
          <a:xfrm>
            <a:off x="777240" y="4754880"/>
            <a:ext cx="502920" cy="502920"/>
          </a:xfrm>
          <a:prstGeom prst="rect">
            <a:avLst/>
          </a:prstGeom>
        </p:spPr>
      </p:pic>
      <p:sp>
        <p:nvSpPr>
          <p:cNvPr id="13" name="Text 8"/>
          <p:cNvSpPr/>
          <p:nvPr/>
        </p:nvSpPr>
        <p:spPr>
          <a:xfrm>
            <a:off x="1463040" y="4663440"/>
            <a:ext cx="9966960" cy="960120"/>
          </a:xfrm>
          <a:prstGeom prst="rect">
            <a:avLst/>
          </a:prstGeom>
          <a:noFill/>
          <a:ln/>
        </p:spPr>
        <p:txBody>
          <a:bodyPr wrap="square" lIns="0" tIns="0" rIns="0" bIns="0" rtlCol="0" anchor="ctr"/>
          <a:lstStyle/>
          <a:p>
            <a:pPr indent="0" marL="0">
              <a:buNone/>
            </a:pPr>
            <a:r>
              <a:rPr lang="en-US" sz="1350" i="1" dirty="0">
                <a:solidFill>
                  <a:srgbClr val="F4F0E6"/>
                </a:solidFill>
                <a:latin typeface="Calibri" pitchFamily="34" charset="0"/>
                <a:ea typeface="Calibri" pitchFamily="34" charset="-122"/>
                <a:cs typeface="Calibri" pitchFamily="34" charset="-120"/>
              </a:rPr>
              <a:t>Discussion: what else in a game has to run continuously rather than in response to an event? (A countdown timer, a camera following the player, gravity.)</a:t>
            </a:r>
            <a:endParaRPr lang="en-US" sz="1350" dirty="0"/>
          </a:p>
        </p:txBody>
      </p:sp>
      <p:sp>
        <p:nvSpPr>
          <p:cNvPr id="14"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16"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wrench.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The Hidden Bug</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When "destroyed" doesn't mean "defeated."</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7</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60120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Two Ways to Disappear</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part 1</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Now that enemies move, there are TWO reasons one might stop existing - and only one of them should count as a win.</a:t>
            </a:r>
            <a:endParaRPr lang="en-US" sz="1550" dirty="0"/>
          </a:p>
        </p:txBody>
      </p:sp>
      <p:sp>
        <p:nvSpPr>
          <p:cNvPr id="7" name="Shape 4"/>
          <p:cNvSpPr/>
          <p:nvPr/>
        </p:nvSpPr>
        <p:spPr>
          <a:xfrm>
            <a:off x="548640" y="2194560"/>
            <a:ext cx="5394960" cy="1737360"/>
          </a:xfrm>
          <a:prstGeom prst="roundRect">
            <a:avLst>
              <a:gd name="adj" fmla="val 5263"/>
            </a:avLst>
          </a:prstGeom>
          <a:solidFill>
            <a:srgbClr val="EDF2F8"/>
          </a:solidFill>
          <a:ln w="12700">
            <a:solidFill>
              <a:srgbClr val="DCE3EC"/>
            </a:solidFill>
            <a:prstDash val="solid"/>
          </a:ln>
        </p:spPr>
      </p:sp>
      <p:sp>
        <p:nvSpPr>
          <p:cNvPr id="8" name="Text 5"/>
          <p:cNvSpPr/>
          <p:nvPr/>
        </p:nvSpPr>
        <p:spPr>
          <a:xfrm>
            <a:off x="777240" y="2377440"/>
            <a:ext cx="493776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Shot</a:t>
            </a:r>
            <a:endParaRPr lang="en-US" sz="1600" dirty="0"/>
          </a:p>
        </p:txBody>
      </p:sp>
      <p:sp>
        <p:nvSpPr>
          <p:cNvPr id="9" name="Text 6"/>
          <p:cNvSpPr/>
          <p:nvPr/>
        </p:nvSpPr>
        <p:spPr>
          <a:xfrm>
            <a:off x="777240" y="2788920"/>
            <a:ext cx="4937760" cy="10515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Destroyed by a bullet - this IS a kill. Should count toward the win condition.</a:t>
            </a:r>
            <a:endParaRPr lang="en-US" sz="1300" dirty="0"/>
          </a:p>
        </p:txBody>
      </p:sp>
      <p:sp>
        <p:nvSpPr>
          <p:cNvPr id="10" name="Shape 7"/>
          <p:cNvSpPr/>
          <p:nvPr/>
        </p:nvSpPr>
        <p:spPr>
          <a:xfrm>
            <a:off x="6217920" y="2194560"/>
            <a:ext cx="5394960" cy="1737360"/>
          </a:xfrm>
          <a:prstGeom prst="roundRect">
            <a:avLst>
              <a:gd name="adj" fmla="val 5263"/>
            </a:avLst>
          </a:prstGeom>
          <a:solidFill>
            <a:srgbClr val="EDF2F8"/>
          </a:solidFill>
          <a:ln w="12700">
            <a:solidFill>
              <a:srgbClr val="DCE3EC"/>
            </a:solidFill>
            <a:prstDash val="solid"/>
          </a:ln>
        </p:spPr>
      </p:sp>
      <p:sp>
        <p:nvSpPr>
          <p:cNvPr id="11" name="Text 8"/>
          <p:cNvSpPr/>
          <p:nvPr/>
        </p:nvSpPr>
        <p:spPr>
          <a:xfrm>
            <a:off x="6446520" y="2377440"/>
            <a:ext cx="493776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Escaped</a:t>
            </a:r>
            <a:endParaRPr lang="en-US" sz="1600" dirty="0"/>
          </a:p>
        </p:txBody>
      </p:sp>
      <p:sp>
        <p:nvSpPr>
          <p:cNvPr id="12" name="Text 9"/>
          <p:cNvSpPr/>
          <p:nvPr/>
        </p:nvSpPr>
        <p:spPr>
          <a:xfrm>
            <a:off x="6446520" y="2788920"/>
            <a:ext cx="4937760" cy="10515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Reached the bottom of the screen unshot - NOT a kill. Must never count.</a:t>
            </a:r>
            <a:endParaRPr lang="en-US" sz="1300" dirty="0"/>
          </a:p>
        </p:txBody>
      </p:sp>
      <p:sp>
        <p:nvSpPr>
          <p:cNvPr id="13" name="Shape 10"/>
          <p:cNvSpPr/>
          <p:nvPr/>
        </p:nvSpPr>
        <p:spPr>
          <a:xfrm>
            <a:off x="548640" y="4206240"/>
            <a:ext cx="11064240" cy="1508760"/>
          </a:xfrm>
          <a:prstGeom prst="roundRect">
            <a:avLst>
              <a:gd name="adj" fmla="val 7273"/>
            </a:avLst>
          </a:prstGeom>
          <a:solidFill>
            <a:srgbClr val="0F2C52"/>
          </a:solidFill>
          <a:ln w="12700">
            <a:solidFill>
              <a:srgbClr val="C99A2E"/>
            </a:solidFill>
            <a:prstDash val="solid"/>
          </a:ln>
        </p:spPr>
      </p:sp>
      <p:pic>
        <p:nvPicPr>
          <p:cNvPr id="14" name="Image 1" descr="icons/wrench.png">    </p:cNvPr>
          <p:cNvPicPr>
            <a:picLocks noChangeAspect="1"/>
          </p:cNvPicPr>
          <p:nvPr/>
        </p:nvPicPr>
        <p:blipFill>
          <a:blip r:embed="rId2"/>
          <a:stretch>
            <a:fillRect/>
          </a:stretch>
        </p:blipFill>
        <p:spPr>
          <a:xfrm>
            <a:off x="777240" y="4434840"/>
            <a:ext cx="548640" cy="548640"/>
          </a:xfrm>
          <a:prstGeom prst="rect">
            <a:avLst/>
          </a:prstGeom>
        </p:spPr>
      </p:pic>
      <p:sp>
        <p:nvSpPr>
          <p:cNvPr id="15" name="Text 11"/>
          <p:cNvSpPr/>
          <p:nvPr/>
        </p:nvSpPr>
        <p:spPr>
          <a:xfrm>
            <a:off x="1508760" y="4343400"/>
            <a:ext cx="9875520" cy="1280160"/>
          </a:xfrm>
          <a:prstGeom prst="rect">
            <a:avLst/>
          </a:prstGeom>
          <a:noFill/>
          <a:ln/>
        </p:spPr>
        <p:txBody>
          <a:bodyPr wrap="square" lIns="0" tIns="0" rIns="0" bIns="0" rtlCol="0" anchor="ctr"/>
          <a:lstStyle/>
          <a:p>
            <a:pPr indent="0" marL="0">
              <a:buNone/>
            </a:pPr>
            <a:r>
              <a:rPr lang="en-US" sz="1300" dirty="0">
                <a:solidFill>
                  <a:srgbClr val="F4F0E6"/>
                </a:solidFill>
                <a:latin typeface="Calibri" pitchFamily="34" charset="0"/>
                <a:ea typeface="Calibri" pitchFamily="34" charset="-122"/>
                <a:cs typeface="Calibri" pitchFamily="34" charset="-120"/>
              </a:rPr>
              <a:t>GameMaker's Destroy event and 001 Game Creator's "Defeated / Destroyed" trigger both fire for EITHER reason. Last week's win-counter wiring was correct then - only one destruction path existed. This week it silently breaks.</a:t>
            </a:r>
            <a:endParaRPr lang="en-US" sz="1300" dirty="0"/>
          </a:p>
        </p:txBody>
      </p:sp>
      <p:sp>
        <p:nvSpPr>
          <p:cNvPr id="16" name="Text 1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7" name="Text 1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18" name="Text 1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2600" b="1" dirty="0">
                <a:solidFill>
                  <a:srgbClr val="1C4A86"/>
                </a:solidFill>
                <a:latin typeface="Cambria" pitchFamily="34" charset="0"/>
                <a:ea typeface="Cambria" pitchFamily="34" charset="-122"/>
                <a:cs typeface="Cambria" pitchFamily="34" charset="-120"/>
              </a:rPr>
              <a:t>Two Ways to Disappear, Side by Side</a:t>
            </a:r>
            <a:endParaRPr lang="en-US" sz="2600" dirty="0"/>
          </a:p>
        </p:txBody>
      </p:sp>
      <p:pic>
        <p:nvPicPr>
          <p:cNvPr id="4" name="Image 1" descr="diagram_activity_enemy_removal.png">    </p:cNvPr>
          <p:cNvPicPr>
            <a:picLocks noChangeAspect="1"/>
          </p:cNvPicPr>
          <p:nvPr/>
        </p:nvPicPr>
        <p:blipFill>
          <a:blip r:embed="rId2"/>
          <a:stretch>
            <a:fillRect/>
          </a:stretch>
        </p:blipFill>
        <p:spPr>
          <a:xfrm>
            <a:off x="3032608" y="914400"/>
            <a:ext cx="6126480" cy="4778654"/>
          </a:xfrm>
          <a:prstGeom prst="rect">
            <a:avLst/>
          </a:prstGeom>
        </p:spPr>
      </p:pic>
      <p:sp>
        <p:nvSpPr>
          <p:cNvPr id="5" name="Text 1"/>
          <p:cNvSpPr/>
          <p:nvPr/>
        </p:nvSpPr>
        <p:spPr>
          <a:xfrm>
            <a:off x="548640" y="5784494"/>
            <a:ext cx="11064240" cy="457200"/>
          </a:xfrm>
          <a:prstGeom prst="rect">
            <a:avLst/>
          </a:prstGeom>
          <a:noFill/>
          <a:ln/>
        </p:spPr>
        <p:txBody>
          <a:bodyPr wrap="square" lIns="0" tIns="0" rIns="0" bIns="0" rtlCol="0" anchor="ctr"/>
          <a:lstStyle/>
          <a:p>
            <a:pPr algn="ctr" indent="0" marL="0">
              <a:buNone/>
            </a:pPr>
            <a:r>
              <a:rPr lang="en-US" sz="1350" i="1" dirty="0">
                <a:solidFill>
                  <a:srgbClr val="5A6472"/>
                </a:solidFill>
                <a:latin typeface="Calibri" pitchFamily="34" charset="0"/>
                <a:ea typeface="Calibri" pitchFamily="34" charset="-122"/>
                <a:cs typeface="Calibri" pitchFamily="34" charset="-120"/>
              </a:rPr>
              <a:t>The same shape in every engine - only the hit check is allowed to touch enemies_remaining.</a:t>
            </a:r>
            <a:endParaRPr lang="en-US" sz="1350" dirty="0"/>
          </a:p>
        </p:txBody>
      </p:sp>
      <p:sp>
        <p:nvSpPr>
          <p:cNvPr id="6" name="Text 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7" name="Text 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8" name="Text 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The Fix</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part 2</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Attach win-counting to the SPECIFIC event that means "got shot," not the GENERIC event that means "stopped existing."</a:t>
            </a:r>
            <a:endParaRPr lang="en-US" sz="1600" dirty="0"/>
          </a:p>
        </p:txBody>
      </p:sp>
      <p:sp>
        <p:nvSpPr>
          <p:cNvPr id="7" name="Shape 4"/>
          <p:cNvSpPr/>
          <p:nvPr/>
        </p:nvSpPr>
        <p:spPr>
          <a:xfrm>
            <a:off x="548640" y="2148840"/>
            <a:ext cx="11064240" cy="914400"/>
          </a:xfrm>
          <a:prstGeom prst="roundRect">
            <a:avLst>
              <a:gd name="adj" fmla="val 10000"/>
            </a:avLst>
          </a:prstGeom>
          <a:solidFill>
            <a:srgbClr val="EDF2F8"/>
          </a:solidFill>
          <a:ln w="12700">
            <a:solidFill>
              <a:srgbClr val="DCE3EC"/>
            </a:solidFill>
            <a:prstDash val="solid"/>
          </a:ln>
        </p:spPr>
      </p:sp>
      <p:sp>
        <p:nvSpPr>
          <p:cNvPr id="8" name="Text 5"/>
          <p:cNvSpPr/>
          <p:nvPr/>
        </p:nvSpPr>
        <p:spPr>
          <a:xfrm>
            <a:off x="777240" y="222199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GameMaker</a:t>
            </a:r>
            <a:endParaRPr lang="en-US" sz="1400" dirty="0"/>
          </a:p>
        </p:txBody>
      </p:sp>
      <p:sp>
        <p:nvSpPr>
          <p:cNvPr id="9" name="Text 6"/>
          <p:cNvSpPr/>
          <p:nvPr/>
        </p:nvSpPr>
        <p:spPr>
          <a:xfrm>
            <a:off x="3566160" y="2221992"/>
            <a:ext cx="7863840" cy="77724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Move the decrement from the Destroy event into the Bullet's Collision-with-Enemy event.</a:t>
            </a:r>
            <a:endParaRPr lang="en-US" sz="1250" dirty="0"/>
          </a:p>
        </p:txBody>
      </p:sp>
      <p:sp>
        <p:nvSpPr>
          <p:cNvPr id="10" name="Shape 7"/>
          <p:cNvSpPr/>
          <p:nvPr/>
        </p:nvSpPr>
        <p:spPr>
          <a:xfrm>
            <a:off x="548640" y="3200400"/>
            <a:ext cx="11064240" cy="914400"/>
          </a:xfrm>
          <a:prstGeom prst="roundRect">
            <a:avLst>
              <a:gd name="adj" fmla="val 10000"/>
            </a:avLst>
          </a:prstGeom>
          <a:solidFill>
            <a:srgbClr val="EDF2F8"/>
          </a:solidFill>
          <a:ln w="12700">
            <a:solidFill>
              <a:srgbClr val="DCE3EC"/>
            </a:solidFill>
            <a:prstDash val="solid"/>
          </a:ln>
        </p:spPr>
      </p:sp>
      <p:sp>
        <p:nvSpPr>
          <p:cNvPr id="11" name="Text 8"/>
          <p:cNvSpPr/>
          <p:nvPr/>
        </p:nvSpPr>
        <p:spPr>
          <a:xfrm>
            <a:off x="777240" y="327355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001 Game Creator</a:t>
            </a:r>
            <a:endParaRPr lang="en-US" sz="1400" dirty="0"/>
          </a:p>
        </p:txBody>
      </p:sp>
      <p:sp>
        <p:nvSpPr>
          <p:cNvPr id="12" name="Text 9"/>
          <p:cNvSpPr/>
          <p:nvPr/>
        </p:nvSpPr>
        <p:spPr>
          <a:xfrm>
            <a:off x="3566160" y="3273552"/>
            <a:ext cx="7863840" cy="77724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Move the decrement from "Defeated / Destroyed" into the existing "Collided with actor" trigger.</a:t>
            </a:r>
            <a:endParaRPr lang="en-US" sz="1250" dirty="0"/>
          </a:p>
        </p:txBody>
      </p:sp>
      <p:sp>
        <p:nvSpPr>
          <p:cNvPr id="13" name="Shape 10"/>
          <p:cNvSpPr/>
          <p:nvPr/>
        </p:nvSpPr>
        <p:spPr>
          <a:xfrm>
            <a:off x="548640" y="4251960"/>
            <a:ext cx="11064240" cy="914400"/>
          </a:xfrm>
          <a:prstGeom prst="roundRect">
            <a:avLst>
              <a:gd name="adj" fmla="val 10000"/>
            </a:avLst>
          </a:prstGeom>
          <a:solidFill>
            <a:srgbClr val="EDF2F8"/>
          </a:solidFill>
          <a:ln w="12700">
            <a:solidFill>
              <a:srgbClr val="DCE3EC"/>
            </a:solidFill>
            <a:prstDash val="solid"/>
          </a:ln>
        </p:spPr>
      </p:sp>
      <p:sp>
        <p:nvSpPr>
          <p:cNvPr id="14" name="Text 11"/>
          <p:cNvSpPr/>
          <p:nvPr/>
        </p:nvSpPr>
        <p:spPr>
          <a:xfrm>
            <a:off x="777240" y="4325112"/>
            <a:ext cx="2743200" cy="7772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Other 6 engines</a:t>
            </a:r>
            <a:endParaRPr lang="en-US" sz="1400" dirty="0"/>
          </a:p>
        </p:txBody>
      </p:sp>
      <p:sp>
        <p:nvSpPr>
          <p:cNvPr id="15" name="Text 12"/>
          <p:cNvSpPr/>
          <p:nvPr/>
        </p:nvSpPr>
        <p:spPr>
          <a:xfrm>
            <a:off x="3566160" y="4325112"/>
            <a:ext cx="7863840" cy="77724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Already tied the win-counter to the specific hit-detection code in Lesson 6 - nothing to fix.</a:t>
            </a:r>
            <a:endParaRPr lang="en-US" sz="1250" dirty="0"/>
          </a:p>
        </p:txBody>
      </p:sp>
      <p:sp>
        <p:nvSpPr>
          <p:cNvPr id="16" name="Shape 13"/>
          <p:cNvSpPr/>
          <p:nvPr/>
        </p:nvSpPr>
        <p:spPr>
          <a:xfrm>
            <a:off x="548640" y="5257800"/>
            <a:ext cx="11064240" cy="868680"/>
          </a:xfrm>
          <a:prstGeom prst="roundRect">
            <a:avLst>
              <a:gd name="adj" fmla="val 12632"/>
            </a:avLst>
          </a:prstGeom>
          <a:solidFill>
            <a:srgbClr val="0F2C52"/>
          </a:solidFill>
          <a:ln w="12700">
            <a:solidFill>
              <a:srgbClr val="C99A2E"/>
            </a:solidFill>
            <a:prstDash val="solid"/>
          </a:ln>
        </p:spPr>
      </p:sp>
      <p:sp>
        <p:nvSpPr>
          <p:cNvPr id="17" name="Text 14"/>
          <p:cNvSpPr/>
          <p:nvPr/>
        </p:nvSpPr>
        <p:spPr>
          <a:xfrm>
            <a:off x="822960" y="5349240"/>
            <a:ext cx="10515600" cy="68580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General principle: attach state-changing logic to the specific event that represents it, not to a generic lifecycle hook that fires for unrelated reasons too.</a:t>
            </a:r>
            <a:endParaRPr lang="en-US" sz="1300" dirty="0"/>
          </a:p>
        </p:txBody>
      </p:sp>
      <p:sp>
        <p:nvSpPr>
          <p:cNvPr id="18" name="Text 1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9" name="Text 1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20" name="Text 1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On the Move - continuous descent and escape cleanup.</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7</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058400" cy="640080"/>
          </a:xfrm>
          <a:prstGeom prst="rect">
            <a:avLst/>
          </a:prstGeom>
          <a:noFill/>
          <a:ln/>
        </p:spPr>
        <p:txBody>
          <a:bodyPr wrap="square" lIns="0" tIns="0" rIns="0" bIns="0" rtlCol="0" anchor="ctr"/>
          <a:lstStyle/>
          <a:p>
            <a:pPr indent="0" marL="0">
              <a:buNone/>
            </a:pPr>
            <a:r>
              <a:rPr lang="en-US" sz="2800" b="1" dirty="0">
                <a:solidFill>
                  <a:srgbClr val="1C4A86"/>
                </a:solidFill>
                <a:latin typeface="Cambria" pitchFamily="34" charset="0"/>
                <a:ea typeface="Cambria" pitchFamily="34" charset="-122"/>
                <a:cs typeface="Cambria" pitchFamily="34" charset="-120"/>
              </a:rPr>
              <a:t>Before We Start: Meet the GameManager</a:t>
            </a:r>
            <a:endParaRPr lang="en-US" sz="2800" dirty="0"/>
          </a:p>
        </p:txBody>
      </p:sp>
      <p:sp>
        <p:nvSpPr>
          <p:cNvPr id="4" name="Shape 1"/>
          <p:cNvSpPr/>
          <p:nvPr/>
        </p:nvSpPr>
        <p:spPr>
          <a:xfrm>
            <a:off x="10195560" y="457200"/>
            <a:ext cx="146304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195560" y="457200"/>
            <a:ext cx="146304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quick aside</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One more thing before today's lab - a change already sitting in your Lesson 6 project, not something new to build today.</a:t>
            </a:r>
            <a:endParaRPr lang="en-US" sz="1500" dirty="0"/>
          </a:p>
        </p:txBody>
      </p:sp>
      <p:sp>
        <p:nvSpPr>
          <p:cNvPr id="7" name="Text 4"/>
          <p:cNvSpPr/>
          <p:nvPr/>
        </p:nvSpPr>
        <p:spPr>
          <a:xfrm>
            <a:off x="548640" y="1965960"/>
            <a:ext cx="10881360"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Your win-counter (enemies_remaining) and win-flag (has_won) now live on their own small dedicated object in every engine - a GameManager - instead of scattered across whichever object happened to need them first.</a:t>
            </a:r>
            <a:endParaRPr lang="en-US" sz="1350" dirty="0"/>
          </a:p>
        </p:txBody>
      </p:sp>
      <p:sp>
        <p:nvSpPr>
          <p:cNvPr id="8" name="Shape 5"/>
          <p:cNvSpPr/>
          <p:nvPr/>
        </p:nvSpPr>
        <p:spPr>
          <a:xfrm>
            <a:off x="548640" y="2788920"/>
            <a:ext cx="11064240" cy="530352"/>
          </a:xfrm>
          <a:prstGeom prst="roundRect">
            <a:avLst>
              <a:gd name="adj" fmla="val 13793"/>
            </a:avLst>
          </a:prstGeom>
          <a:solidFill>
            <a:srgbClr val="EDF2F8"/>
          </a:solidFill>
          <a:ln w="12700">
            <a:solidFill>
              <a:srgbClr val="DCE3EC"/>
            </a:solidFill>
            <a:prstDash val="solid"/>
          </a:ln>
        </p:spPr>
      </p:sp>
      <p:sp>
        <p:nvSpPr>
          <p:cNvPr id="9" name="Text 6"/>
          <p:cNvSpPr/>
          <p:nvPr/>
        </p:nvSpPr>
        <p:spPr>
          <a:xfrm>
            <a:off x="777240" y="2788920"/>
            <a:ext cx="2194560" cy="530352"/>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Scratch</a:t>
            </a:r>
            <a:endParaRPr lang="en-US" sz="1300" dirty="0"/>
          </a:p>
        </p:txBody>
      </p:sp>
      <p:sp>
        <p:nvSpPr>
          <p:cNvPr id="10" name="Text 7"/>
          <p:cNvSpPr/>
          <p:nvPr/>
        </p:nvSpPr>
        <p:spPr>
          <a:xfrm>
            <a:off x="3017520" y="2788920"/>
            <a:ext cx="8412480" cy="53035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 hidden GameManager sprite, reached by broadcast/receive</a:t>
            </a:r>
            <a:endParaRPr lang="en-US" sz="1250" dirty="0"/>
          </a:p>
        </p:txBody>
      </p:sp>
      <p:sp>
        <p:nvSpPr>
          <p:cNvPr id="11" name="Shape 8"/>
          <p:cNvSpPr/>
          <p:nvPr/>
        </p:nvSpPr>
        <p:spPr>
          <a:xfrm>
            <a:off x="548640" y="3410712"/>
            <a:ext cx="11064240" cy="530352"/>
          </a:xfrm>
          <a:prstGeom prst="roundRect">
            <a:avLst>
              <a:gd name="adj" fmla="val 13793"/>
            </a:avLst>
          </a:prstGeom>
          <a:solidFill>
            <a:srgbClr val="EDF2F8"/>
          </a:solidFill>
          <a:ln w="12700">
            <a:solidFill>
              <a:srgbClr val="DCE3EC"/>
            </a:solidFill>
            <a:prstDash val="solid"/>
          </a:ln>
        </p:spPr>
      </p:sp>
      <p:sp>
        <p:nvSpPr>
          <p:cNvPr id="12" name="Text 9"/>
          <p:cNvSpPr/>
          <p:nvPr/>
        </p:nvSpPr>
        <p:spPr>
          <a:xfrm>
            <a:off x="777240" y="3410712"/>
            <a:ext cx="2194560" cy="530352"/>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Godot</a:t>
            </a:r>
            <a:endParaRPr lang="en-US" sz="1300" dirty="0"/>
          </a:p>
        </p:txBody>
      </p:sp>
      <p:sp>
        <p:nvSpPr>
          <p:cNvPr id="13" name="Text 10"/>
          <p:cNvSpPr/>
          <p:nvPr/>
        </p:nvSpPr>
        <p:spPr>
          <a:xfrm>
            <a:off x="3017520" y="3410712"/>
            <a:ext cx="8412480" cy="53035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 GameManager child Node, reached by signal connection</a:t>
            </a:r>
            <a:endParaRPr lang="en-US" sz="1250" dirty="0"/>
          </a:p>
        </p:txBody>
      </p:sp>
      <p:sp>
        <p:nvSpPr>
          <p:cNvPr id="14" name="Shape 11"/>
          <p:cNvSpPr/>
          <p:nvPr/>
        </p:nvSpPr>
        <p:spPr>
          <a:xfrm>
            <a:off x="548640" y="4032504"/>
            <a:ext cx="11064240" cy="530352"/>
          </a:xfrm>
          <a:prstGeom prst="roundRect">
            <a:avLst>
              <a:gd name="adj" fmla="val 13793"/>
            </a:avLst>
          </a:prstGeom>
          <a:solidFill>
            <a:srgbClr val="EDF2F8"/>
          </a:solidFill>
          <a:ln w="12700">
            <a:solidFill>
              <a:srgbClr val="DCE3EC"/>
            </a:solidFill>
            <a:prstDash val="solid"/>
          </a:ln>
        </p:spPr>
      </p:sp>
      <p:sp>
        <p:nvSpPr>
          <p:cNvPr id="15" name="Text 12"/>
          <p:cNvSpPr/>
          <p:nvPr/>
        </p:nvSpPr>
        <p:spPr>
          <a:xfrm>
            <a:off x="777240" y="4032504"/>
            <a:ext cx="2194560" cy="530352"/>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GameMaker</a:t>
            </a:r>
            <a:endParaRPr lang="en-US" sz="1300" dirty="0"/>
          </a:p>
        </p:txBody>
      </p:sp>
      <p:sp>
        <p:nvSpPr>
          <p:cNvPr id="16" name="Text 13"/>
          <p:cNvSpPr/>
          <p:nvPr/>
        </p:nvSpPr>
        <p:spPr>
          <a:xfrm>
            <a:off x="3017520" y="4032504"/>
            <a:ext cx="8412480" cy="53035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obj_gamemanager, a placed instance</a:t>
            </a:r>
            <a:endParaRPr lang="en-US" sz="1250" dirty="0"/>
          </a:p>
        </p:txBody>
      </p:sp>
      <p:sp>
        <p:nvSpPr>
          <p:cNvPr id="17" name="Shape 14"/>
          <p:cNvSpPr/>
          <p:nvPr/>
        </p:nvSpPr>
        <p:spPr>
          <a:xfrm>
            <a:off x="548640" y="4654296"/>
            <a:ext cx="11064240" cy="530352"/>
          </a:xfrm>
          <a:prstGeom prst="roundRect">
            <a:avLst>
              <a:gd name="adj" fmla="val 13793"/>
            </a:avLst>
          </a:prstGeom>
          <a:solidFill>
            <a:srgbClr val="EDF2F8"/>
          </a:solidFill>
          <a:ln w="12700">
            <a:solidFill>
              <a:srgbClr val="DCE3EC"/>
            </a:solidFill>
            <a:prstDash val="solid"/>
          </a:ln>
        </p:spPr>
      </p:sp>
      <p:sp>
        <p:nvSpPr>
          <p:cNvPr id="18" name="Text 15"/>
          <p:cNvSpPr/>
          <p:nvPr/>
        </p:nvSpPr>
        <p:spPr>
          <a:xfrm>
            <a:off x="777240" y="4654296"/>
            <a:ext cx="2194560" cy="530352"/>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Unreal</a:t>
            </a:r>
            <a:endParaRPr lang="en-US" sz="1300" dirty="0"/>
          </a:p>
        </p:txBody>
      </p:sp>
      <p:sp>
        <p:nvSpPr>
          <p:cNvPr id="19" name="Text 16"/>
          <p:cNvSpPr/>
          <p:nvPr/>
        </p:nvSpPr>
        <p:spPr>
          <a:xfrm>
            <a:off x="3017520" y="4654296"/>
            <a:ext cx="8412480" cy="53035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BP_GameManager, a placed Actor</a:t>
            </a:r>
            <a:endParaRPr lang="en-US" sz="1250" dirty="0"/>
          </a:p>
        </p:txBody>
      </p:sp>
      <p:sp>
        <p:nvSpPr>
          <p:cNvPr id="20" name="Shape 17"/>
          <p:cNvSpPr/>
          <p:nvPr/>
        </p:nvSpPr>
        <p:spPr>
          <a:xfrm>
            <a:off x="548640" y="5276088"/>
            <a:ext cx="11064240" cy="530352"/>
          </a:xfrm>
          <a:prstGeom prst="roundRect">
            <a:avLst>
              <a:gd name="adj" fmla="val 13793"/>
            </a:avLst>
          </a:prstGeom>
          <a:solidFill>
            <a:srgbClr val="EDF2F8"/>
          </a:solidFill>
          <a:ln w="12700">
            <a:solidFill>
              <a:srgbClr val="DCE3EC"/>
            </a:solidFill>
            <a:prstDash val="solid"/>
          </a:ln>
        </p:spPr>
      </p:sp>
      <p:sp>
        <p:nvSpPr>
          <p:cNvPr id="21" name="Text 18"/>
          <p:cNvSpPr/>
          <p:nvPr/>
        </p:nvSpPr>
        <p:spPr>
          <a:xfrm>
            <a:off x="777240" y="5276088"/>
            <a:ext cx="2194560" cy="530352"/>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Unity</a:t>
            </a:r>
            <a:endParaRPr lang="en-US" sz="1300" dirty="0"/>
          </a:p>
        </p:txBody>
      </p:sp>
      <p:sp>
        <p:nvSpPr>
          <p:cNvPr id="22" name="Text 19"/>
          <p:cNvSpPr/>
          <p:nvPr/>
        </p:nvSpPr>
        <p:spPr>
          <a:xfrm>
            <a:off x="3017520" y="5276088"/>
            <a:ext cx="8412480" cy="53035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Already worked this way - nothing changed for you</a:t>
            </a:r>
            <a:endParaRPr lang="en-US" sz="1250" dirty="0"/>
          </a:p>
        </p:txBody>
      </p:sp>
      <p:sp>
        <p:nvSpPr>
          <p:cNvPr id="23" name="Shape 20"/>
          <p:cNvSpPr/>
          <p:nvPr/>
        </p:nvSpPr>
        <p:spPr>
          <a:xfrm>
            <a:off x="548640" y="5943600"/>
            <a:ext cx="11064240" cy="502920"/>
          </a:xfrm>
          <a:prstGeom prst="roundRect">
            <a:avLst>
              <a:gd name="adj" fmla="val 18182"/>
            </a:avLst>
          </a:prstGeom>
          <a:solidFill>
            <a:srgbClr val="0F2C52"/>
          </a:solidFill>
          <a:ln w="12700">
            <a:solidFill>
              <a:srgbClr val="C99A2E"/>
            </a:solidFill>
            <a:prstDash val="solid"/>
          </a:ln>
        </p:spPr>
      </p:sp>
      <p:sp>
        <p:nvSpPr>
          <p:cNvPr id="24" name="Text 21"/>
          <p:cNvSpPr/>
          <p:nvPr/>
        </p:nvSpPr>
        <p:spPr>
          <a:xfrm>
            <a:off x="777240" y="5943600"/>
            <a:ext cx="10607040" cy="502920"/>
          </a:xfrm>
          <a:prstGeom prst="rect">
            <a:avLst/>
          </a:prstGeom>
          <a:noFill/>
          <a:ln/>
        </p:spPr>
        <p:txBody>
          <a:bodyPr wrap="square" lIns="0" tIns="0" rIns="0" bIns="0" rtlCol="0" anchor="ctr"/>
          <a:lstStyle/>
          <a:p>
            <a:pPr indent="0" marL="0">
              <a:buNone/>
            </a:pPr>
            <a:r>
              <a:rPr lang="en-US" sz="1200" i="1" dirty="0">
                <a:solidFill>
                  <a:srgbClr val="F4F0E6"/>
                </a:solidFill>
                <a:latin typeface="Calibri" pitchFamily="34" charset="0"/>
                <a:ea typeface="Calibri" pitchFamily="34" charset="-122"/>
                <a:cs typeface="Calibri" pitchFamily="34" charset="-120"/>
              </a:rPr>
              <a:t>If your own project isn't retrofitted yet, do that first today - your updated Lesson 6 handout shows exactly what it should look like.</a:t>
            </a:r>
            <a:endParaRPr lang="en-US" sz="1200" dirty="0"/>
          </a:p>
        </p:txBody>
      </p:sp>
      <p:sp>
        <p:nvSpPr>
          <p:cNvPr id="26" name="Text 2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7" name="Text 2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28" name="Text 2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05840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Why a Dedicated Manager Object?</a:t>
            </a:r>
            <a:endParaRPr lang="en-US" sz="3000" dirty="0"/>
          </a:p>
        </p:txBody>
      </p:sp>
      <p:sp>
        <p:nvSpPr>
          <p:cNvPr id="4" name="Shape 1"/>
          <p:cNvSpPr/>
          <p:nvPr/>
        </p:nvSpPr>
        <p:spPr>
          <a:xfrm>
            <a:off x="10195560" y="457200"/>
            <a:ext cx="146304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195560" y="457200"/>
            <a:ext cx="146304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quick aside</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This is a genuinely common real-game pattern, not just a course convention - you'll also hear it called a Game Manager, a Singleton, or Game State.</a:t>
            </a:r>
            <a:endParaRPr lang="en-US" sz="1500" dirty="0"/>
          </a:p>
        </p:txBody>
      </p:sp>
      <p:sp>
        <p:nvSpPr>
          <p:cNvPr id="7" name="Shape 4"/>
          <p:cNvSpPr/>
          <p:nvPr/>
        </p:nvSpPr>
        <p:spPr>
          <a:xfrm>
            <a:off x="548640" y="2057400"/>
            <a:ext cx="11064240" cy="960120"/>
          </a:xfrm>
          <a:prstGeom prst="roundRect">
            <a:avLst>
              <a:gd name="adj" fmla="val 9524"/>
            </a:avLst>
          </a:prstGeom>
          <a:solidFill>
            <a:srgbClr val="EDF2F8"/>
          </a:solidFill>
          <a:ln w="12700">
            <a:solidFill>
              <a:srgbClr val="DCE3EC"/>
            </a:solidFill>
            <a:prstDash val="solid"/>
          </a:ln>
        </p:spPr>
      </p:sp>
      <p:pic>
        <p:nvPicPr>
          <p:cNvPr id="8" name="Image 1" descr="icons/check.png">    </p:cNvPr>
          <p:cNvPicPr>
            <a:picLocks noChangeAspect="1"/>
          </p:cNvPicPr>
          <p:nvPr/>
        </p:nvPicPr>
        <p:blipFill>
          <a:blip r:embed="rId2"/>
          <a:stretch>
            <a:fillRect/>
          </a:stretch>
        </p:blipFill>
        <p:spPr>
          <a:xfrm>
            <a:off x="777240" y="2313432"/>
            <a:ext cx="411480" cy="411480"/>
          </a:xfrm>
          <a:prstGeom prst="rect">
            <a:avLst/>
          </a:prstGeom>
        </p:spPr>
      </p:pic>
      <p:sp>
        <p:nvSpPr>
          <p:cNvPr id="9" name="Text 5"/>
          <p:cNvSpPr/>
          <p:nvPr/>
        </p:nvSpPr>
        <p:spPr>
          <a:xfrm>
            <a:off x="1371600" y="2130552"/>
            <a:ext cx="9966960" cy="3200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One clear place to look</a:t>
            </a:r>
            <a:endParaRPr lang="en-US" sz="1400" dirty="0"/>
          </a:p>
        </p:txBody>
      </p:sp>
      <p:sp>
        <p:nvSpPr>
          <p:cNvPr id="10" name="Text 6"/>
          <p:cNvSpPr/>
          <p:nvPr/>
        </p:nvSpPr>
        <p:spPr>
          <a:xfrm>
            <a:off x="1371600" y="2441448"/>
            <a:ext cx="9966960" cy="530352"/>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Shared, game-wide information has an obvious home - no hunting across multiple objects to find where a value actually lives.</a:t>
            </a:r>
            <a:endParaRPr lang="en-US" sz="1200" dirty="0"/>
          </a:p>
        </p:txBody>
      </p:sp>
      <p:sp>
        <p:nvSpPr>
          <p:cNvPr id="11" name="Shape 7"/>
          <p:cNvSpPr/>
          <p:nvPr/>
        </p:nvSpPr>
        <p:spPr>
          <a:xfrm>
            <a:off x="548640" y="3136392"/>
            <a:ext cx="11064240" cy="960120"/>
          </a:xfrm>
          <a:prstGeom prst="roundRect">
            <a:avLst>
              <a:gd name="adj" fmla="val 9524"/>
            </a:avLst>
          </a:prstGeom>
          <a:solidFill>
            <a:srgbClr val="EDF2F8"/>
          </a:solidFill>
          <a:ln w="12700">
            <a:solidFill>
              <a:srgbClr val="DCE3EC"/>
            </a:solidFill>
            <a:prstDash val="solid"/>
          </a:ln>
        </p:spPr>
      </p:sp>
      <p:pic>
        <p:nvPicPr>
          <p:cNvPr id="12" name="Image 2" descr="icons/check.png">    </p:cNvPr>
          <p:cNvPicPr>
            <a:picLocks noChangeAspect="1"/>
          </p:cNvPicPr>
          <p:nvPr/>
        </p:nvPicPr>
        <p:blipFill>
          <a:blip r:embed="rId3"/>
          <a:stretch>
            <a:fillRect/>
          </a:stretch>
        </p:blipFill>
        <p:spPr>
          <a:xfrm>
            <a:off x="777240" y="3392424"/>
            <a:ext cx="411480" cy="411480"/>
          </a:xfrm>
          <a:prstGeom prst="rect">
            <a:avLst/>
          </a:prstGeom>
        </p:spPr>
      </p:pic>
      <p:sp>
        <p:nvSpPr>
          <p:cNvPr id="13" name="Text 8"/>
          <p:cNvSpPr/>
          <p:nvPr/>
        </p:nvSpPr>
        <p:spPr>
          <a:xfrm>
            <a:off x="1371600" y="3209544"/>
            <a:ext cx="9966960" cy="3200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Nothing has to reach into anything else</a:t>
            </a:r>
            <a:endParaRPr lang="en-US" sz="1400" dirty="0"/>
          </a:p>
        </p:txBody>
      </p:sp>
      <p:sp>
        <p:nvSpPr>
          <p:cNvPr id="14" name="Text 9"/>
          <p:cNvSpPr/>
          <p:nvPr/>
        </p:nvSpPr>
        <p:spPr>
          <a:xfrm>
            <a:off x="1371600" y="3520440"/>
            <a:ext cx="9966960" cy="530352"/>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Any object that needs shared state just talks to the manager, instead of one object reaching directly into another's private variables.</a:t>
            </a:r>
            <a:endParaRPr lang="en-US" sz="1200" dirty="0"/>
          </a:p>
        </p:txBody>
      </p:sp>
      <p:sp>
        <p:nvSpPr>
          <p:cNvPr id="15" name="Shape 10"/>
          <p:cNvSpPr/>
          <p:nvPr/>
        </p:nvSpPr>
        <p:spPr>
          <a:xfrm>
            <a:off x="548640" y="4215384"/>
            <a:ext cx="11064240" cy="960120"/>
          </a:xfrm>
          <a:prstGeom prst="roundRect">
            <a:avLst>
              <a:gd name="adj" fmla="val 9524"/>
            </a:avLst>
          </a:prstGeom>
          <a:solidFill>
            <a:srgbClr val="EDF2F8"/>
          </a:solidFill>
          <a:ln w="12700">
            <a:solidFill>
              <a:srgbClr val="DCE3EC"/>
            </a:solidFill>
            <a:prstDash val="solid"/>
          </a:ln>
        </p:spPr>
      </p:sp>
      <p:pic>
        <p:nvPicPr>
          <p:cNvPr id="16" name="Image 3" descr="icons/check.png">    </p:cNvPr>
          <p:cNvPicPr>
            <a:picLocks noChangeAspect="1"/>
          </p:cNvPicPr>
          <p:nvPr/>
        </p:nvPicPr>
        <p:blipFill>
          <a:blip r:embed="rId4"/>
          <a:stretch>
            <a:fillRect/>
          </a:stretch>
        </p:blipFill>
        <p:spPr>
          <a:xfrm>
            <a:off x="777240" y="4471416"/>
            <a:ext cx="411480" cy="411480"/>
          </a:xfrm>
          <a:prstGeom prst="rect">
            <a:avLst/>
          </a:prstGeom>
        </p:spPr>
      </p:pic>
      <p:sp>
        <p:nvSpPr>
          <p:cNvPr id="17" name="Text 11"/>
          <p:cNvSpPr/>
          <p:nvPr/>
        </p:nvSpPr>
        <p:spPr>
          <a:xfrm>
            <a:off x="1371600" y="4288536"/>
            <a:ext cx="9966960" cy="32004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Room to grow</a:t>
            </a:r>
            <a:endParaRPr lang="en-US" sz="1400" dirty="0"/>
          </a:p>
        </p:txBody>
      </p:sp>
      <p:sp>
        <p:nvSpPr>
          <p:cNvPr id="18" name="Text 12"/>
          <p:cNvSpPr/>
          <p:nvPr/>
        </p:nvSpPr>
        <p:spPr>
          <a:xfrm>
            <a:off x="1371600" y="4599432"/>
            <a:ext cx="9966960" cy="530352"/>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Lives, score, level number, and anything else shared game-wide all have an obvious place to land, starting now - not something to retrofit again later.</a:t>
            </a:r>
            <a:endParaRPr lang="en-US" sz="1200" dirty="0"/>
          </a:p>
        </p:txBody>
      </p:sp>
      <p:sp>
        <p:nvSpPr>
          <p:cNvPr id="19" name="Shape 13"/>
          <p:cNvSpPr/>
          <p:nvPr/>
        </p:nvSpPr>
        <p:spPr>
          <a:xfrm>
            <a:off x="548640" y="5349240"/>
            <a:ext cx="11064240" cy="1143000"/>
          </a:xfrm>
          <a:prstGeom prst="roundRect">
            <a:avLst>
              <a:gd name="adj" fmla="val 9600"/>
            </a:avLst>
          </a:prstGeom>
          <a:solidFill>
            <a:srgbClr val="0F2C52"/>
          </a:solidFill>
          <a:ln w="12700">
            <a:solidFill>
              <a:srgbClr val="C99A2E"/>
            </a:solidFill>
            <a:prstDash val="solid"/>
          </a:ln>
        </p:spPr>
      </p:sp>
      <p:pic>
        <p:nvPicPr>
          <p:cNvPr id="20" name="Image 4" descr="icons/chat.png">    </p:cNvPr>
          <p:cNvPicPr>
            <a:picLocks noChangeAspect="1"/>
          </p:cNvPicPr>
          <p:nvPr/>
        </p:nvPicPr>
        <p:blipFill>
          <a:blip r:embed="rId5"/>
          <a:stretch>
            <a:fillRect/>
          </a:stretch>
        </p:blipFill>
        <p:spPr>
          <a:xfrm>
            <a:off x="777240" y="5559552"/>
            <a:ext cx="502920" cy="502920"/>
          </a:xfrm>
          <a:prstGeom prst="rect">
            <a:avLst/>
          </a:prstGeom>
        </p:spPr>
      </p:pic>
      <p:sp>
        <p:nvSpPr>
          <p:cNvPr id="21" name="Text 14"/>
          <p:cNvSpPr/>
          <p:nvPr/>
        </p:nvSpPr>
        <p:spPr>
          <a:xfrm>
            <a:off x="1463040" y="5440680"/>
            <a:ext cx="9966960" cy="96012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Discussion: as we add lives (Lesson 8) and a score (Lesson 9), where should those live? Same answer both times - on the GameManager, right alongside enemies_remaining.</a:t>
            </a:r>
            <a:endParaRPr lang="en-US" sz="1300" dirty="0"/>
          </a:p>
        </p:txBody>
      </p:sp>
      <p:sp>
        <p:nvSpPr>
          <p:cNvPr id="23" name="Text 1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25" name="Text 1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On the Move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Every enemy advances toward the player, and any that escape are cleaned up without counting as a kill.</a:t>
            </a:r>
            <a:endParaRPr lang="en-US" sz="1450" dirty="0"/>
          </a:p>
        </p:txBody>
      </p:sp>
      <p:sp>
        <p:nvSpPr>
          <p:cNvPr id="7" name="Shape 4"/>
          <p:cNvSpPr/>
          <p:nvPr/>
        </p:nvSpPr>
        <p:spPr>
          <a:xfrm>
            <a:off x="548640" y="2057400"/>
            <a:ext cx="3566160" cy="2011680"/>
          </a:xfrm>
          <a:prstGeom prst="roundRect">
            <a:avLst>
              <a:gd name="adj" fmla="val 4545"/>
            </a:avLst>
          </a:prstGeom>
          <a:solidFill>
            <a:srgbClr val="EDF2F8"/>
          </a:solidFill>
          <a:ln w="12700">
            <a:solidFill>
              <a:srgbClr val="DCE3EC"/>
            </a:solidFill>
            <a:prstDash val="solid"/>
          </a:ln>
        </p:spPr>
      </p:sp>
      <p:sp>
        <p:nvSpPr>
          <p:cNvPr id="8" name="Text 5"/>
          <p:cNvSpPr/>
          <p:nvPr/>
        </p:nvSpPr>
        <p:spPr>
          <a:xfrm>
            <a:off x="731520" y="219456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06040"/>
            <a:ext cx="3200400" cy="1051560"/>
          </a:xfrm>
          <a:prstGeom prst="rect">
            <a:avLst/>
          </a:prstGeom>
          <a:noFill/>
          <a:ln/>
        </p:spPr>
        <p:txBody>
          <a:bodyPr wrap="square" lIns="0" tIns="0" rIns="0" bIns="0" rtlCol="0" anchor="ctr"/>
          <a:lstStyle/>
          <a:p>
            <a:pPr indent="0" marL="0">
              <a:buNone/>
            </a:pPr>
            <a:r>
              <a:rPr lang="en-US" sz="1180" dirty="0">
                <a:solidFill>
                  <a:srgbClr val="222222"/>
                </a:solidFill>
                <a:latin typeface="Calibri" pitchFamily="34" charset="0"/>
                <a:ea typeface="Calibri" pitchFamily="34" charset="-122"/>
                <a:cs typeface="Calibri" pitchFamily="34" charset="-120"/>
              </a:rPr>
              <a:t>Enemies move down; an escaped enemy is removed without counting as a kill.</a:t>
            </a:r>
            <a:endParaRPr lang="en-US" sz="1180" dirty="0"/>
          </a:p>
        </p:txBody>
      </p:sp>
      <p:sp>
        <p:nvSpPr>
          <p:cNvPr id="10" name="Text 7"/>
          <p:cNvSpPr/>
          <p:nvPr/>
        </p:nvSpPr>
        <p:spPr>
          <a:xfrm>
            <a:off x="731520" y="361188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057400"/>
            <a:ext cx="3566160" cy="2011680"/>
          </a:xfrm>
          <a:prstGeom prst="roundRect">
            <a:avLst>
              <a:gd name="adj" fmla="val 4545"/>
            </a:avLst>
          </a:prstGeom>
          <a:solidFill>
            <a:srgbClr val="EDF2F8"/>
          </a:solidFill>
          <a:ln w="12700">
            <a:solidFill>
              <a:srgbClr val="DCE3EC"/>
            </a:solidFill>
            <a:prstDash val="solid"/>
          </a:ln>
        </p:spPr>
      </p:sp>
      <p:sp>
        <p:nvSpPr>
          <p:cNvPr id="12" name="Text 9"/>
          <p:cNvSpPr/>
          <p:nvPr/>
        </p:nvSpPr>
        <p:spPr>
          <a:xfrm>
            <a:off x="4480560" y="219456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06040"/>
            <a:ext cx="3200400" cy="1051560"/>
          </a:xfrm>
          <a:prstGeom prst="rect">
            <a:avLst/>
          </a:prstGeom>
          <a:noFill/>
          <a:ln/>
        </p:spPr>
        <p:txBody>
          <a:bodyPr wrap="square" lIns="0" tIns="0" rIns="0" bIns="0" rtlCol="0" anchor="ctr"/>
          <a:lstStyle/>
          <a:p>
            <a:pPr indent="0" marL="0">
              <a:buNone/>
            </a:pPr>
            <a:r>
              <a:rPr lang="en-US" sz="1180" dirty="0">
                <a:solidFill>
                  <a:srgbClr val="222222"/>
                </a:solidFill>
                <a:latin typeface="Calibri" pitchFamily="34" charset="0"/>
                <a:ea typeface="Calibri" pitchFamily="34" charset="-122"/>
                <a:cs typeface="Calibri" pitchFamily="34" charset="-120"/>
              </a:rPr>
              <a:t>A moving enemy can still be shot correctly; escape never triggers "You Win!"</a:t>
            </a:r>
            <a:endParaRPr lang="en-US" sz="1180" dirty="0"/>
          </a:p>
        </p:txBody>
      </p:sp>
      <p:sp>
        <p:nvSpPr>
          <p:cNvPr id="14" name="Text 11"/>
          <p:cNvSpPr/>
          <p:nvPr/>
        </p:nvSpPr>
        <p:spPr>
          <a:xfrm>
            <a:off x="4480560" y="361188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057400"/>
            <a:ext cx="3566160" cy="2011680"/>
          </a:xfrm>
          <a:prstGeom prst="roundRect">
            <a:avLst>
              <a:gd name="adj" fmla="val 4545"/>
            </a:avLst>
          </a:prstGeom>
          <a:solidFill>
            <a:srgbClr val="EDF2F8"/>
          </a:solidFill>
          <a:ln w="12700">
            <a:solidFill>
              <a:srgbClr val="DCE3EC"/>
            </a:solidFill>
            <a:prstDash val="solid"/>
          </a:ln>
        </p:spPr>
      </p:sp>
      <p:sp>
        <p:nvSpPr>
          <p:cNvPr id="16" name="Text 13"/>
          <p:cNvSpPr/>
          <p:nvPr/>
        </p:nvSpPr>
        <p:spPr>
          <a:xfrm>
            <a:off x="8229600" y="219456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06040"/>
            <a:ext cx="3200400" cy="1051560"/>
          </a:xfrm>
          <a:prstGeom prst="rect">
            <a:avLst/>
          </a:prstGeom>
          <a:noFill/>
          <a:ln/>
        </p:spPr>
        <p:txBody>
          <a:bodyPr wrap="square" lIns="0" tIns="0" rIns="0" bIns="0" rtlCol="0" anchor="ctr"/>
          <a:lstStyle/>
          <a:p>
            <a:pPr indent="0" marL="0">
              <a:buNone/>
            </a:pPr>
            <a:r>
              <a:rPr lang="en-US" sz="1180" dirty="0">
                <a:solidFill>
                  <a:srgbClr val="222222"/>
                </a:solidFill>
                <a:latin typeface="Calibri" pitchFamily="34" charset="0"/>
                <a:ea typeface="Calibri" pitchFamily="34" charset="-122"/>
                <a:cs typeface="Calibri" pitchFamily="34" charset="-120"/>
              </a:rPr>
              <a:t>Varied enemy speeds, and/or a cleaner separation of movement vs. hit logic.</a:t>
            </a:r>
            <a:endParaRPr lang="en-US" sz="1180" dirty="0"/>
          </a:p>
        </p:txBody>
      </p:sp>
      <p:sp>
        <p:nvSpPr>
          <p:cNvPr id="18" name="Text 15"/>
          <p:cNvSpPr/>
          <p:nvPr/>
        </p:nvSpPr>
        <p:spPr>
          <a:xfrm>
            <a:off x="8229600" y="361188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343400"/>
            <a:ext cx="11064240" cy="1371600"/>
          </a:xfrm>
          <a:prstGeom prst="roundRect">
            <a:avLst>
              <a:gd name="adj" fmla="val 8000"/>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544568"/>
            <a:ext cx="502920" cy="502920"/>
          </a:xfrm>
          <a:prstGeom prst="rect">
            <a:avLst/>
          </a:prstGeom>
        </p:spPr>
      </p:pic>
      <p:sp>
        <p:nvSpPr>
          <p:cNvPr id="21" name="Text 17"/>
          <p:cNvSpPr/>
          <p:nvPr/>
        </p:nvSpPr>
        <p:spPr>
          <a:xfrm>
            <a:off x="1463040" y="4453128"/>
            <a:ext cx="9966960" cy="1188720"/>
          </a:xfrm>
          <a:prstGeom prst="rect">
            <a:avLst/>
          </a:prstGeom>
          <a:noFill/>
          <a:ln/>
        </p:spPr>
        <p:txBody>
          <a:bodyPr wrap="square" lIns="0" tIns="0" rIns="0" bIns="0" rtlCol="0" anchor="ctr"/>
          <a:lstStyle/>
          <a:p>
            <a:pPr indent="0" marL="0">
              <a:buNone/>
            </a:pPr>
            <a:r>
              <a:rPr lang="en-US" sz="1300" dirty="0">
                <a:solidFill>
                  <a:srgbClr val="F4F0E6"/>
                </a:solidFill>
                <a:latin typeface="Calibri" pitchFamily="34" charset="0"/>
                <a:ea typeface="Calibri" pitchFamily="34" charset="-122"/>
                <a:cs typeface="Calibri" pitchFamily="34" charset="-120"/>
              </a:rPr>
              <a:t>GameMaker and 001 Game Creator: read your handout's setup section before touching anything - you're deleting code today, not just adding it.</a:t>
            </a:r>
            <a:endParaRPr lang="en-US" sz="1300" dirty="0"/>
          </a:p>
        </p:txBody>
      </p:sp>
      <p:sp>
        <p:nvSpPr>
          <p:cNvPr id="22"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3"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24"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Most important check this week: let an enemy escape unshot and confirm "You Win!" does NOT appear - for every engine, not just the two with a fix.</a:t>
            </a:r>
            <a:endParaRPr lang="en-US" sz="135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GameMaker / 001 Game Creator: watch for double-counting - the win message triggering after only half the enemies are shot means the old hook wasn't fully removed.</a:t>
            </a:r>
            <a:endParaRPr lang="en-US" sz="135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Enemies never disappearing at the bottom usually means the off-screen threshold doesn't match the project's screen size - adjust the number.</a:t>
            </a:r>
            <a:endParaRPr lang="en-US" sz="135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GameMaker and 001 Game Creator clusters need the most attention this week - circulate there first.</a:t>
            </a:r>
            <a:endParaRPr lang="en-US" sz="1350" dirty="0"/>
          </a:p>
        </p:txBody>
      </p:sp>
      <p:sp>
        <p:nvSpPr>
          <p:cNvPr id="13"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7</a:t>
            </a:r>
            <a:endParaRPr lang="en-US" sz="1000" dirty="0"/>
          </a:p>
        </p:txBody>
      </p:sp>
      <p:sp>
        <p:nvSpPr>
          <p:cNvPr id="15"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Enemies Are Moving!</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Continuous motion, escape cleanup, and a real fix to a latent bug - solid engineering, not just new features.</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a lose condition and a lives system - the first threat to your player.</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Try a Level 3 idea at home if you'd like - varied enemy speeds are a fun one to tune.</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7</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2026-09-23T19:37:07Z</dcterms:created>
  <dcterms:modified xsi:type="dcterms:W3CDTF">2026-09-23T19:37:07Z</dcterms:modified>
</cp:coreProperties>
</file>