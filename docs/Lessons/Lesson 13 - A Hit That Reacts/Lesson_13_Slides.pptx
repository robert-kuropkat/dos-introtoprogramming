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3.png"/><Relationship Id="rId5" Type="http://schemas.openxmlformats.org/officeDocument/2006/relationships/image" Target="../media/image-14-3.png"/><Relationship Id="rId6" Type="http://schemas.openxmlformats.org/officeDocument/2006/relationships/image" Target="../media/image-14-3.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title_with_vgc.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502920"/>
            <a:ext cx="12191695" cy="320040"/>
          </a:xfrm>
          <a:prstGeom prst="rect">
            <a:avLst/>
          </a:prstGeom>
          <a:noFill/>
          <a:ln/>
        </p:spPr>
        <p:txBody>
          <a:bodyPr wrap="square" lIns="0" tIns="0" rIns="0" bIns="0" rtlCol="0" anchor="ctr"/>
          <a:lstStyle/>
          <a:p>
            <a:pPr algn="ctr" indent="0" marL="0">
              <a:buNone/>
            </a:pPr>
            <a:r>
              <a:rPr lang="en-US" sz="1300" spc="100" kern="0" dirty="0">
                <a:solidFill>
                  <a:srgbClr val="E8C25A"/>
                </a:solidFill>
                <a:latin typeface="Calibri" pitchFamily="34" charset="0"/>
                <a:ea typeface="Calibri" pitchFamily="34" charset="-122"/>
                <a:cs typeface="Calibri" pitchFamily="34" charset="-120"/>
              </a:rPr>
              <a:t>S O U T H   L A K E   H O M E   E D U C A T O R S</a:t>
            </a:r>
            <a:endParaRPr lang="en-US" sz="1300" dirty="0"/>
          </a:p>
        </p:txBody>
      </p:sp>
      <p:sp>
        <p:nvSpPr>
          <p:cNvPr id="4" name="Text 1"/>
          <p:cNvSpPr/>
          <p:nvPr/>
        </p:nvSpPr>
        <p:spPr>
          <a:xfrm>
            <a:off x="0" y="3383280"/>
            <a:ext cx="12191695" cy="685800"/>
          </a:xfrm>
          <a:prstGeom prst="rect">
            <a:avLst/>
          </a:prstGeom>
          <a:noFill/>
          <a:ln/>
        </p:spPr>
        <p:txBody>
          <a:bodyPr wrap="square" lIns="0" tIns="0" rIns="0" bIns="0" rtlCol="0" anchor="ctr"/>
          <a:lstStyle/>
          <a:p>
            <a:pPr algn="ctr" indent="0" marL="0">
              <a:buNone/>
            </a:pPr>
            <a:r>
              <a:rPr lang="en-US" sz="4400" b="1" dirty="0">
                <a:solidFill>
                  <a:srgbClr val="E8C25A"/>
                </a:solidFill>
                <a:latin typeface="Cambria" pitchFamily="34" charset="0"/>
                <a:ea typeface="Cambria" pitchFamily="34" charset="-122"/>
                <a:cs typeface="Cambria" pitchFamily="34" charset="-120"/>
              </a:rPr>
              <a:t>Lesson 13</a:t>
            </a:r>
            <a:endParaRPr lang="en-US" sz="4400" dirty="0"/>
          </a:p>
        </p:txBody>
      </p:sp>
      <p:sp>
        <p:nvSpPr>
          <p:cNvPr id="5" name="Text 2"/>
          <p:cNvSpPr/>
          <p:nvPr/>
        </p:nvSpPr>
        <p:spPr>
          <a:xfrm>
            <a:off x="914400" y="4114800"/>
            <a:ext cx="10362895" cy="640080"/>
          </a:xfrm>
          <a:prstGeom prst="rect">
            <a:avLst/>
          </a:prstGeom>
          <a:noFill/>
          <a:ln/>
        </p:spPr>
        <p:txBody>
          <a:bodyPr wrap="square" lIns="0" tIns="0" rIns="0" bIns="0" rtlCol="0" anchor="ctr"/>
          <a:lstStyle/>
          <a:p>
            <a:pPr algn="ctr" indent="0" marL="0">
              <a:buNone/>
            </a:pPr>
            <a:r>
              <a:rPr lang="en-US" sz="2200" dirty="0">
                <a:solidFill>
                  <a:srgbClr val="F4F0E6"/>
                </a:solidFill>
                <a:latin typeface="Calibri" pitchFamily="34" charset="0"/>
                <a:ea typeface="Calibri" pitchFamily="34" charset="-122"/>
                <a:cs typeface="Calibri" pitchFamily="34" charset="-120"/>
              </a:rPr>
              <a:t>A Hit That Reacts</a:t>
            </a:r>
            <a:endParaRPr lang="en-US" sz="2200" dirty="0"/>
          </a:p>
        </p:txBody>
      </p:sp>
      <p:sp>
        <p:nvSpPr>
          <p:cNvPr id="6" name="Text 3"/>
          <p:cNvSpPr/>
          <p:nvPr/>
        </p:nvSpPr>
        <p:spPr>
          <a:xfrm>
            <a:off x="0" y="4892040"/>
            <a:ext cx="12191695" cy="365760"/>
          </a:xfrm>
          <a:prstGeom prst="rect">
            <a:avLst/>
          </a:prstGeom>
          <a:noFill/>
          <a:ln/>
        </p:spPr>
        <p:txBody>
          <a:bodyPr wrap="square" lIns="0" tIns="0" rIns="0" bIns="0" rtlCol="0" anchor="ctr"/>
          <a:lstStyle/>
          <a:p>
            <a:pPr algn="ctr" indent="0" marL="0">
              <a:buNone/>
            </a:pPr>
            <a:r>
              <a:rPr lang="en-US" sz="1400" b="1" i="1" dirty="0">
                <a:solidFill>
                  <a:srgbClr val="E8C25A"/>
                </a:solidFill>
                <a:latin typeface="Calibri" pitchFamily="34" charset="0"/>
                <a:ea typeface="Calibri" pitchFamily="34" charset="-122"/>
                <a:cs typeface="Calibri" pitchFamily="34" charset="-120"/>
              </a:rPr>
              <a:t>Semester 1, Week 13  -  Basic Animation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At a Glance</a:t>
            </a:r>
            <a:endParaRPr lang="en-US" sz="3800" dirty="0"/>
          </a:p>
        </p:txBody>
      </p:sp>
      <p:sp>
        <p:nvSpPr>
          <p:cNvPr id="4" name="Text 1"/>
          <p:cNvSpPr/>
          <p:nvPr/>
        </p:nvSpPr>
        <p:spPr>
          <a:xfrm>
            <a:off x="548640" y="960120"/>
            <a:ext cx="7315200" cy="365760"/>
          </a:xfrm>
          <a:prstGeom prst="rect">
            <a:avLst/>
          </a:prstGeom>
          <a:noFill/>
          <a:ln/>
        </p:spPr>
        <p:txBody>
          <a:bodyPr wrap="square" lIns="0" tIns="0" rIns="0" bIns="0" rtlCol="0" anchor="ctr"/>
          <a:lstStyle/>
          <a:p>
            <a:pPr indent="0" marL="0">
              <a:buNone/>
            </a:pPr>
            <a:r>
              <a:rPr lang="en-US" sz="1500" i="1" dirty="0">
                <a:solidFill>
                  <a:srgbClr val="5A6472"/>
                </a:solidFill>
                <a:latin typeface="Calibri" pitchFamily="34" charset="0"/>
                <a:ea typeface="Calibri" pitchFamily="34" charset="-122"/>
                <a:cs typeface="Calibri" pitchFamily="34" charset="-120"/>
              </a:rPr>
              <a:t>Lesson 13 objectives &amp; materials</a:t>
            </a:r>
            <a:endParaRPr lang="en-US" sz="1500" dirty="0"/>
          </a:p>
        </p:txBody>
      </p:sp>
      <p:sp>
        <p:nvSpPr>
          <p:cNvPr id="5" name="Text 2"/>
          <p:cNvSpPr/>
          <p:nvPr/>
        </p:nvSpPr>
        <p:spPr>
          <a:xfrm>
            <a:off x="548640" y="1508760"/>
            <a:ext cx="603504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By the end of today, students will:</a:t>
            </a:r>
            <a:endParaRPr lang="en-US" sz="1600" dirty="0"/>
          </a:p>
        </p:txBody>
      </p:sp>
      <p:pic>
        <p:nvPicPr>
          <p:cNvPr id="6" name="Image 1" descr="icons/check.png">    </p:cNvPr>
          <p:cNvPicPr>
            <a:picLocks noChangeAspect="1"/>
          </p:cNvPicPr>
          <p:nvPr/>
        </p:nvPicPr>
        <p:blipFill>
          <a:blip r:embed="rId2"/>
          <a:stretch>
            <a:fillRect/>
          </a:stretch>
        </p:blipFill>
        <p:spPr>
          <a:xfrm>
            <a:off x="548640" y="1965960"/>
            <a:ext cx="384048" cy="384048"/>
          </a:xfrm>
          <a:prstGeom prst="rect">
            <a:avLst/>
          </a:prstGeom>
        </p:spPr>
      </p:pic>
      <p:sp>
        <p:nvSpPr>
          <p:cNvPr id="7" name="Text 3"/>
          <p:cNvSpPr/>
          <p:nvPr/>
        </p:nvSpPr>
        <p:spPr>
          <a:xfrm>
            <a:off x="1051560" y="1938528"/>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Sequence a flash before finalizing an existing state change</a:t>
            </a:r>
            <a:endParaRPr lang="en-US" sz="1450" dirty="0"/>
          </a:p>
        </p:txBody>
      </p:sp>
      <p:pic>
        <p:nvPicPr>
          <p:cNvPr id="8" name="Image 2" descr="icons/check.png">    </p:cNvPr>
          <p:cNvPicPr>
            <a:picLocks noChangeAspect="1"/>
          </p:cNvPicPr>
          <p:nvPr/>
        </p:nvPicPr>
        <p:blipFill>
          <a:blip r:embed="rId3"/>
          <a:stretch>
            <a:fillRect/>
          </a:stretch>
        </p:blipFill>
        <p:spPr>
          <a:xfrm>
            <a:off x="548640" y="2532888"/>
            <a:ext cx="384048" cy="384048"/>
          </a:xfrm>
          <a:prstGeom prst="rect">
            <a:avLst/>
          </a:prstGeom>
        </p:spPr>
      </p:pic>
      <p:sp>
        <p:nvSpPr>
          <p:cNvPr id="9" name="Text 4"/>
          <p:cNvSpPr/>
          <p:nvPr/>
        </p:nvSpPr>
        <p:spPr>
          <a:xfrm>
            <a:off x="1051560" y="2505456"/>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Spawn a fully independent, self-cleaning explosion effect</a:t>
            </a:r>
            <a:endParaRPr lang="en-US" sz="1450" dirty="0"/>
          </a:p>
        </p:txBody>
      </p:sp>
      <p:pic>
        <p:nvPicPr>
          <p:cNvPr id="10" name="Image 3" descr="icons/check.png">    </p:cNvPr>
          <p:cNvPicPr>
            <a:picLocks noChangeAspect="1"/>
          </p:cNvPicPr>
          <p:nvPr/>
        </p:nvPicPr>
        <p:blipFill>
          <a:blip r:embed="rId4"/>
          <a:stretch>
            <a:fillRect/>
          </a:stretch>
        </p:blipFill>
        <p:spPr>
          <a:xfrm>
            <a:off x="548640" y="3099816"/>
            <a:ext cx="384048" cy="384048"/>
          </a:xfrm>
          <a:prstGeom prst="rect">
            <a:avLst/>
          </a:prstGeom>
        </p:spPr>
      </p:pic>
      <p:sp>
        <p:nvSpPr>
          <p:cNvPr id="11" name="Text 5"/>
          <p:cNvSpPr/>
          <p:nvPr/>
        </p:nvSpPr>
        <p:spPr>
          <a:xfrm>
            <a:off x="1051560" y="3072384"/>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Compare how 3 engine families pause mid-script (or don't)</a:t>
            </a:r>
            <a:endParaRPr lang="en-US" sz="1450" dirty="0"/>
          </a:p>
        </p:txBody>
      </p:sp>
      <p:pic>
        <p:nvPicPr>
          <p:cNvPr id="12" name="Image 4" descr="icons/check.png">    </p:cNvPr>
          <p:cNvPicPr>
            <a:picLocks noChangeAspect="1"/>
          </p:cNvPicPr>
          <p:nvPr/>
        </p:nvPicPr>
        <p:blipFill>
          <a:blip r:embed="rId5"/>
          <a:stretch>
            <a:fillRect/>
          </a:stretch>
        </p:blipFill>
        <p:spPr>
          <a:xfrm>
            <a:off x="548640" y="3666744"/>
            <a:ext cx="384048" cy="384048"/>
          </a:xfrm>
          <a:prstGeom prst="rect">
            <a:avLst/>
          </a:prstGeom>
        </p:spPr>
      </p:pic>
      <p:sp>
        <p:nvSpPr>
          <p:cNvPr id="13" name="Text 6"/>
          <p:cNvSpPr/>
          <p:nvPr/>
        </p:nvSpPr>
        <p:spPr>
          <a:xfrm>
            <a:off x="1051560" y="3639312"/>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Confirm game logic timing is completely unchanged</a:t>
            </a:r>
            <a:endParaRPr lang="en-US" sz="1450" dirty="0"/>
          </a:p>
        </p:txBody>
      </p:sp>
      <p:sp>
        <p:nvSpPr>
          <p:cNvPr id="14" name="Shape 7"/>
          <p:cNvSpPr/>
          <p:nvPr/>
        </p:nvSpPr>
        <p:spPr>
          <a:xfrm>
            <a:off x="6949440" y="1508760"/>
            <a:ext cx="4709160" cy="4206240"/>
          </a:xfrm>
          <a:prstGeom prst="roundRect">
            <a:avLst>
              <a:gd name="adj" fmla="val 2609"/>
            </a:avLst>
          </a:prstGeom>
          <a:solidFill>
            <a:srgbClr val="EDF2F8"/>
          </a:solidFill>
          <a:ln/>
        </p:spPr>
      </p:sp>
      <p:sp>
        <p:nvSpPr>
          <p:cNvPr id="15" name="Text 8"/>
          <p:cNvSpPr/>
          <p:nvPr/>
        </p:nvSpPr>
        <p:spPr>
          <a:xfrm>
            <a:off x="7223760" y="1691640"/>
            <a:ext cx="4206240" cy="3657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What We're Using Today</a:t>
            </a:r>
            <a:endParaRPr lang="en-US" sz="1500" dirty="0"/>
          </a:p>
        </p:txBody>
      </p:sp>
      <p:sp>
        <p:nvSpPr>
          <p:cNvPr id="16" name="Text 9"/>
          <p:cNvSpPr/>
          <p:nvPr/>
        </p:nvSpPr>
        <p:spPr>
          <a:xfrm>
            <a:off x="7223760" y="2148840"/>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7" name="Text 10"/>
          <p:cNvSpPr/>
          <p:nvPr/>
        </p:nvSpPr>
        <p:spPr>
          <a:xfrm>
            <a:off x="7498080" y="2148840"/>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Demo laptop with all 8 engines verified</a:t>
            </a:r>
            <a:endParaRPr lang="en-US" sz="1250" dirty="0"/>
          </a:p>
        </p:txBody>
      </p:sp>
      <p:sp>
        <p:nvSpPr>
          <p:cNvPr id="18" name="Text 11"/>
          <p:cNvSpPr/>
          <p:nvPr/>
        </p:nvSpPr>
        <p:spPr>
          <a:xfrm>
            <a:off x="7223760" y="2807208"/>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9" name="Text 12"/>
          <p:cNvSpPr/>
          <p:nvPr/>
        </p:nvSpPr>
        <p:spPr>
          <a:xfrm>
            <a:off x="7498080" y="2807208"/>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Godot, for the live lecture demo</a:t>
            </a:r>
            <a:endParaRPr lang="en-US" sz="1250" dirty="0"/>
          </a:p>
        </p:txBody>
      </p:sp>
      <p:sp>
        <p:nvSpPr>
          <p:cNvPr id="20" name="Text 13"/>
          <p:cNvSpPr/>
          <p:nvPr/>
        </p:nvSpPr>
        <p:spPr>
          <a:xfrm>
            <a:off x="7223760" y="3465576"/>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1" name="Text 14"/>
          <p:cNvSpPr/>
          <p:nvPr/>
        </p:nvSpPr>
        <p:spPr>
          <a:xfrm>
            <a:off x="7498080" y="3465576"/>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One new asset: explosion_placeholder.png</a:t>
            </a:r>
            <a:endParaRPr lang="en-US" sz="1250" dirty="0"/>
          </a:p>
        </p:txBody>
      </p:sp>
      <p:sp>
        <p:nvSpPr>
          <p:cNvPr id="22" name="Text 15"/>
          <p:cNvSpPr/>
          <p:nvPr/>
        </p:nvSpPr>
        <p:spPr>
          <a:xfrm>
            <a:off x="7223760" y="4123944"/>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3" name="Text 16"/>
          <p:cNvSpPr/>
          <p:nvPr/>
        </p:nvSpPr>
        <p:spPr>
          <a:xfrm>
            <a:off x="7498080" y="4123944"/>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Unreal reuses its existing Cube/Sphere shapes</a:t>
            </a:r>
            <a:endParaRPr lang="en-US" sz="1250" dirty="0"/>
          </a:p>
        </p:txBody>
      </p:sp>
      <p:sp>
        <p:nvSpPr>
          <p:cNvPr id="24" name="Text 17"/>
          <p:cNvSpPr/>
          <p:nvPr/>
        </p:nvSpPr>
        <p:spPr>
          <a:xfrm>
            <a:off x="7223760" y="4782312"/>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5" name="Text 18"/>
          <p:cNvSpPr/>
          <p:nvPr/>
        </p:nvSpPr>
        <p:spPr>
          <a:xfrm>
            <a:off x="7498080" y="4782312"/>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Your own [YourName]Game project from Lesson 12</a:t>
            </a:r>
            <a:endParaRPr lang="en-US" sz="1250" dirty="0"/>
          </a:p>
        </p:txBody>
      </p:sp>
      <p:sp>
        <p:nvSpPr>
          <p:cNvPr id="26" name="Text 19"/>
          <p:cNvSpPr/>
          <p:nvPr/>
        </p:nvSpPr>
        <p:spPr>
          <a:xfrm>
            <a:off x="548640" y="5989320"/>
            <a:ext cx="11064240" cy="45720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IGDA framework tie-in:  Visual Art - basic animation, juice/feedback fundamentals (introductory); Programming - timed/asynchronous execution (intermediate).</a:t>
            </a:r>
            <a:endParaRPr lang="en-US" sz="1150" dirty="0"/>
          </a:p>
        </p:txBody>
      </p:sp>
      <p:sp>
        <p:nvSpPr>
          <p:cNvPr id="27" name="Text 20"/>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8" name="Text 21"/>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13</a:t>
            </a:r>
            <a:endParaRPr lang="en-US" sz="1000" dirty="0"/>
          </a:p>
        </p:txBody>
      </p:sp>
      <p:sp>
        <p:nvSpPr>
          <p:cNvPr id="29" name="Text 22"/>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Today's Agenda</a:t>
            </a:r>
            <a:endParaRPr lang="en-US" sz="3800" dirty="0"/>
          </a:p>
        </p:txBody>
      </p:sp>
      <p:pic>
        <p:nvPicPr>
          <p:cNvPr id="4" name="Image 1" descr="icons/design.png">    </p:cNvPr>
          <p:cNvPicPr>
            <a:picLocks noChangeAspect="1"/>
          </p:cNvPicPr>
          <p:nvPr/>
        </p:nvPicPr>
        <p:blipFill>
          <a:blip r:embed="rId2"/>
          <a:stretch>
            <a:fillRect/>
          </a:stretch>
        </p:blipFill>
        <p:spPr>
          <a:xfrm>
            <a:off x="10607040" y="365760"/>
            <a:ext cx="822960" cy="822960"/>
          </a:xfrm>
          <a:prstGeom prst="rect">
            <a:avLst/>
          </a:prstGeom>
        </p:spPr>
      </p:pic>
      <p:sp>
        <p:nvSpPr>
          <p:cNvPr id="5" name="Shape 1"/>
          <p:cNvSpPr/>
          <p:nvPr/>
        </p:nvSpPr>
        <p:spPr>
          <a:xfrm>
            <a:off x="548640" y="1280160"/>
            <a:ext cx="11064240" cy="512064"/>
          </a:xfrm>
          <a:prstGeom prst="roundRect">
            <a:avLst>
              <a:gd name="adj" fmla="val 14286"/>
            </a:avLst>
          </a:prstGeom>
          <a:solidFill>
            <a:srgbClr val="FFFFFF"/>
          </a:solidFill>
          <a:ln w="12700">
            <a:solidFill>
              <a:srgbClr val="DCE3EC"/>
            </a:solidFill>
            <a:prstDash val="solid"/>
          </a:ln>
        </p:spPr>
      </p:sp>
      <p:sp>
        <p:nvSpPr>
          <p:cNvPr id="6" name="Text 2"/>
          <p:cNvSpPr/>
          <p:nvPr/>
        </p:nvSpPr>
        <p:spPr>
          <a:xfrm>
            <a:off x="822960" y="1280160"/>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0:00 - 0:05</a:t>
            </a:r>
            <a:endParaRPr lang="en-US" sz="1300" dirty="0"/>
          </a:p>
        </p:txBody>
      </p:sp>
      <p:sp>
        <p:nvSpPr>
          <p:cNvPr id="7" name="Text 3"/>
          <p:cNvSpPr/>
          <p:nvPr/>
        </p:nvSpPr>
        <p:spPr>
          <a:xfrm>
            <a:off x="3017520" y="1280160"/>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Welcome back, Lesson 12 recap</a:t>
            </a:r>
            <a:endParaRPr lang="en-US" sz="1230" dirty="0"/>
          </a:p>
        </p:txBody>
      </p:sp>
      <p:sp>
        <p:nvSpPr>
          <p:cNvPr id="8" name="Shape 4"/>
          <p:cNvSpPr/>
          <p:nvPr/>
        </p:nvSpPr>
        <p:spPr>
          <a:xfrm>
            <a:off x="548640" y="1883664"/>
            <a:ext cx="11064240" cy="512064"/>
          </a:xfrm>
          <a:prstGeom prst="roundRect">
            <a:avLst>
              <a:gd name="adj" fmla="val 14286"/>
            </a:avLst>
          </a:prstGeom>
          <a:solidFill>
            <a:srgbClr val="FFFFFF"/>
          </a:solidFill>
          <a:ln w="12700">
            <a:solidFill>
              <a:srgbClr val="DCE3EC"/>
            </a:solidFill>
            <a:prstDash val="solid"/>
          </a:ln>
        </p:spPr>
      </p:sp>
      <p:sp>
        <p:nvSpPr>
          <p:cNvPr id="9" name="Text 5"/>
          <p:cNvSpPr/>
          <p:nvPr/>
        </p:nvSpPr>
        <p:spPr>
          <a:xfrm>
            <a:off x="822960" y="1883664"/>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0:05 - 0:15</a:t>
            </a:r>
            <a:endParaRPr lang="en-US" sz="1300" dirty="0"/>
          </a:p>
        </p:txBody>
      </p:sp>
      <p:sp>
        <p:nvSpPr>
          <p:cNvPr id="10" name="Text 6"/>
          <p:cNvSpPr/>
          <p:nvPr/>
        </p:nvSpPr>
        <p:spPr>
          <a:xfrm>
            <a:off x="3017520" y="1883664"/>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A Hit That Reacts: Two New Visual Touches</a:t>
            </a:r>
            <a:endParaRPr lang="en-US" sz="1230" dirty="0"/>
          </a:p>
        </p:txBody>
      </p:sp>
      <p:sp>
        <p:nvSpPr>
          <p:cNvPr id="11" name="Shape 7"/>
          <p:cNvSpPr/>
          <p:nvPr/>
        </p:nvSpPr>
        <p:spPr>
          <a:xfrm>
            <a:off x="548640" y="2487168"/>
            <a:ext cx="11064240" cy="512064"/>
          </a:xfrm>
          <a:prstGeom prst="roundRect">
            <a:avLst>
              <a:gd name="adj" fmla="val 14286"/>
            </a:avLst>
          </a:prstGeom>
          <a:solidFill>
            <a:srgbClr val="FFFFFF"/>
          </a:solidFill>
          <a:ln w="12700">
            <a:solidFill>
              <a:srgbClr val="DCE3EC"/>
            </a:solidFill>
            <a:prstDash val="solid"/>
          </a:ln>
        </p:spPr>
      </p:sp>
      <p:sp>
        <p:nvSpPr>
          <p:cNvPr id="12" name="Text 8"/>
          <p:cNvSpPr/>
          <p:nvPr/>
        </p:nvSpPr>
        <p:spPr>
          <a:xfrm>
            <a:off x="822960" y="2487168"/>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0:15 - 0:40</a:t>
            </a:r>
            <a:endParaRPr lang="en-US" sz="1300" dirty="0"/>
          </a:p>
        </p:txBody>
      </p:sp>
      <p:sp>
        <p:nvSpPr>
          <p:cNvPr id="13" name="Text 9"/>
          <p:cNvSpPr/>
          <p:nvPr/>
        </p:nvSpPr>
        <p:spPr>
          <a:xfrm>
            <a:off x="3017520" y="2487168"/>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Pausing Mid-Script: Three Engine Families, Three Solutions</a:t>
            </a:r>
            <a:endParaRPr lang="en-US" sz="1230" dirty="0"/>
          </a:p>
        </p:txBody>
      </p:sp>
      <p:sp>
        <p:nvSpPr>
          <p:cNvPr id="14" name="Shape 10"/>
          <p:cNvSpPr/>
          <p:nvPr/>
        </p:nvSpPr>
        <p:spPr>
          <a:xfrm>
            <a:off x="548640" y="3090672"/>
            <a:ext cx="11064240" cy="512064"/>
          </a:xfrm>
          <a:prstGeom prst="roundRect">
            <a:avLst>
              <a:gd name="adj" fmla="val 14286"/>
            </a:avLst>
          </a:prstGeom>
          <a:solidFill>
            <a:srgbClr val="FFFFFF"/>
          </a:solidFill>
          <a:ln w="12700">
            <a:solidFill>
              <a:srgbClr val="DCE3EC"/>
            </a:solidFill>
            <a:prstDash val="solid"/>
          </a:ln>
        </p:spPr>
      </p:sp>
      <p:sp>
        <p:nvSpPr>
          <p:cNvPr id="15" name="Text 11"/>
          <p:cNvSpPr/>
          <p:nvPr/>
        </p:nvSpPr>
        <p:spPr>
          <a:xfrm>
            <a:off x="822960" y="3090672"/>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0:40 - 0:50</a:t>
            </a:r>
            <a:endParaRPr lang="en-US" sz="1300" dirty="0"/>
          </a:p>
        </p:txBody>
      </p:sp>
      <p:sp>
        <p:nvSpPr>
          <p:cNvPr id="16" name="Text 12"/>
          <p:cNvSpPr/>
          <p:nvPr/>
        </p:nvSpPr>
        <p:spPr>
          <a:xfrm>
            <a:off x="3017520" y="3090672"/>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An Explosion That Minds Its Own Business</a:t>
            </a:r>
            <a:endParaRPr lang="en-US" sz="1230" dirty="0"/>
          </a:p>
        </p:txBody>
      </p:sp>
      <p:sp>
        <p:nvSpPr>
          <p:cNvPr id="17" name="Shape 13"/>
          <p:cNvSpPr/>
          <p:nvPr/>
        </p:nvSpPr>
        <p:spPr>
          <a:xfrm>
            <a:off x="548640" y="3694176"/>
            <a:ext cx="11064240" cy="512064"/>
          </a:xfrm>
          <a:prstGeom prst="roundRect">
            <a:avLst>
              <a:gd name="adj" fmla="val 14286"/>
            </a:avLst>
          </a:prstGeom>
          <a:solidFill>
            <a:srgbClr val="FFFFFF"/>
          </a:solidFill>
          <a:ln w="12700">
            <a:solidFill>
              <a:srgbClr val="DCE3EC"/>
            </a:solidFill>
            <a:prstDash val="solid"/>
          </a:ln>
        </p:spPr>
      </p:sp>
      <p:sp>
        <p:nvSpPr>
          <p:cNvPr id="18" name="Text 14"/>
          <p:cNvSpPr/>
          <p:nvPr/>
        </p:nvSpPr>
        <p:spPr>
          <a:xfrm>
            <a:off x="822960" y="3694176"/>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0:50 - 0:55</a:t>
            </a:r>
            <a:endParaRPr lang="en-US" sz="1300" dirty="0"/>
          </a:p>
        </p:txBody>
      </p:sp>
      <p:sp>
        <p:nvSpPr>
          <p:cNvPr id="19" name="Text 15"/>
          <p:cNvSpPr/>
          <p:nvPr/>
        </p:nvSpPr>
        <p:spPr>
          <a:xfrm>
            <a:off x="3017520" y="3694176"/>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Introduce lab exercise, hand out engine-specific handouts</a:t>
            </a:r>
            <a:endParaRPr lang="en-US" sz="1230" dirty="0"/>
          </a:p>
        </p:txBody>
      </p:sp>
      <p:sp>
        <p:nvSpPr>
          <p:cNvPr id="20" name="Shape 16"/>
          <p:cNvSpPr/>
          <p:nvPr/>
        </p:nvSpPr>
        <p:spPr>
          <a:xfrm>
            <a:off x="548640" y="4297680"/>
            <a:ext cx="11064240" cy="420624"/>
          </a:xfrm>
          <a:prstGeom prst="roundRect">
            <a:avLst>
              <a:gd name="adj" fmla="val 17391"/>
            </a:avLst>
          </a:prstGeom>
          <a:solidFill>
            <a:srgbClr val="C99A2E"/>
          </a:solidFill>
          <a:ln w="12700">
            <a:solidFill>
              <a:srgbClr val="DCE3EC"/>
            </a:solidFill>
            <a:prstDash val="solid"/>
          </a:ln>
        </p:spPr>
      </p:sp>
      <p:sp>
        <p:nvSpPr>
          <p:cNvPr id="21" name="Text 17"/>
          <p:cNvSpPr/>
          <p:nvPr/>
        </p:nvSpPr>
        <p:spPr>
          <a:xfrm>
            <a:off x="822960" y="4297680"/>
            <a:ext cx="2103120" cy="420624"/>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LAB TIME</a:t>
            </a:r>
            <a:endParaRPr lang="en-US" sz="1250" dirty="0"/>
          </a:p>
        </p:txBody>
      </p:sp>
      <p:sp>
        <p:nvSpPr>
          <p:cNvPr id="22" name="Text 18"/>
          <p:cNvSpPr/>
          <p:nvPr/>
        </p:nvSpPr>
        <p:spPr>
          <a:xfrm>
            <a:off x="3017520" y="4297680"/>
            <a:ext cx="8412480" cy="420624"/>
          </a:xfrm>
          <a:prstGeom prst="rect">
            <a:avLst/>
          </a:prstGeom>
          <a:noFill/>
          <a:ln/>
        </p:spPr>
        <p:txBody>
          <a:bodyPr wrap="square" lIns="0" tIns="0" rIns="0" bIns="0" rtlCol="0" anchor="ctr"/>
          <a:lstStyle/>
          <a:p>
            <a:pPr indent="0" marL="0">
              <a:buNone/>
            </a:pPr>
            <a:r>
              <a:rPr lang="en-US" sz="1250" b="1" i="1" dirty="0">
                <a:solidFill>
                  <a:srgbClr val="16305C"/>
                </a:solidFill>
                <a:latin typeface="Calibri" pitchFamily="34" charset="0"/>
                <a:ea typeface="Calibri" pitchFamily="34" charset="-122"/>
                <a:cs typeface="Calibri" pitchFamily="34" charset="-120"/>
              </a:rPr>
              <a:t>— A Hit That Reacts —</a:t>
            </a:r>
            <a:endParaRPr lang="en-US" sz="1250" dirty="0"/>
          </a:p>
        </p:txBody>
      </p:sp>
      <p:sp>
        <p:nvSpPr>
          <p:cNvPr id="23" name="Shape 19"/>
          <p:cNvSpPr/>
          <p:nvPr/>
        </p:nvSpPr>
        <p:spPr>
          <a:xfrm>
            <a:off x="548640" y="4809744"/>
            <a:ext cx="11064240" cy="512064"/>
          </a:xfrm>
          <a:prstGeom prst="roundRect">
            <a:avLst>
              <a:gd name="adj" fmla="val 14286"/>
            </a:avLst>
          </a:prstGeom>
          <a:solidFill>
            <a:srgbClr val="FFFFFF"/>
          </a:solidFill>
          <a:ln w="12700">
            <a:solidFill>
              <a:srgbClr val="DCE3EC"/>
            </a:solidFill>
            <a:prstDash val="solid"/>
          </a:ln>
        </p:spPr>
      </p:sp>
      <p:sp>
        <p:nvSpPr>
          <p:cNvPr id="24" name="Text 20"/>
          <p:cNvSpPr/>
          <p:nvPr/>
        </p:nvSpPr>
        <p:spPr>
          <a:xfrm>
            <a:off x="822960" y="4809744"/>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0:55 - 1:50</a:t>
            </a:r>
            <a:endParaRPr lang="en-US" sz="1300" dirty="0"/>
          </a:p>
        </p:txBody>
      </p:sp>
      <p:sp>
        <p:nvSpPr>
          <p:cNvPr id="25" name="Text 21"/>
          <p:cNvSpPr/>
          <p:nvPr/>
        </p:nvSpPr>
        <p:spPr>
          <a:xfrm>
            <a:off x="3017520" y="4809744"/>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Wire up the flash and explosion, verify game logic unchanged</a:t>
            </a:r>
            <a:endParaRPr lang="en-US" sz="1230" dirty="0"/>
          </a:p>
        </p:txBody>
      </p:sp>
      <p:sp>
        <p:nvSpPr>
          <p:cNvPr id="26" name="Shape 22"/>
          <p:cNvSpPr/>
          <p:nvPr/>
        </p:nvSpPr>
        <p:spPr>
          <a:xfrm>
            <a:off x="548640" y="5413248"/>
            <a:ext cx="11064240" cy="512064"/>
          </a:xfrm>
          <a:prstGeom prst="roundRect">
            <a:avLst>
              <a:gd name="adj" fmla="val 14286"/>
            </a:avLst>
          </a:prstGeom>
          <a:solidFill>
            <a:srgbClr val="FFFFFF"/>
          </a:solidFill>
          <a:ln w="12700">
            <a:solidFill>
              <a:srgbClr val="DCE3EC"/>
            </a:solidFill>
            <a:prstDash val="solid"/>
          </a:ln>
        </p:spPr>
      </p:sp>
      <p:sp>
        <p:nvSpPr>
          <p:cNvPr id="27" name="Text 23"/>
          <p:cNvSpPr/>
          <p:nvPr/>
        </p:nvSpPr>
        <p:spPr>
          <a:xfrm>
            <a:off x="822960" y="5413248"/>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1:50 - 2:00</a:t>
            </a:r>
            <a:endParaRPr lang="en-US" sz="1300" dirty="0"/>
          </a:p>
        </p:txBody>
      </p:sp>
      <p:sp>
        <p:nvSpPr>
          <p:cNvPr id="28" name="Text 24"/>
          <p:cNvSpPr/>
          <p:nvPr/>
        </p:nvSpPr>
        <p:spPr>
          <a:xfrm>
            <a:off x="3017520" y="5413248"/>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Exit check: best explosion wins bragging rights</a:t>
            </a:r>
            <a:endParaRPr lang="en-US" sz="1230" dirty="0"/>
          </a:p>
        </p:txBody>
      </p:sp>
      <p:sp>
        <p:nvSpPr>
          <p:cNvPr id="29" name="Text 2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30" name="Text 2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13</a:t>
            </a:r>
            <a:endParaRPr lang="en-US" sz="1000" dirty="0"/>
          </a:p>
        </p:txBody>
      </p:sp>
      <p:sp>
        <p:nvSpPr>
          <p:cNvPr id="31" name="Text 2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_title_boo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Welcome Back</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Your game has a voice. Now it gets a body.</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13</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Welcome Back</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71600"/>
            <a:ext cx="1051560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Quick recap of Lesson 12:</a:t>
            </a:r>
            <a:endParaRPr lang="en-US" sz="1600" dirty="0"/>
          </a:p>
        </p:txBody>
      </p:sp>
      <p:pic>
        <p:nvPicPr>
          <p:cNvPr id="7" name="Image 1" descr="icons/check.png">    </p:cNvPr>
          <p:cNvPicPr>
            <a:picLocks noChangeAspect="1"/>
          </p:cNvPicPr>
          <p:nvPr/>
        </p:nvPicPr>
        <p:blipFill>
          <a:blip r:embed="rId2"/>
          <a:stretch>
            <a:fillRect/>
          </a:stretch>
        </p:blipFill>
        <p:spPr>
          <a:xfrm>
            <a:off x="548640" y="1828800"/>
            <a:ext cx="365760" cy="365760"/>
          </a:xfrm>
          <a:prstGeom prst="rect">
            <a:avLst/>
          </a:prstGeom>
        </p:spPr>
      </p:pic>
      <p:sp>
        <p:nvSpPr>
          <p:cNvPr id="8" name="Text 4"/>
          <p:cNvSpPr/>
          <p:nvPr/>
        </p:nvSpPr>
        <p:spPr>
          <a:xfrm>
            <a:off x="1051560" y="175564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Four sounds wired into their exact matching events</a:t>
            </a:r>
            <a:endParaRPr lang="en-US" sz="1500" dirty="0"/>
          </a:p>
        </p:txBody>
      </p:sp>
      <p:pic>
        <p:nvPicPr>
          <p:cNvPr id="9" name="Image 2" descr="icons/check.png">    </p:cNvPr>
          <p:cNvPicPr>
            <a:picLocks noChangeAspect="1"/>
          </p:cNvPicPr>
          <p:nvPr/>
        </p:nvPicPr>
        <p:blipFill>
          <a:blip r:embed="rId3"/>
          <a:stretch>
            <a:fillRect/>
          </a:stretch>
        </p:blipFill>
        <p:spPr>
          <a:xfrm>
            <a:off x="548640" y="2606040"/>
            <a:ext cx="365760" cy="365760"/>
          </a:xfrm>
          <a:prstGeom prst="rect">
            <a:avLst/>
          </a:prstGeom>
        </p:spPr>
      </p:pic>
      <p:sp>
        <p:nvSpPr>
          <p:cNvPr id="10" name="Text 5"/>
          <p:cNvSpPr/>
          <p:nvPr/>
        </p:nvSpPr>
        <p:spPr>
          <a:xfrm>
            <a:off x="1051560" y="253288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Since Lesson 4, a hit just vanishes - functional, not satisfying</a:t>
            </a:r>
            <a:endParaRPr lang="en-US" sz="1500" dirty="0"/>
          </a:p>
        </p:txBody>
      </p:sp>
      <p:pic>
        <p:nvPicPr>
          <p:cNvPr id="11" name="Image 3" descr="icons/check.png">    </p:cNvPr>
          <p:cNvPicPr>
            <a:picLocks noChangeAspect="1"/>
          </p:cNvPicPr>
          <p:nvPr/>
        </p:nvPicPr>
        <p:blipFill>
          <a:blip r:embed="rId4"/>
          <a:stretch>
            <a:fillRect/>
          </a:stretch>
        </p:blipFill>
        <p:spPr>
          <a:xfrm>
            <a:off x="548640" y="3383280"/>
            <a:ext cx="365760" cy="365760"/>
          </a:xfrm>
          <a:prstGeom prst="rect">
            <a:avLst/>
          </a:prstGeom>
        </p:spPr>
      </p:pic>
      <p:sp>
        <p:nvSpPr>
          <p:cNvPr id="12" name="Text 6"/>
          <p:cNvSpPr/>
          <p:nvPr/>
        </p:nvSpPr>
        <p:spPr>
          <a:xfrm>
            <a:off x="1051560" y="331012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Today: a brief flash, then a small explosion, before it disappears</a:t>
            </a:r>
            <a:endParaRPr lang="en-US" sz="1500" dirty="0"/>
          </a:p>
        </p:txBody>
      </p:sp>
      <p:sp>
        <p:nvSpPr>
          <p:cNvPr id="13" name="Shape 7"/>
          <p:cNvSpPr/>
          <p:nvPr/>
        </p:nvSpPr>
        <p:spPr>
          <a:xfrm>
            <a:off x="548640" y="4343400"/>
            <a:ext cx="11064240" cy="1371600"/>
          </a:xfrm>
          <a:prstGeom prst="roundRect">
            <a:avLst>
              <a:gd name="adj" fmla="val 8000"/>
            </a:avLst>
          </a:prstGeom>
          <a:solidFill>
            <a:srgbClr val="EDF2F8"/>
          </a:solidFill>
          <a:ln/>
        </p:spPr>
      </p:sp>
      <p:pic>
        <p:nvPicPr>
          <p:cNvPr id="14" name="Image 4" descr="icons/design.png">    </p:cNvPr>
          <p:cNvPicPr>
            <a:picLocks noChangeAspect="1"/>
          </p:cNvPicPr>
          <p:nvPr/>
        </p:nvPicPr>
        <p:blipFill>
          <a:blip r:embed="rId5"/>
          <a:stretch>
            <a:fillRect/>
          </a:stretch>
        </p:blipFill>
        <p:spPr>
          <a:xfrm>
            <a:off x="777240" y="4572000"/>
            <a:ext cx="548640" cy="548640"/>
          </a:xfrm>
          <a:prstGeom prst="rect">
            <a:avLst/>
          </a:prstGeom>
        </p:spPr>
      </p:pic>
      <p:sp>
        <p:nvSpPr>
          <p:cNvPr id="15" name="Text 8"/>
          <p:cNvSpPr/>
          <p:nvPr/>
        </p:nvSpPr>
        <p:spPr>
          <a:xfrm>
            <a:off x="1508760" y="4526280"/>
            <a:ext cx="9875520" cy="9601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Open your own project from last week today, not a new one. One new image is provided (explosion_placeholder.png) - Unreal students reuse existing shapes, TIC-80 students draw their own.</a:t>
            </a:r>
            <a:endParaRPr lang="en-US" sz="1400" dirty="0"/>
          </a:p>
        </p:txBody>
      </p:sp>
      <p:sp>
        <p:nvSpPr>
          <p:cNvPr id="16"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7"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13</a:t>
            </a:r>
            <a:endParaRPr lang="en-US" sz="1000" dirty="0"/>
          </a:p>
        </p:txBody>
      </p:sp>
      <p:sp>
        <p:nvSpPr>
          <p:cNvPr id="18"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_title_desig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A Hit That Reacts</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Two new visual touches - and one strict rule.</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13</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96012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Two New Visual Touches</a:t>
            </a:r>
            <a:endParaRPr lang="en-US" sz="32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10 min</a:t>
            </a:r>
            <a:endParaRPr lang="en-US" sz="1200" dirty="0"/>
          </a:p>
        </p:txBody>
      </p:sp>
      <p:sp>
        <p:nvSpPr>
          <p:cNvPr id="6" name="Shape 3"/>
          <p:cNvSpPr/>
          <p:nvPr/>
        </p:nvSpPr>
        <p:spPr>
          <a:xfrm>
            <a:off x="548640" y="1371600"/>
            <a:ext cx="11064240" cy="1554480"/>
          </a:xfrm>
          <a:prstGeom prst="roundRect">
            <a:avLst>
              <a:gd name="adj" fmla="val 7059"/>
            </a:avLst>
          </a:prstGeom>
          <a:solidFill>
            <a:srgbClr val="EDF2F8"/>
          </a:solidFill>
          <a:ln/>
        </p:spPr>
      </p:sp>
      <p:pic>
        <p:nvPicPr>
          <p:cNvPr id="7" name="Image 1" descr="icons/design.png">    </p:cNvPr>
          <p:cNvPicPr>
            <a:picLocks noChangeAspect="1"/>
          </p:cNvPicPr>
          <p:nvPr/>
        </p:nvPicPr>
        <p:blipFill>
          <a:blip r:embed="rId2"/>
          <a:stretch>
            <a:fillRect/>
          </a:stretch>
        </p:blipFill>
        <p:spPr>
          <a:xfrm>
            <a:off x="777240" y="1600200"/>
            <a:ext cx="502920" cy="502920"/>
          </a:xfrm>
          <a:prstGeom prst="rect">
            <a:avLst/>
          </a:prstGeom>
        </p:spPr>
      </p:pic>
      <p:sp>
        <p:nvSpPr>
          <p:cNvPr id="8" name="Text 4"/>
          <p:cNvSpPr/>
          <p:nvPr/>
        </p:nvSpPr>
        <p:spPr>
          <a:xfrm>
            <a:off x="1463040" y="1508760"/>
            <a:ext cx="9966960" cy="128016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First: the enemy itself briefly flashes - a reaction ON the thing that got hit. Second: a completely separate explosion effect appears at that spot and plays itself out - independent of the enemy entirely.</a:t>
            </a:r>
            <a:endParaRPr lang="en-US" sz="1400" dirty="0"/>
          </a:p>
        </p:txBody>
      </p:sp>
      <p:sp>
        <p:nvSpPr>
          <p:cNvPr id="9" name="Shape 5"/>
          <p:cNvSpPr/>
          <p:nvPr/>
        </p:nvSpPr>
        <p:spPr>
          <a:xfrm>
            <a:off x="548640" y="3108960"/>
            <a:ext cx="11064240" cy="1691640"/>
          </a:xfrm>
          <a:prstGeom prst="roundRect">
            <a:avLst>
              <a:gd name="adj" fmla="val 6486"/>
            </a:avLst>
          </a:prstGeom>
          <a:solidFill>
            <a:srgbClr val="0F2C52"/>
          </a:solidFill>
          <a:ln w="12700">
            <a:solidFill>
              <a:srgbClr val="C99A2E"/>
            </a:solidFill>
            <a:prstDash val="solid"/>
          </a:ln>
        </p:spPr>
      </p:sp>
      <p:sp>
        <p:nvSpPr>
          <p:cNvPr id="10" name="Text 6"/>
          <p:cNvSpPr/>
          <p:nvPr/>
        </p:nvSpPr>
        <p:spPr>
          <a:xfrm>
            <a:off x="822960" y="3291840"/>
            <a:ext cx="10515600" cy="1371600"/>
          </a:xfrm>
          <a:prstGeom prst="rect">
            <a:avLst/>
          </a:prstGeom>
          <a:noFill/>
          <a:ln/>
        </p:spPr>
        <p:txBody>
          <a:bodyPr wrap="square" lIns="0" tIns="0" rIns="0" bIns="0" rtlCol="0" anchor="ctr"/>
          <a:lstStyle/>
          <a:p>
            <a:pPr indent="0" marL="0">
              <a:buNone/>
            </a:pPr>
            <a:r>
              <a:rPr lang="en-US" sz="1600" b="1" dirty="0">
                <a:solidFill>
                  <a:srgbClr val="E8C25A"/>
                </a:solidFill>
                <a:latin typeface="Calibri" pitchFamily="34" charset="0"/>
                <a:ea typeface="Calibri" pitchFamily="34" charset="-122"/>
                <a:cs typeface="Calibri" pitchFamily="34" charset="-120"/>
              </a:rPr>
              <a:t>The rule for today: score, lives, wave, and win/lose logic don't change WHEN they happen. Only how the enemy's removal LOOKS is changing.</a:t>
            </a:r>
            <a:endParaRPr lang="en-US" sz="1600" dirty="0"/>
          </a:p>
        </p:txBody>
      </p:sp>
      <p:sp>
        <p:nvSpPr>
          <p:cNvPr id="11" name="Text 7"/>
          <p:cNvSpPr/>
          <p:nvPr/>
        </p:nvSpPr>
        <p:spPr>
          <a:xfrm>
            <a:off x="548640" y="5029200"/>
            <a:ext cx="11064240" cy="457200"/>
          </a:xfrm>
          <a:prstGeom prst="rect">
            <a:avLst/>
          </a:prstGeom>
          <a:noFill/>
          <a:ln/>
        </p:spPr>
        <p:txBody>
          <a:bodyPr wrap="square" lIns="0" tIns="0" rIns="0" bIns="0" rtlCol="0" anchor="ctr"/>
          <a:lstStyle/>
          <a:p>
            <a:pPr indent="0" marL="0">
              <a:buNone/>
            </a:pPr>
            <a:r>
              <a:rPr lang="en-US" sz="1300" i="1" dirty="0">
                <a:solidFill>
                  <a:srgbClr val="5A6472"/>
                </a:solidFill>
                <a:latin typeface="Calibri" pitchFamily="34" charset="0"/>
                <a:ea typeface="Calibri" pitchFamily="34" charset="-122"/>
                <a:cs typeface="Calibri" pitchFamily="34" charset="-120"/>
              </a:rPr>
              <a:t>If you find yourself moving scoring code around this week, stop and re-check the Handout.</a:t>
            </a:r>
            <a:endParaRPr lang="en-US" sz="1300" dirty="0"/>
          </a:p>
        </p:txBody>
      </p:sp>
      <p:sp>
        <p:nvSpPr>
          <p:cNvPr id="12" name="Text 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3" name="Text 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13</a:t>
            </a:r>
            <a:endParaRPr lang="en-US" sz="1000" dirty="0"/>
          </a:p>
        </p:txBody>
      </p:sp>
      <p:sp>
        <p:nvSpPr>
          <p:cNvPr id="14" name="Text 1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_title_programmin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Pausing Mid-Script</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Three engine families, three genuinely different solutions.</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25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13</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9875520" cy="640080"/>
          </a:xfrm>
          <a:prstGeom prst="rect">
            <a:avLst/>
          </a:prstGeom>
          <a:noFill/>
          <a:ln/>
        </p:spPr>
        <p:txBody>
          <a:bodyPr wrap="square" lIns="0" tIns="0" rIns="0" bIns="0" rtlCol="0" anchor="ctr"/>
          <a:lstStyle/>
          <a:p>
            <a:pPr indent="0" marL="0">
              <a:buNone/>
            </a:pPr>
            <a:r>
              <a:rPr lang="en-US" sz="3000" b="1" dirty="0">
                <a:solidFill>
                  <a:srgbClr val="1C4A86"/>
                </a:solidFill>
                <a:latin typeface="Cambria" pitchFamily="34" charset="0"/>
                <a:ea typeface="Cambria" pitchFamily="34" charset="-122"/>
                <a:cs typeface="Cambria" pitchFamily="34" charset="-120"/>
              </a:rPr>
              <a:t>Three Solutions, One Problem</a:t>
            </a:r>
            <a:endParaRPr lang="en-US" sz="30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25 min</a:t>
            </a:r>
            <a:endParaRPr lang="en-US" sz="1200" dirty="0"/>
          </a:p>
        </p:txBody>
      </p:sp>
      <p:sp>
        <p:nvSpPr>
          <p:cNvPr id="6" name="Text 3"/>
          <p:cNvSpPr/>
          <p:nvPr/>
        </p:nvSpPr>
        <p:spPr>
          <a:xfrm>
            <a:off x="548640" y="1280160"/>
            <a:ext cx="10881360" cy="77724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To see a flash, the enemy must stick around a moment after being hit - something in our code needs to pause, without freezing the whole game.</a:t>
            </a:r>
            <a:endParaRPr lang="en-US" sz="1450" dirty="0"/>
          </a:p>
        </p:txBody>
      </p:sp>
      <p:sp>
        <p:nvSpPr>
          <p:cNvPr id="7" name="Shape 4"/>
          <p:cNvSpPr/>
          <p:nvPr/>
        </p:nvSpPr>
        <p:spPr>
          <a:xfrm>
            <a:off x="548640" y="2240280"/>
            <a:ext cx="11064240" cy="960120"/>
          </a:xfrm>
          <a:prstGeom prst="roundRect">
            <a:avLst>
              <a:gd name="adj" fmla="val 9524"/>
            </a:avLst>
          </a:prstGeom>
          <a:solidFill>
            <a:srgbClr val="EDF2F8"/>
          </a:solidFill>
          <a:ln w="12700">
            <a:solidFill>
              <a:srgbClr val="DCE3EC"/>
            </a:solidFill>
            <a:prstDash val="solid"/>
          </a:ln>
        </p:spPr>
      </p:sp>
      <p:sp>
        <p:nvSpPr>
          <p:cNvPr id="8" name="Text 5"/>
          <p:cNvSpPr/>
          <p:nvPr/>
        </p:nvSpPr>
        <p:spPr>
          <a:xfrm>
            <a:off x="822960" y="2350008"/>
            <a:ext cx="3017520" cy="73152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Godot &amp; Unity</a:t>
            </a:r>
            <a:endParaRPr lang="en-US" sz="1450" dirty="0"/>
          </a:p>
        </p:txBody>
      </p:sp>
      <p:sp>
        <p:nvSpPr>
          <p:cNvPr id="9" name="Text 6"/>
          <p:cNvSpPr/>
          <p:nvPr/>
        </p:nvSpPr>
        <p:spPr>
          <a:xfrm>
            <a:off x="3931920" y="2350008"/>
            <a:ext cx="7498080" cy="73152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await / Coroutine - the language itself can pause mid-function.</a:t>
            </a:r>
            <a:endParaRPr lang="en-US" sz="1300" dirty="0"/>
          </a:p>
        </p:txBody>
      </p:sp>
      <p:sp>
        <p:nvSpPr>
          <p:cNvPr id="10" name="Shape 7"/>
          <p:cNvSpPr/>
          <p:nvPr/>
        </p:nvSpPr>
        <p:spPr>
          <a:xfrm>
            <a:off x="548640" y="3337560"/>
            <a:ext cx="11064240" cy="960120"/>
          </a:xfrm>
          <a:prstGeom prst="roundRect">
            <a:avLst>
              <a:gd name="adj" fmla="val 9524"/>
            </a:avLst>
          </a:prstGeom>
          <a:solidFill>
            <a:srgbClr val="EDF2F8"/>
          </a:solidFill>
          <a:ln w="12700">
            <a:solidFill>
              <a:srgbClr val="DCE3EC"/>
            </a:solidFill>
            <a:prstDash val="solid"/>
          </a:ln>
        </p:spPr>
      </p:sp>
      <p:sp>
        <p:nvSpPr>
          <p:cNvPr id="11" name="Text 8"/>
          <p:cNvSpPr/>
          <p:nvPr/>
        </p:nvSpPr>
        <p:spPr>
          <a:xfrm>
            <a:off x="822960" y="3447288"/>
            <a:ext cx="3017520" cy="73152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GameMaker &amp; TIC-80</a:t>
            </a:r>
            <a:endParaRPr lang="en-US" sz="1450" dirty="0"/>
          </a:p>
        </p:txBody>
      </p:sp>
      <p:sp>
        <p:nvSpPr>
          <p:cNvPr id="12" name="Text 9"/>
          <p:cNvSpPr/>
          <p:nvPr/>
        </p:nvSpPr>
        <p:spPr>
          <a:xfrm>
            <a:off x="3931920" y="3447288"/>
            <a:ext cx="7498080" cy="73152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No blocking wait - split into "trigger" and "finish" via an Alarm or a countdown.</a:t>
            </a:r>
            <a:endParaRPr lang="en-US" sz="1300" dirty="0"/>
          </a:p>
        </p:txBody>
      </p:sp>
      <p:sp>
        <p:nvSpPr>
          <p:cNvPr id="13" name="Shape 10"/>
          <p:cNvSpPr/>
          <p:nvPr/>
        </p:nvSpPr>
        <p:spPr>
          <a:xfrm>
            <a:off x="548640" y="4434840"/>
            <a:ext cx="11064240" cy="960120"/>
          </a:xfrm>
          <a:prstGeom prst="roundRect">
            <a:avLst>
              <a:gd name="adj" fmla="val 9524"/>
            </a:avLst>
          </a:prstGeom>
          <a:solidFill>
            <a:srgbClr val="EDF2F8"/>
          </a:solidFill>
          <a:ln w="12700">
            <a:solidFill>
              <a:srgbClr val="DCE3EC"/>
            </a:solidFill>
            <a:prstDash val="solid"/>
          </a:ln>
        </p:spPr>
      </p:sp>
      <p:sp>
        <p:nvSpPr>
          <p:cNvPr id="14" name="Text 11"/>
          <p:cNvSpPr/>
          <p:nvPr/>
        </p:nvSpPr>
        <p:spPr>
          <a:xfrm>
            <a:off x="822960" y="4544568"/>
            <a:ext cx="3017520" cy="73152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Unreal &amp; 001GC</a:t>
            </a:r>
            <a:endParaRPr lang="en-US" sz="1450" dirty="0"/>
          </a:p>
        </p:txBody>
      </p:sp>
      <p:sp>
        <p:nvSpPr>
          <p:cNvPr id="15" name="Text 12"/>
          <p:cNvSpPr/>
          <p:nvPr/>
        </p:nvSpPr>
        <p:spPr>
          <a:xfrm>
            <a:off x="3931920" y="4544568"/>
            <a:ext cx="7498080" cy="73152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Delay node pauses a Blueprint wire; 001GC's Flash manages its own timing.</a:t>
            </a:r>
            <a:endParaRPr lang="en-US" sz="1300" dirty="0"/>
          </a:p>
        </p:txBody>
      </p:sp>
      <p:sp>
        <p:nvSpPr>
          <p:cNvPr id="16" name="Text 13"/>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7" name="Text 14"/>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13</a:t>
            </a:r>
            <a:endParaRPr lang="en-US" sz="1000" dirty="0"/>
          </a:p>
        </p:txBody>
      </p:sp>
      <p:sp>
        <p:nvSpPr>
          <p:cNvPr id="18" name="Text 15"/>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_title_wrench.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Minds Its Own Business</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One object, one job, cleans up after itself.</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13</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11064240" cy="640080"/>
          </a:xfrm>
          <a:prstGeom prst="rect">
            <a:avLst/>
          </a:prstGeom>
          <a:noFill/>
          <a:ln/>
        </p:spPr>
        <p:txBody>
          <a:bodyPr wrap="square" lIns="0" tIns="0" rIns="0" bIns="0" rtlCol="0" anchor="ctr"/>
          <a:lstStyle/>
          <a:p>
            <a:pPr indent="0" marL="0">
              <a:buNone/>
            </a:pPr>
            <a:r>
              <a:rPr lang="en-US" sz="2800" b="1" dirty="0">
                <a:solidFill>
                  <a:srgbClr val="1C4A86"/>
                </a:solidFill>
                <a:latin typeface="Cambria" pitchFamily="34" charset="0"/>
                <a:ea typeface="Cambria" pitchFamily="34" charset="-122"/>
                <a:cs typeface="Cambria" pitchFamily="34" charset="-120"/>
              </a:rPr>
              <a:t>An Explosion That Minds Its Own Business</a:t>
            </a:r>
            <a:endParaRPr lang="en-US" sz="28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10 min</a:t>
            </a:r>
            <a:endParaRPr lang="en-US" sz="1200" dirty="0"/>
          </a:p>
        </p:txBody>
      </p:sp>
      <p:sp>
        <p:nvSpPr>
          <p:cNvPr id="6" name="Shape 3"/>
          <p:cNvSpPr/>
          <p:nvPr/>
        </p:nvSpPr>
        <p:spPr>
          <a:xfrm>
            <a:off x="548640" y="1371600"/>
            <a:ext cx="11064240" cy="1554480"/>
          </a:xfrm>
          <a:prstGeom prst="roundRect">
            <a:avLst>
              <a:gd name="adj" fmla="val 7059"/>
            </a:avLst>
          </a:prstGeom>
          <a:solidFill>
            <a:srgbClr val="EDF2F8"/>
          </a:solidFill>
          <a:ln/>
        </p:spPr>
      </p:sp>
      <p:pic>
        <p:nvPicPr>
          <p:cNvPr id="7" name="Image 1" descr="icons/wrench.png">    </p:cNvPr>
          <p:cNvPicPr>
            <a:picLocks noChangeAspect="1"/>
          </p:cNvPicPr>
          <p:nvPr/>
        </p:nvPicPr>
        <p:blipFill>
          <a:blip r:embed="rId2"/>
          <a:stretch>
            <a:fillRect/>
          </a:stretch>
        </p:blipFill>
        <p:spPr>
          <a:xfrm>
            <a:off x="777240" y="1600200"/>
            <a:ext cx="502920" cy="502920"/>
          </a:xfrm>
          <a:prstGeom prst="rect">
            <a:avLst/>
          </a:prstGeom>
        </p:spPr>
      </p:pic>
      <p:sp>
        <p:nvSpPr>
          <p:cNvPr id="8" name="Text 4"/>
          <p:cNvSpPr/>
          <p:nvPr/>
        </p:nvSpPr>
        <p:spPr>
          <a:xfrm>
            <a:off x="1463040" y="1508760"/>
            <a:ext cx="9966960" cy="128016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The explosion spawns at the hit location and immediately forgets everything else - no score, no wave, not even which enemy made it. It plays itself out and cleans itself up, on its own.</a:t>
            </a:r>
            <a:endParaRPr lang="en-US" sz="1400" dirty="0"/>
          </a:p>
        </p:txBody>
      </p:sp>
      <p:sp>
        <p:nvSpPr>
          <p:cNvPr id="9" name="Shape 5"/>
          <p:cNvSpPr/>
          <p:nvPr/>
        </p:nvSpPr>
        <p:spPr>
          <a:xfrm>
            <a:off x="548640" y="3108960"/>
            <a:ext cx="11064240" cy="1417320"/>
          </a:xfrm>
          <a:prstGeom prst="roundRect">
            <a:avLst>
              <a:gd name="adj" fmla="val 7742"/>
            </a:avLst>
          </a:prstGeom>
          <a:solidFill>
            <a:srgbClr val="0F2C52"/>
          </a:solidFill>
          <a:ln w="12700">
            <a:solidFill>
              <a:srgbClr val="C99A2E"/>
            </a:solidFill>
            <a:prstDash val="solid"/>
          </a:ln>
        </p:spPr>
      </p:sp>
      <p:sp>
        <p:nvSpPr>
          <p:cNvPr id="10" name="Text 6"/>
          <p:cNvSpPr/>
          <p:nvPr/>
        </p:nvSpPr>
        <p:spPr>
          <a:xfrm>
            <a:off x="822960" y="3291840"/>
            <a:ext cx="10515600" cy="1097280"/>
          </a:xfrm>
          <a:prstGeom prst="rect">
            <a:avLst/>
          </a:prstGeom>
          <a:noFill/>
          <a:ln/>
        </p:spPr>
        <p:txBody>
          <a:bodyPr wrap="square" lIns="0" tIns="0" rIns="0" bIns="0" rtlCol="0" anchor="ctr"/>
          <a:lstStyle/>
          <a:p>
            <a:pPr indent="0" marL="0">
              <a:buNone/>
            </a:pPr>
            <a:r>
              <a:rPr lang="en-US" sz="1400" i="1" dirty="0">
                <a:solidFill>
                  <a:srgbClr val="F4F0E6"/>
                </a:solidFill>
                <a:latin typeface="Calibri" pitchFamily="34" charset="0"/>
                <a:ea typeface="Calibri" pitchFamily="34" charset="-122"/>
                <a:cs typeface="Calibri" pitchFamily="34" charset="-120"/>
              </a:rPr>
              <a:t>This is the exact same discipline your bullets have followed since Lesson 3, and your enemies since Lesson 5. Every object, one job, cleans up after itself. The explosion is just the newest member of that club.</a:t>
            </a:r>
            <a:endParaRPr lang="en-US" sz="1400" dirty="0"/>
          </a:p>
        </p:txBody>
      </p:sp>
      <p:sp>
        <p:nvSpPr>
          <p:cNvPr id="11" name="Text 7"/>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2" name="Text 8"/>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13</a:t>
            </a:r>
            <a:endParaRPr lang="en-US" sz="1000" dirty="0"/>
          </a:p>
        </p:txBody>
      </p:sp>
      <p:sp>
        <p:nvSpPr>
          <p:cNvPr id="13" name="Text 9"/>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_title_productio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Today's Exercise &amp; Lab</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A Hit That Reacts - building the feedback loop.</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13</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A Hit That Reacts</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280160"/>
            <a:ext cx="10881360" cy="5943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Add a flash and an independent explosion effect - built on top of your existing project, with zero change to game-state timing.</a:t>
            </a:r>
            <a:endParaRPr lang="en-US" sz="1450" dirty="0"/>
          </a:p>
        </p:txBody>
      </p:sp>
      <p:sp>
        <p:nvSpPr>
          <p:cNvPr id="7" name="Shape 4"/>
          <p:cNvSpPr/>
          <p:nvPr/>
        </p:nvSpPr>
        <p:spPr>
          <a:xfrm>
            <a:off x="548640" y="2103120"/>
            <a:ext cx="3566160" cy="1920240"/>
          </a:xfrm>
          <a:prstGeom prst="roundRect">
            <a:avLst>
              <a:gd name="adj" fmla="val 4762"/>
            </a:avLst>
          </a:prstGeom>
          <a:solidFill>
            <a:srgbClr val="EDF2F8"/>
          </a:solidFill>
          <a:ln w="12700">
            <a:solidFill>
              <a:srgbClr val="DCE3EC"/>
            </a:solidFill>
            <a:prstDash val="solid"/>
          </a:ln>
        </p:spPr>
      </p:sp>
      <p:sp>
        <p:nvSpPr>
          <p:cNvPr id="8" name="Text 5"/>
          <p:cNvSpPr/>
          <p:nvPr/>
        </p:nvSpPr>
        <p:spPr>
          <a:xfrm>
            <a:off x="73152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1 - Minimal</a:t>
            </a:r>
            <a:endParaRPr lang="en-US" sz="1450" dirty="0"/>
          </a:p>
        </p:txBody>
      </p:sp>
      <p:sp>
        <p:nvSpPr>
          <p:cNvPr id="9" name="Text 6"/>
          <p:cNvSpPr/>
          <p:nvPr/>
        </p:nvSpPr>
        <p:spPr>
          <a:xfrm>
            <a:off x="73152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Every hit flashes the enemy and spawns an explosion effect.</a:t>
            </a:r>
            <a:endParaRPr lang="en-US" sz="1200" dirty="0"/>
          </a:p>
        </p:txBody>
      </p:sp>
      <p:sp>
        <p:nvSpPr>
          <p:cNvPr id="10" name="Text 7"/>
          <p:cNvSpPr/>
          <p:nvPr/>
        </p:nvSpPr>
        <p:spPr>
          <a:xfrm>
            <a:off x="73152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MVP - a complete finish for today.</a:t>
            </a:r>
            <a:endParaRPr lang="en-US" sz="1150" dirty="0"/>
          </a:p>
        </p:txBody>
      </p:sp>
      <p:sp>
        <p:nvSpPr>
          <p:cNvPr id="11" name="Shape 8"/>
          <p:cNvSpPr/>
          <p:nvPr/>
        </p:nvSpPr>
        <p:spPr>
          <a:xfrm>
            <a:off x="4297680" y="2103120"/>
            <a:ext cx="3566160" cy="1920240"/>
          </a:xfrm>
          <a:prstGeom prst="roundRect">
            <a:avLst>
              <a:gd name="adj" fmla="val 4762"/>
            </a:avLst>
          </a:prstGeom>
          <a:solidFill>
            <a:srgbClr val="EDF2F8"/>
          </a:solidFill>
          <a:ln w="12700">
            <a:solidFill>
              <a:srgbClr val="DCE3EC"/>
            </a:solidFill>
            <a:prstDash val="solid"/>
          </a:ln>
        </p:spPr>
      </p:sp>
      <p:sp>
        <p:nvSpPr>
          <p:cNvPr id="12" name="Text 9"/>
          <p:cNvSpPr/>
          <p:nvPr/>
        </p:nvSpPr>
        <p:spPr>
          <a:xfrm>
            <a:off x="448056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2 - Complete</a:t>
            </a:r>
            <a:endParaRPr lang="en-US" sz="1450" dirty="0"/>
          </a:p>
        </p:txBody>
      </p:sp>
      <p:sp>
        <p:nvSpPr>
          <p:cNvPr id="13" name="Text 10"/>
          <p:cNvSpPr/>
          <p:nvPr/>
        </p:nvSpPr>
        <p:spPr>
          <a:xfrm>
            <a:off x="448056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Correct on every hit, no stuck enemies, timing unaffected.</a:t>
            </a:r>
            <a:endParaRPr lang="en-US" sz="1200" dirty="0"/>
          </a:p>
        </p:txBody>
      </p:sp>
      <p:sp>
        <p:nvSpPr>
          <p:cNvPr id="14" name="Text 11"/>
          <p:cNvSpPr/>
          <p:nvPr/>
        </p:nvSpPr>
        <p:spPr>
          <a:xfrm>
            <a:off x="448056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Everything works end to end.</a:t>
            </a:r>
            <a:endParaRPr lang="en-US" sz="1150" dirty="0"/>
          </a:p>
        </p:txBody>
      </p:sp>
      <p:sp>
        <p:nvSpPr>
          <p:cNvPr id="15" name="Shape 12"/>
          <p:cNvSpPr/>
          <p:nvPr/>
        </p:nvSpPr>
        <p:spPr>
          <a:xfrm>
            <a:off x="8046720" y="2103120"/>
            <a:ext cx="3566160" cy="1920240"/>
          </a:xfrm>
          <a:prstGeom prst="roundRect">
            <a:avLst>
              <a:gd name="adj" fmla="val 4762"/>
            </a:avLst>
          </a:prstGeom>
          <a:solidFill>
            <a:srgbClr val="EDF2F8"/>
          </a:solidFill>
          <a:ln w="12700">
            <a:solidFill>
              <a:srgbClr val="DCE3EC"/>
            </a:solidFill>
            <a:prstDash val="solid"/>
          </a:ln>
        </p:spPr>
      </p:sp>
      <p:sp>
        <p:nvSpPr>
          <p:cNvPr id="16" name="Text 13"/>
          <p:cNvSpPr/>
          <p:nvPr/>
        </p:nvSpPr>
        <p:spPr>
          <a:xfrm>
            <a:off x="822960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3 - Refined</a:t>
            </a:r>
            <a:endParaRPr lang="en-US" sz="1450" dirty="0"/>
          </a:p>
        </p:txBody>
      </p:sp>
      <p:sp>
        <p:nvSpPr>
          <p:cNvPr id="17" name="Text 14"/>
          <p:cNvSpPr/>
          <p:nvPr/>
        </p:nvSpPr>
        <p:spPr>
          <a:xfrm>
            <a:off x="822960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Smoother fades, a scaling explosion, or a multi-frame flicker.</a:t>
            </a:r>
            <a:endParaRPr lang="en-US" sz="1200" dirty="0"/>
          </a:p>
        </p:txBody>
      </p:sp>
      <p:sp>
        <p:nvSpPr>
          <p:cNvPr id="18" name="Text 15"/>
          <p:cNvSpPr/>
          <p:nvPr/>
        </p:nvSpPr>
        <p:spPr>
          <a:xfrm>
            <a:off x="822960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Ready to share.</a:t>
            </a:r>
            <a:endParaRPr lang="en-US" sz="1150" dirty="0"/>
          </a:p>
        </p:txBody>
      </p:sp>
      <p:sp>
        <p:nvSpPr>
          <p:cNvPr id="19" name="Shape 16"/>
          <p:cNvSpPr/>
          <p:nvPr/>
        </p:nvSpPr>
        <p:spPr>
          <a:xfrm>
            <a:off x="548640" y="4297680"/>
            <a:ext cx="11064240" cy="1417320"/>
          </a:xfrm>
          <a:prstGeom prst="roundRect">
            <a:avLst>
              <a:gd name="adj" fmla="val 7742"/>
            </a:avLst>
          </a:prstGeom>
          <a:solidFill>
            <a:srgbClr val="0F2C52"/>
          </a:solidFill>
          <a:ln w="12700">
            <a:solidFill>
              <a:srgbClr val="C99A2E"/>
            </a:solidFill>
            <a:prstDash val="solid"/>
          </a:ln>
        </p:spPr>
      </p:sp>
      <p:pic>
        <p:nvPicPr>
          <p:cNvPr id="20" name="Image 1" descr="icons/wrench.png">    </p:cNvPr>
          <p:cNvPicPr>
            <a:picLocks noChangeAspect="1"/>
          </p:cNvPicPr>
          <p:nvPr/>
        </p:nvPicPr>
        <p:blipFill>
          <a:blip r:embed="rId2"/>
          <a:stretch>
            <a:fillRect/>
          </a:stretch>
        </p:blipFill>
        <p:spPr>
          <a:xfrm>
            <a:off x="777240" y="4498848"/>
            <a:ext cx="502920" cy="502920"/>
          </a:xfrm>
          <a:prstGeom prst="rect">
            <a:avLst/>
          </a:prstGeom>
        </p:spPr>
      </p:pic>
      <p:sp>
        <p:nvSpPr>
          <p:cNvPr id="21" name="Text 17"/>
          <p:cNvSpPr/>
          <p:nvPr/>
        </p:nvSpPr>
        <p:spPr>
          <a:xfrm>
            <a:off x="1463040" y="4407408"/>
            <a:ext cx="9966960" cy="1188720"/>
          </a:xfrm>
          <a:prstGeom prst="rect">
            <a:avLst/>
          </a:prstGeom>
          <a:noFill/>
          <a:ln/>
        </p:spPr>
        <p:txBody>
          <a:bodyPr wrap="square" lIns="0" tIns="0" rIns="0" bIns="0" rtlCol="0" anchor="ctr"/>
          <a:lstStyle/>
          <a:p>
            <a:pPr indent="0" marL="0">
              <a:buNone/>
            </a:pPr>
            <a:r>
              <a:rPr lang="en-US" sz="1250" dirty="0">
                <a:solidFill>
                  <a:srgbClr val="F4F0E6"/>
                </a:solidFill>
                <a:latin typeface="Calibri" pitchFamily="34" charset="0"/>
                <a:ea typeface="Calibri" pitchFamily="34" charset="-122"/>
                <a:cs typeface="Calibri" pitchFamily="34" charset="-120"/>
              </a:rPr>
              <a:t>Test a FULL round when you're done - shooting, a wave clear, even a loss - and confirm nothing about your SCORING changed, only the visuals.</a:t>
            </a:r>
            <a:endParaRPr lang="en-US" sz="1250" dirty="0"/>
          </a:p>
        </p:txBody>
      </p:sp>
      <p:sp>
        <p:nvSpPr>
          <p:cNvPr id="22" name="Text 1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3" name="Text 1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13</a:t>
            </a:r>
            <a:endParaRPr lang="en-US" sz="1000" dirty="0"/>
          </a:p>
        </p:txBody>
      </p:sp>
      <p:sp>
        <p:nvSpPr>
          <p:cNvPr id="24" name="Text 2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Lab Time Notes</a:t>
            </a:r>
            <a:endParaRPr lang="en-US" sz="3400" dirty="0"/>
          </a:p>
        </p:txBody>
      </p:sp>
      <p:pic>
        <p:nvPicPr>
          <p:cNvPr id="4" name="Image 1" descr="icons/wrench.png">    </p:cNvPr>
          <p:cNvPicPr>
            <a:picLocks noChangeAspect="1"/>
          </p:cNvPicPr>
          <p:nvPr/>
        </p:nvPicPr>
        <p:blipFill>
          <a:blip r:embed="rId2"/>
          <a:stretch>
            <a:fillRect/>
          </a:stretch>
        </p:blipFill>
        <p:spPr>
          <a:xfrm>
            <a:off x="10515600" y="365760"/>
            <a:ext cx="914400" cy="914400"/>
          </a:xfrm>
          <a:prstGeom prst="rect">
            <a:avLst/>
          </a:prstGeom>
        </p:spPr>
      </p:pic>
      <p:pic>
        <p:nvPicPr>
          <p:cNvPr id="5" name="Image 2" descr="icons/check.png">    </p:cNvPr>
          <p:cNvPicPr>
            <a:picLocks noChangeAspect="1"/>
          </p:cNvPicPr>
          <p:nvPr/>
        </p:nvPicPr>
        <p:blipFill>
          <a:blip r:embed="rId3"/>
          <a:stretch>
            <a:fillRect/>
          </a:stretch>
        </p:blipFill>
        <p:spPr>
          <a:xfrm>
            <a:off x="548640" y="1600200"/>
            <a:ext cx="384048" cy="384048"/>
          </a:xfrm>
          <a:prstGeom prst="rect">
            <a:avLst/>
          </a:prstGeom>
        </p:spPr>
      </p:pic>
      <p:sp>
        <p:nvSpPr>
          <p:cNvPr id="6" name="Text 1"/>
          <p:cNvSpPr/>
          <p:nvPr/>
        </p:nvSpPr>
        <p:spPr>
          <a:xfrm>
            <a:off x="1097280" y="146304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Watch for score/win-check logic accidentally moved along with the delay - it should stay immediate; only the enemy's final removal is delayed.</a:t>
            </a:r>
            <a:endParaRPr lang="en-US" sz="1350" dirty="0"/>
          </a:p>
        </p:txBody>
      </p:sp>
      <p:pic>
        <p:nvPicPr>
          <p:cNvPr id="7" name="Image 3" descr="icons/check.png">    </p:cNvPr>
          <p:cNvPicPr>
            <a:picLocks noChangeAspect="1"/>
          </p:cNvPicPr>
          <p:nvPr/>
        </p:nvPicPr>
        <p:blipFill>
          <a:blip r:embed="rId4"/>
          <a:stretch>
            <a:fillRect/>
          </a:stretch>
        </p:blipFill>
        <p:spPr>
          <a:xfrm>
            <a:off x="548640" y="2651760"/>
            <a:ext cx="384048" cy="384048"/>
          </a:xfrm>
          <a:prstGeom prst="rect">
            <a:avLst/>
          </a:prstGeom>
        </p:spPr>
      </p:pic>
      <p:sp>
        <p:nvSpPr>
          <p:cNvPr id="8" name="Text 2"/>
          <p:cNvSpPr/>
          <p:nvPr/>
        </p:nvSpPr>
        <p:spPr>
          <a:xfrm>
            <a:off x="1097280" y="251460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GameMaker and TIC-80 need extra circulating time this week - splitting logic across two events/table fields is a bigger structural change than usual.</a:t>
            </a:r>
            <a:endParaRPr lang="en-US" sz="1350" dirty="0"/>
          </a:p>
        </p:txBody>
      </p:sp>
      <p:pic>
        <p:nvPicPr>
          <p:cNvPr id="9" name="Image 4" descr="icons/check.png">    </p:cNvPr>
          <p:cNvPicPr>
            <a:picLocks noChangeAspect="1"/>
          </p:cNvPicPr>
          <p:nvPr/>
        </p:nvPicPr>
        <p:blipFill>
          <a:blip r:embed="rId5"/>
          <a:stretch>
            <a:fillRect/>
          </a:stretch>
        </p:blipFill>
        <p:spPr>
          <a:xfrm>
            <a:off x="548640" y="3703320"/>
            <a:ext cx="384048" cy="384048"/>
          </a:xfrm>
          <a:prstGeom prst="rect">
            <a:avLst/>
          </a:prstGeom>
        </p:spPr>
      </p:pic>
      <p:sp>
        <p:nvSpPr>
          <p:cNvPr id="10" name="Text 3"/>
          <p:cNvSpPr/>
          <p:nvPr/>
        </p:nvSpPr>
        <p:spPr>
          <a:xfrm>
            <a:off x="1097280" y="356616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001 Game Creator: the enemy's own flash may be brief or inconsistent - that's expected. The explosion effect is the reliable part to check first.</a:t>
            </a:r>
            <a:endParaRPr lang="en-US" sz="1350" dirty="0"/>
          </a:p>
        </p:txBody>
      </p:sp>
      <p:pic>
        <p:nvPicPr>
          <p:cNvPr id="11" name="Image 5" descr="icons/check.png">    </p:cNvPr>
          <p:cNvPicPr>
            <a:picLocks noChangeAspect="1"/>
          </p:cNvPicPr>
          <p:nvPr/>
        </p:nvPicPr>
        <p:blipFill>
          <a:blip r:embed="rId6"/>
          <a:stretch>
            <a:fillRect/>
          </a:stretch>
        </p:blipFill>
        <p:spPr>
          <a:xfrm>
            <a:off x="548640" y="4754880"/>
            <a:ext cx="384048" cy="384048"/>
          </a:xfrm>
          <a:prstGeom prst="rect">
            <a:avLst/>
          </a:prstGeom>
        </p:spPr>
      </p:pic>
      <p:sp>
        <p:nvSpPr>
          <p:cNvPr id="12" name="Text 4"/>
          <p:cNvSpPr/>
          <p:nvPr/>
        </p:nvSpPr>
        <p:spPr>
          <a:xfrm>
            <a:off x="1097280" y="461772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This is a fun, visual week - let students actually watch a few hits happen slowly, and consider a quick show-and-tell of favorite explosion tweaks.</a:t>
            </a:r>
            <a:endParaRPr lang="en-US" sz="1350" dirty="0"/>
          </a:p>
        </p:txBody>
      </p:sp>
      <p:sp>
        <p:nvSpPr>
          <p:cNvPr id="13" name="Text 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4" name="Text 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13</a:t>
            </a:r>
            <a:endParaRPr lang="en-US" sz="1000" dirty="0"/>
          </a:p>
        </p:txBody>
      </p:sp>
      <p:sp>
        <p:nvSpPr>
          <p:cNvPr id="15" name="Text 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g_title_with_slh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2240280"/>
            <a:ext cx="12191695" cy="731520"/>
          </a:xfrm>
          <a:prstGeom prst="rect">
            <a:avLst/>
          </a:prstGeom>
          <a:noFill/>
          <a:ln/>
        </p:spPr>
        <p:txBody>
          <a:bodyPr wrap="square" lIns="0" tIns="0" rIns="0" bIns="0" rtlCol="0" anchor="ctr"/>
          <a:lstStyle/>
          <a:p>
            <a:pPr algn="ctr" indent="0" marL="0">
              <a:buNone/>
            </a:pPr>
            <a:r>
              <a:rPr lang="en-US" sz="4000" b="1" dirty="0">
                <a:solidFill>
                  <a:srgbClr val="E8C25A"/>
                </a:solidFill>
                <a:latin typeface="Cambria" pitchFamily="34" charset="0"/>
                <a:ea typeface="Cambria" pitchFamily="34" charset="-122"/>
                <a:cs typeface="Cambria" pitchFamily="34" charset="-120"/>
              </a:rPr>
              <a:t>It Reacts!</a:t>
            </a:r>
            <a:endParaRPr lang="en-US" sz="4000" dirty="0"/>
          </a:p>
        </p:txBody>
      </p:sp>
      <p:sp>
        <p:nvSpPr>
          <p:cNvPr id="4" name="Text 1"/>
          <p:cNvSpPr/>
          <p:nvPr/>
        </p:nvSpPr>
        <p:spPr>
          <a:xfrm>
            <a:off x="1371600" y="3063240"/>
            <a:ext cx="9448495" cy="548640"/>
          </a:xfrm>
          <a:prstGeom prst="rect">
            <a:avLst/>
          </a:prstGeom>
          <a:noFill/>
          <a:ln/>
        </p:spPr>
        <p:txBody>
          <a:bodyPr wrap="square" lIns="0" tIns="0" rIns="0" bIns="0" rtlCol="0" anchor="ctr"/>
          <a:lstStyle/>
          <a:p>
            <a:pPr algn="ctr" indent="0" marL="0">
              <a:buNone/>
            </a:pPr>
            <a:r>
              <a:rPr lang="en-US" sz="1600" dirty="0">
                <a:solidFill>
                  <a:srgbClr val="F4F0E6"/>
                </a:solidFill>
                <a:latin typeface="Calibri" pitchFamily="34" charset="0"/>
                <a:ea typeface="Calibri" pitchFamily="34" charset="-122"/>
                <a:cs typeface="Calibri" pitchFamily="34" charset="-120"/>
              </a:rPr>
              <a:t>A flash, a burst, then gone - getting hit finally looks like getting hit.</a:t>
            </a:r>
            <a:endParaRPr lang="en-US" sz="1600" dirty="0"/>
          </a:p>
        </p:txBody>
      </p:sp>
      <p:sp>
        <p:nvSpPr>
          <p:cNvPr id="5" name="Text 2"/>
          <p:cNvSpPr/>
          <p:nvPr/>
        </p:nvSpPr>
        <p:spPr>
          <a:xfrm>
            <a:off x="1371600" y="3657600"/>
            <a:ext cx="9448495" cy="548640"/>
          </a:xfrm>
          <a:prstGeom prst="rect">
            <a:avLst/>
          </a:prstGeom>
          <a:noFill/>
          <a:ln/>
        </p:spPr>
        <p:txBody>
          <a:bodyPr wrap="square" lIns="0" tIns="0" rIns="0" bIns="0" rtlCol="0" anchor="ctr"/>
          <a:lstStyle/>
          <a:p>
            <a:pPr algn="ctr" indent="0" marL="0">
              <a:buNone/>
            </a:pPr>
            <a:r>
              <a:rPr lang="en-US" sz="1500" dirty="0">
                <a:solidFill>
                  <a:srgbClr val="F4F0E6"/>
                </a:solidFill>
                <a:latin typeface="Calibri" pitchFamily="34" charset="0"/>
                <a:ea typeface="Calibri" pitchFamily="34" charset="-122"/>
                <a:cs typeface="Calibri" pitchFamily="34" charset="-120"/>
              </a:rPr>
              <a:t>Next week: difficulty scaling across waves, and optional stretch features.</a:t>
            </a:r>
            <a:endParaRPr lang="en-US" sz="1500" dirty="0"/>
          </a:p>
        </p:txBody>
      </p:sp>
      <p:sp>
        <p:nvSpPr>
          <p:cNvPr id="6" name="Text 3"/>
          <p:cNvSpPr/>
          <p:nvPr/>
        </p:nvSpPr>
        <p:spPr>
          <a:xfrm>
            <a:off x="1371600" y="4297680"/>
            <a:ext cx="9448495" cy="548640"/>
          </a:xfrm>
          <a:prstGeom prst="rect">
            <a:avLst/>
          </a:prstGeom>
          <a:noFill/>
          <a:ln/>
        </p:spPr>
        <p:txBody>
          <a:bodyPr wrap="square" lIns="0" tIns="0" rIns="0" bIns="0" rtlCol="0" anchor="ctr"/>
          <a:lstStyle/>
          <a:p>
            <a:pPr algn="ctr" indent="0" marL="0">
              <a:buNone/>
            </a:pPr>
            <a:r>
              <a:rPr lang="en-US" sz="1300" i="1" dirty="0">
                <a:solidFill>
                  <a:srgbClr val="9FB6D6"/>
                </a:solidFill>
                <a:latin typeface="Calibri" pitchFamily="34" charset="0"/>
                <a:ea typeface="Calibri" pitchFamily="34" charset="-122"/>
                <a:cs typeface="Calibri" pitchFamily="34" charset="-120"/>
              </a:rPr>
              <a:t>Keep playtesting a full round at home if you'd like - try a Level 3 animation idea if you haven't already.</a:t>
            </a:r>
            <a:endParaRPr lang="en-US" sz="13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13</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2026-08-01T23:42:04Z</dcterms:created>
  <dcterms:modified xsi:type="dcterms:W3CDTF">2026-08-01T23:42:04Z</dcterms:modified>
</cp:coreProperties>
</file>