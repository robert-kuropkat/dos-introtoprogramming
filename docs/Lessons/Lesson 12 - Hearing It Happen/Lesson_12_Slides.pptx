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week you hit Level 2 Complete - a real, replayable game with multiple waves. Today's a lighter lesson, and honestly, one of the most fun ones all semester: your game is about to start sounding like a game. From here through Lesson 15, we're not adding new mechanics anymore. We're making the mechanics you already have feel good - sound this week, animation next week, difficulty scaling after that, and a final polish pass before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plan at a glance: a short recap, the sound payoff concept, a live demo of wiring every sound into existing branches, a quick note on why none of today's sounds need a replay guard, then into lab time to build it out on each student's own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question - by a show of hands, who's built one of the optional 'add a sound' ideas along the way? Lesson 2's movement beep, Lesson 3's shoot sound, Lesson 4's hit sound, Lesson 6's victory sound, Lesson 8's life-lost and game-over sounds? However many hands went up, here's the deal: today, every one of those sounds becomes required for everyone, plus one brand-new sound - a wave-clear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key idea: every one of these sounds gets added to a spot in your code that ALREADY exists - the exact moment you fire a shot, the exact moment a bullet hits an enemy, the exact branch where a wave advances, the exact branch where you lose a life or the game ends. No new logic. Just one more line at each place you already built, or are building for the first time if you skipped the optional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Shoot and hit sounds are easy - they already live on obj_player and obj_bullet, one sound each, and if you built them back in Lessons 3 and 4, they need zero changes today. The more interesting part: win, wave-clear, and lose can never all happen at the same time, but notice we're not building one shared sound that swaps between clips - we're keeping the same pattern Lesson 8 already established: one dedicated Play Audio block per outcome, living directly in the branch that decides it. This is the same reuse idea you've seen all semester, just applied to a sound block instead of a function - and every engine in this course uses the exact same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something worth noticing: none of today's sounds need any kind of 'don't replay this every frame' guard. A one-shot sound fires once and finishes on its own - it doesn't need turning off. But there's a second reason today's sounds are safe: every single one of them lives inside a branch that ONLY runs once per actual event. TIC-80 students specifically: if you built Lesson 6's optional win sound, you may have needed a guard flag back then, because the check ran every frame. As of Lesson 10 and 11's restructuring, that's no longer true - it's safe to remove that old guard flag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lab today, open your own project from last week - not a new one. One new sound file is provided (sfx_wave.wav); everything else you may already have from earlier optional ideas, or will be building for the first time if you skipped them. Goal for today: play a full round out loud and confirm every sound genuinely different from the others. Questions before we start lab? Let's make some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issue this week isn't a bug so much as a missing step. Watch for a sound call placed outside the correct if/else branch, causing two round-ending sounds to play together. This is a good week to actually listen as you circulate, not just watch the screen. If a student's speakers aren't working, sound logic can still be verified visually for now - don't let a hardware issue block progress. If a cluster finishes early, point them at the Level 3 ideas rather than moving ahead to next week's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students have already lost work to this exact problem, so it's worth two minutes before we wrap up. Game engines and IDEs are constantly writing and maintaining files behind the scenes, not just when you hit Save. If your computer sleeps, hibernates, or loses power while one of those files is being written, that file can end up corrupted - and a corrupted project file often means the whole game won't load again. This isn't rare or exotic; it's genuinely the most common way students have lost work so far. The good news: the fix is a habit, not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prevent nearly all of this: one, a battery backup - a UPS for a desktop, or just a laptop with an actual working battery instead of running on wall power alone. Two, save often - File-Save, Ctrl-S, whatever your engine's command is, don't wait until you're done for the day. Three, always cleanly exit and shut down the application before powering off or walking away - never just close the lid or pull the plug with it still open. Four, once the application is fully shut down, back up your project - every session. Backup methods include your engine's own export/import process if it has one, a plain copy/paste of the project folder, or a version control system like git, locally and/or with a free hosted service like GitHub or GitLab. Full instructions, engine by engine, plus a git mini-tutorial, are in the Backups Sidebar handout - point students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3.png"/><Relationship Id="rId6" Type="http://schemas.openxmlformats.org/officeDocument/2006/relationships/image" Target="../media/image-7-3.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3.png"/><Relationship Id="rId6" Type="http://schemas.openxmlformats.org/officeDocument/2006/relationships/image" Target="../media/image-14-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12</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Hearing It Happen</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b="1" i="1" dirty="0">
                <a:solidFill>
                  <a:srgbClr val="E8C25A"/>
                </a:solidFill>
                <a:latin typeface="Calibri" pitchFamily="34" charset="0"/>
                <a:ea typeface="Calibri" pitchFamily="34" charset="-122"/>
                <a:cs typeface="Calibri" pitchFamily="34" charset="-120"/>
              </a:rPr>
              <a:t>Semester 1, Week 12  -  Sound Effects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12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Wire sound cues into their exact matching code paths</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Recognize why event-driven triggers need no replay guard</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Formalize six lessons' worth of optional sound ideas</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Play a full round and hear every outcome distinctly</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with all 8 engines, audio output working</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GameMaker (GML Visual), for the live lecture demo</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One new sound asset: sfx_wave.wav</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Everything else reuses Lessons 2-8's optional sound ideas</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Your own [YourName]Game project from Lesson 11 - not a new one</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Audio - sound design fundamentals (introductory); Programming - event-driven triggers, code reuse (intermediate).</a:t>
            </a:r>
            <a:endParaRPr lang="en-US" sz="1150" dirty="0"/>
          </a:p>
        </p:txBody>
      </p:sp>
      <p:sp>
        <p:nvSpPr>
          <p:cNvPr id="28"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9"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30"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audio.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280160"/>
            <a:ext cx="11064240" cy="512064"/>
          </a:xfrm>
          <a:prstGeom prst="roundRect">
            <a:avLst>
              <a:gd name="adj" fmla="val 14286"/>
            </a:avLst>
          </a:prstGeom>
          <a:solidFill>
            <a:srgbClr val="FFFFFF"/>
          </a:solidFill>
          <a:ln w="12700">
            <a:solidFill>
              <a:srgbClr val="DCE3EC"/>
            </a:solidFill>
            <a:prstDash val="solid"/>
          </a:ln>
        </p:spPr>
      </p:sp>
      <p:sp>
        <p:nvSpPr>
          <p:cNvPr id="6" name="Text 2"/>
          <p:cNvSpPr/>
          <p:nvPr/>
        </p:nvSpPr>
        <p:spPr>
          <a:xfrm>
            <a:off x="822960" y="1280160"/>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0:00 - 0:05</a:t>
            </a:r>
            <a:endParaRPr lang="en-US" sz="1300" dirty="0"/>
          </a:p>
        </p:txBody>
      </p:sp>
      <p:sp>
        <p:nvSpPr>
          <p:cNvPr id="7" name="Text 3"/>
          <p:cNvSpPr/>
          <p:nvPr/>
        </p:nvSpPr>
        <p:spPr>
          <a:xfrm>
            <a:off x="3017520" y="1280160"/>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Welcome back, Lesson 11 recap, the polish phase begins</a:t>
            </a:r>
            <a:endParaRPr lang="en-US" sz="1230" dirty="0"/>
          </a:p>
        </p:txBody>
      </p:sp>
      <p:sp>
        <p:nvSpPr>
          <p:cNvPr id="8" name="Shape 4"/>
          <p:cNvSpPr/>
          <p:nvPr/>
        </p:nvSpPr>
        <p:spPr>
          <a:xfrm>
            <a:off x="548640" y="1883664"/>
            <a:ext cx="11064240" cy="512064"/>
          </a:xfrm>
          <a:prstGeom prst="roundRect">
            <a:avLst>
              <a:gd name="adj" fmla="val 14286"/>
            </a:avLst>
          </a:prstGeom>
          <a:solidFill>
            <a:srgbClr val="FFFFFF"/>
          </a:solidFill>
          <a:ln w="12700">
            <a:solidFill>
              <a:srgbClr val="DCE3EC"/>
            </a:solidFill>
            <a:prstDash val="solid"/>
          </a:ln>
        </p:spPr>
      </p:sp>
      <p:sp>
        <p:nvSpPr>
          <p:cNvPr id="9" name="Text 5"/>
          <p:cNvSpPr/>
          <p:nvPr/>
        </p:nvSpPr>
        <p:spPr>
          <a:xfrm>
            <a:off x="822960" y="188366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0:05 - 0:15</a:t>
            </a:r>
            <a:endParaRPr lang="en-US" sz="1300" dirty="0"/>
          </a:p>
        </p:txBody>
      </p:sp>
      <p:sp>
        <p:nvSpPr>
          <p:cNvPr id="10" name="Text 6"/>
          <p:cNvSpPr/>
          <p:nvPr/>
        </p:nvSpPr>
        <p:spPr>
          <a:xfrm>
            <a:off x="3017520" y="188366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The Sound Payoff: One New Sound, Several Existing Moments</a:t>
            </a:r>
            <a:endParaRPr lang="en-US" sz="1230" dirty="0"/>
          </a:p>
        </p:txBody>
      </p:sp>
      <p:sp>
        <p:nvSpPr>
          <p:cNvPr id="11" name="Shape 7"/>
          <p:cNvSpPr/>
          <p:nvPr/>
        </p:nvSpPr>
        <p:spPr>
          <a:xfrm>
            <a:off x="548640" y="2487168"/>
            <a:ext cx="11064240" cy="512064"/>
          </a:xfrm>
          <a:prstGeom prst="roundRect">
            <a:avLst>
              <a:gd name="adj" fmla="val 14286"/>
            </a:avLst>
          </a:prstGeom>
          <a:solidFill>
            <a:srgbClr val="FFFFFF"/>
          </a:solidFill>
          <a:ln w="12700">
            <a:solidFill>
              <a:srgbClr val="DCE3EC"/>
            </a:solidFill>
            <a:prstDash val="solid"/>
          </a:ln>
        </p:spPr>
      </p:sp>
      <p:sp>
        <p:nvSpPr>
          <p:cNvPr id="12" name="Text 8"/>
          <p:cNvSpPr/>
          <p:nvPr/>
        </p:nvSpPr>
        <p:spPr>
          <a:xfrm>
            <a:off x="822960" y="248716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0:15 - 0:35</a:t>
            </a:r>
            <a:endParaRPr lang="en-US" sz="1300" dirty="0"/>
          </a:p>
        </p:txBody>
      </p:sp>
      <p:sp>
        <p:nvSpPr>
          <p:cNvPr id="13" name="Text 9"/>
          <p:cNvSpPr/>
          <p:nvPr/>
        </p:nvSpPr>
        <p:spPr>
          <a:xfrm>
            <a:off x="3017520" y="248716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A Dedicated Sound for Every Outcome</a:t>
            </a:r>
            <a:endParaRPr lang="en-US" sz="1230" dirty="0"/>
          </a:p>
        </p:txBody>
      </p:sp>
      <p:sp>
        <p:nvSpPr>
          <p:cNvPr id="14" name="Shape 10"/>
          <p:cNvSpPr/>
          <p:nvPr/>
        </p:nvSpPr>
        <p:spPr>
          <a:xfrm>
            <a:off x="548640" y="3090672"/>
            <a:ext cx="11064240" cy="512064"/>
          </a:xfrm>
          <a:prstGeom prst="roundRect">
            <a:avLst>
              <a:gd name="adj" fmla="val 14286"/>
            </a:avLst>
          </a:prstGeom>
          <a:solidFill>
            <a:srgbClr val="FFFFFF"/>
          </a:solidFill>
          <a:ln w="12700">
            <a:solidFill>
              <a:srgbClr val="DCE3EC"/>
            </a:solidFill>
            <a:prstDash val="solid"/>
          </a:ln>
        </p:spPr>
      </p:sp>
      <p:sp>
        <p:nvSpPr>
          <p:cNvPr id="15" name="Text 11"/>
          <p:cNvSpPr/>
          <p:nvPr/>
        </p:nvSpPr>
        <p:spPr>
          <a:xfrm>
            <a:off x="822960" y="3090672"/>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0:35 - 0:45</a:t>
            </a:r>
            <a:endParaRPr lang="en-US" sz="1300" dirty="0"/>
          </a:p>
        </p:txBody>
      </p:sp>
      <p:sp>
        <p:nvSpPr>
          <p:cNvPr id="16" name="Text 12"/>
          <p:cNvSpPr/>
          <p:nvPr/>
        </p:nvSpPr>
        <p:spPr>
          <a:xfrm>
            <a:off x="3017520" y="3090672"/>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Why None of Today's Sounds Need a Retrigger Guard</a:t>
            </a:r>
            <a:endParaRPr lang="en-US" sz="1230" dirty="0"/>
          </a:p>
        </p:txBody>
      </p:sp>
      <p:sp>
        <p:nvSpPr>
          <p:cNvPr id="17" name="Shape 13"/>
          <p:cNvSpPr/>
          <p:nvPr/>
        </p:nvSpPr>
        <p:spPr>
          <a:xfrm>
            <a:off x="548640" y="3694176"/>
            <a:ext cx="11064240" cy="512064"/>
          </a:xfrm>
          <a:prstGeom prst="roundRect">
            <a:avLst>
              <a:gd name="adj" fmla="val 14286"/>
            </a:avLst>
          </a:prstGeom>
          <a:solidFill>
            <a:srgbClr val="FFFFFF"/>
          </a:solidFill>
          <a:ln w="12700">
            <a:solidFill>
              <a:srgbClr val="DCE3EC"/>
            </a:solidFill>
            <a:prstDash val="solid"/>
          </a:ln>
        </p:spPr>
      </p:sp>
      <p:sp>
        <p:nvSpPr>
          <p:cNvPr id="18" name="Text 14"/>
          <p:cNvSpPr/>
          <p:nvPr/>
        </p:nvSpPr>
        <p:spPr>
          <a:xfrm>
            <a:off x="822960" y="3694176"/>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0:45 - 0:55</a:t>
            </a:r>
            <a:endParaRPr lang="en-US" sz="1300" dirty="0"/>
          </a:p>
        </p:txBody>
      </p:sp>
      <p:sp>
        <p:nvSpPr>
          <p:cNvPr id="19" name="Text 15"/>
          <p:cNvSpPr/>
          <p:nvPr/>
        </p:nvSpPr>
        <p:spPr>
          <a:xfrm>
            <a:off x="3017520" y="3694176"/>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Introduce lab exercise, hand out engine-specific handouts</a:t>
            </a:r>
            <a:endParaRPr lang="en-US" sz="1230" dirty="0"/>
          </a:p>
        </p:txBody>
      </p:sp>
      <p:sp>
        <p:nvSpPr>
          <p:cNvPr id="20" name="Shape 16"/>
          <p:cNvSpPr/>
          <p:nvPr/>
        </p:nvSpPr>
        <p:spPr>
          <a:xfrm>
            <a:off x="548640" y="4297680"/>
            <a:ext cx="11064240" cy="420624"/>
          </a:xfrm>
          <a:prstGeom prst="roundRect">
            <a:avLst>
              <a:gd name="adj" fmla="val 17391"/>
            </a:avLst>
          </a:prstGeom>
          <a:solidFill>
            <a:srgbClr val="C99A2E"/>
          </a:solidFill>
          <a:ln w="12700">
            <a:solidFill>
              <a:srgbClr val="DCE3EC"/>
            </a:solidFill>
            <a:prstDash val="solid"/>
          </a:ln>
        </p:spPr>
      </p:sp>
      <p:sp>
        <p:nvSpPr>
          <p:cNvPr id="21" name="Text 17"/>
          <p:cNvSpPr/>
          <p:nvPr/>
        </p:nvSpPr>
        <p:spPr>
          <a:xfrm>
            <a:off x="822960" y="4297680"/>
            <a:ext cx="2103120" cy="420624"/>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LAB TIME</a:t>
            </a:r>
            <a:endParaRPr lang="en-US" sz="1250" dirty="0"/>
          </a:p>
        </p:txBody>
      </p:sp>
      <p:sp>
        <p:nvSpPr>
          <p:cNvPr id="22" name="Text 18"/>
          <p:cNvSpPr/>
          <p:nvPr/>
        </p:nvSpPr>
        <p:spPr>
          <a:xfrm>
            <a:off x="3017520" y="4297680"/>
            <a:ext cx="8412480" cy="420624"/>
          </a:xfrm>
          <a:prstGeom prst="rect">
            <a:avLst/>
          </a:prstGeom>
          <a:noFill/>
          <a:ln/>
        </p:spPr>
        <p:txBody>
          <a:bodyPr wrap="square" lIns="0" tIns="0" rIns="0" bIns="0" rtlCol="0" anchor="ctr"/>
          <a:lstStyle/>
          <a:p>
            <a:pPr indent="0" marL="0">
              <a:buNone/>
            </a:pPr>
            <a:r>
              <a:rPr lang="en-US" sz="1250" b="1" i="1" dirty="0">
                <a:solidFill>
                  <a:srgbClr val="16305C"/>
                </a:solidFill>
                <a:latin typeface="Calibri" pitchFamily="34" charset="0"/>
                <a:ea typeface="Calibri" pitchFamily="34" charset="-122"/>
                <a:cs typeface="Calibri" pitchFamily="34" charset="-120"/>
              </a:rPr>
              <a:t>— Hearing It Happen —</a:t>
            </a:r>
            <a:endParaRPr lang="en-US" sz="1250" dirty="0"/>
          </a:p>
        </p:txBody>
      </p:sp>
      <p:sp>
        <p:nvSpPr>
          <p:cNvPr id="23" name="Shape 19"/>
          <p:cNvSpPr/>
          <p:nvPr/>
        </p:nvSpPr>
        <p:spPr>
          <a:xfrm>
            <a:off x="548640" y="4809744"/>
            <a:ext cx="11064240" cy="512064"/>
          </a:xfrm>
          <a:prstGeom prst="roundRect">
            <a:avLst>
              <a:gd name="adj" fmla="val 14286"/>
            </a:avLst>
          </a:prstGeom>
          <a:solidFill>
            <a:srgbClr val="FFFFFF"/>
          </a:solidFill>
          <a:ln w="12700">
            <a:solidFill>
              <a:srgbClr val="DCE3EC"/>
            </a:solidFill>
            <a:prstDash val="solid"/>
          </a:ln>
        </p:spPr>
      </p:sp>
      <p:sp>
        <p:nvSpPr>
          <p:cNvPr id="24" name="Text 20"/>
          <p:cNvSpPr/>
          <p:nvPr/>
        </p:nvSpPr>
        <p:spPr>
          <a:xfrm>
            <a:off x="822960" y="480974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0:55 - 1:50</a:t>
            </a:r>
            <a:endParaRPr lang="en-US" sz="1300" dirty="0"/>
          </a:p>
        </p:txBody>
      </p:sp>
      <p:sp>
        <p:nvSpPr>
          <p:cNvPr id="25" name="Text 21"/>
          <p:cNvSpPr/>
          <p:nvPr/>
        </p:nvSpPr>
        <p:spPr>
          <a:xfrm>
            <a:off x="3017520" y="480974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Wire up every sound, test a full round by ear</a:t>
            </a:r>
            <a:endParaRPr lang="en-US" sz="1230" dirty="0"/>
          </a:p>
        </p:txBody>
      </p:sp>
      <p:sp>
        <p:nvSpPr>
          <p:cNvPr id="26" name="Shape 22"/>
          <p:cNvSpPr/>
          <p:nvPr/>
        </p:nvSpPr>
        <p:spPr>
          <a:xfrm>
            <a:off x="548640" y="5413248"/>
            <a:ext cx="11064240" cy="512064"/>
          </a:xfrm>
          <a:prstGeom prst="roundRect">
            <a:avLst>
              <a:gd name="adj" fmla="val 14286"/>
            </a:avLst>
          </a:prstGeom>
          <a:solidFill>
            <a:srgbClr val="FFFFFF"/>
          </a:solidFill>
          <a:ln w="12700">
            <a:solidFill>
              <a:srgbClr val="DCE3EC"/>
            </a:solidFill>
            <a:prstDash val="solid"/>
          </a:ln>
        </p:spPr>
      </p:sp>
      <p:sp>
        <p:nvSpPr>
          <p:cNvPr id="27" name="Text 23"/>
          <p:cNvSpPr/>
          <p:nvPr/>
        </p:nvSpPr>
        <p:spPr>
          <a:xfrm>
            <a:off x="822960" y="541324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1:50 - 2:00</a:t>
            </a:r>
            <a:endParaRPr lang="en-US" sz="1300" dirty="0"/>
          </a:p>
        </p:txBody>
      </p:sp>
      <p:sp>
        <p:nvSpPr>
          <p:cNvPr id="28" name="Text 24"/>
          <p:cNvSpPr/>
          <p:nvPr/>
        </p:nvSpPr>
        <p:spPr>
          <a:xfrm>
            <a:off x="3017520" y="541324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Exit check: play a round for the class</a:t>
            </a:r>
            <a:endParaRPr lang="en-US" sz="1230" dirty="0"/>
          </a:p>
        </p:txBody>
      </p:sp>
      <p:sp>
        <p:nvSpPr>
          <p:cNvPr id="30" name="Text 2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1" name="Text 2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32" name="Text 2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Level 2 Complete is done. The polish phase begins.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12</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Quick recap of Lesson 11:</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Level 2 Complete reached - a real, replayable game with multiple waves</a:t>
            </a:r>
            <a:endParaRPr lang="en-US" sz="1500" dirty="0"/>
          </a:p>
        </p:txBody>
      </p:sp>
      <p:pic>
        <p:nvPicPr>
          <p:cNvPr id="9" name="Image 2" descr="icons/check.png">    </p:cNvPr>
          <p:cNvPicPr>
            <a:picLocks noChangeAspect="1"/>
          </p:cNvPicPr>
          <p:nvPr/>
        </p:nvPicPr>
        <p:blipFill>
          <a:blip r:embed="rId3"/>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No new mechanics from here through Lesson 15 - just making the loop feel good</a:t>
            </a:r>
            <a:endParaRPr lang="en-US" sz="1500" dirty="0"/>
          </a:p>
        </p:txBody>
      </p:sp>
      <p:pic>
        <p:nvPicPr>
          <p:cNvPr id="11" name="Image 3" descr="icons/check.png">    </p:cNvPr>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Today: sound. Next: animation, difficulty scaling, and a final polish pass</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sp>
      <p:pic>
        <p:nvPicPr>
          <p:cNvPr id="14" name="Image 4" descr="icons/audio.png">    </p:cNvPr>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One new sound file is provided - sfx_wave.wav - everything else may already be in your project from earlier optional ideas.</a:t>
            </a:r>
            <a:endParaRPr lang="en-US" sz="1400" dirty="0"/>
          </a:p>
        </p:txBody>
      </p:sp>
      <p:sp>
        <p:nvSpPr>
          <p:cNvPr id="17"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19"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desig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The Sound Payoff</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One new sound, several moments you already built.</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12</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87552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One New Sound, Several Existing Moments</a:t>
            </a:r>
            <a:endParaRPr lang="en-US" sz="30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Shape 3"/>
          <p:cNvSpPr/>
          <p:nvPr/>
        </p:nvSpPr>
        <p:spPr>
          <a:xfrm>
            <a:off x="548640" y="1371600"/>
            <a:ext cx="11064240" cy="1463040"/>
          </a:xfrm>
          <a:prstGeom prst="roundRect">
            <a:avLst>
              <a:gd name="adj" fmla="val 7500"/>
            </a:avLst>
          </a:prstGeom>
          <a:solidFill>
            <a:srgbClr val="EDF2F8"/>
          </a:solidFill>
          <a:ln/>
        </p:spPr>
      </p:sp>
      <p:pic>
        <p:nvPicPr>
          <p:cNvPr id="7" name="Image 1" descr="icons/design.png">    </p:cNvPr>
          <p:cNvPicPr>
            <a:picLocks noChangeAspect="1"/>
          </p:cNvPicPr>
          <p:nvPr/>
        </p:nvPicPr>
        <p:blipFill>
          <a:blip r:embed="rId2"/>
          <a:stretch>
            <a:fillRect/>
          </a:stretch>
        </p:blipFill>
        <p:spPr>
          <a:xfrm>
            <a:off x="777240" y="1600200"/>
            <a:ext cx="502920" cy="502920"/>
          </a:xfrm>
          <a:prstGeom prst="rect">
            <a:avLst/>
          </a:prstGeom>
        </p:spPr>
      </p:pic>
      <p:sp>
        <p:nvSpPr>
          <p:cNvPr id="8" name="Text 4"/>
          <p:cNvSpPr/>
          <p:nvPr/>
        </p:nvSpPr>
        <p:spPr>
          <a:xfrm>
            <a:off x="1463040" y="1508760"/>
            <a:ext cx="9966960" cy="11887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Since Lesson 2, six lessons quietly offered an optional 'add a sound' idea. Today, every one of those sounds becomes required for everyone - shoot, explosion, life lost, and game over - plus one brand-new sound, matching the capstone's Level 3 feature list exactly.</a:t>
            </a:r>
            <a:endParaRPr lang="en-US" sz="1450" dirty="0"/>
          </a:p>
        </p:txBody>
      </p:sp>
      <p:sp>
        <p:nvSpPr>
          <p:cNvPr id="9" name="Text 5"/>
          <p:cNvSpPr/>
          <p:nvPr/>
        </p:nvSpPr>
        <p:spPr>
          <a:xfrm>
            <a:off x="548640" y="3063240"/>
            <a:ext cx="10881360" cy="5486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No new logic today - just one more line at each place you already built.</a:t>
            </a:r>
            <a:endParaRPr lang="en-US" sz="1500" dirty="0"/>
          </a:p>
        </p:txBody>
      </p:sp>
      <p:sp>
        <p:nvSpPr>
          <p:cNvPr id="10" name="Shape 6"/>
          <p:cNvSpPr/>
          <p:nvPr/>
        </p:nvSpPr>
        <p:spPr>
          <a:xfrm>
            <a:off x="548640" y="3794760"/>
            <a:ext cx="11064240" cy="1691640"/>
          </a:xfrm>
          <a:prstGeom prst="roundRect">
            <a:avLst>
              <a:gd name="adj" fmla="val 6486"/>
            </a:avLst>
          </a:prstGeom>
          <a:solidFill>
            <a:srgbClr val="0F2C52"/>
          </a:solidFill>
          <a:ln w="12700">
            <a:solidFill>
              <a:srgbClr val="C99A2E"/>
            </a:solidFill>
            <a:prstDash val="solid"/>
          </a:ln>
        </p:spPr>
      </p:sp>
      <p:pic>
        <p:nvPicPr>
          <p:cNvPr id="11" name="Image 2" descr="icons/check.png">    </p:cNvPr>
          <p:cNvPicPr>
            <a:picLocks noChangeAspect="1"/>
          </p:cNvPicPr>
          <p:nvPr/>
        </p:nvPicPr>
        <p:blipFill>
          <a:blip r:embed="rId3"/>
          <a:stretch>
            <a:fillRect/>
          </a:stretch>
        </p:blipFill>
        <p:spPr>
          <a:xfrm>
            <a:off x="822960" y="4023360"/>
            <a:ext cx="329184" cy="329184"/>
          </a:xfrm>
          <a:prstGeom prst="rect">
            <a:avLst/>
          </a:prstGeom>
        </p:spPr>
      </p:pic>
      <p:sp>
        <p:nvSpPr>
          <p:cNvPr id="12" name="Text 7"/>
          <p:cNvSpPr/>
          <p:nvPr/>
        </p:nvSpPr>
        <p:spPr>
          <a:xfrm>
            <a:off x="1207008" y="4005072"/>
            <a:ext cx="4937760" cy="365760"/>
          </a:xfrm>
          <a:prstGeom prst="rect">
            <a:avLst/>
          </a:prstGeom>
          <a:noFill/>
          <a:ln/>
        </p:spPr>
        <p:txBody>
          <a:bodyPr wrap="square" lIns="0" tIns="0" rIns="0" bIns="0" rtlCol="0" anchor="ctr"/>
          <a:lstStyle/>
          <a:p>
            <a:pPr indent="0" marL="0">
              <a:buNone/>
            </a:pPr>
            <a:r>
              <a:rPr lang="en-US" sz="1400" dirty="0">
                <a:solidFill>
                  <a:srgbClr val="F4F0E6"/>
                </a:solidFill>
                <a:latin typeface="Calibri" pitchFamily="34" charset="0"/>
                <a:ea typeface="Calibri" pitchFamily="34" charset="-122"/>
                <a:cs typeface="Calibri" pitchFamily="34" charset="-120"/>
              </a:rPr>
              <a:t>Shoot - when you fire</a:t>
            </a:r>
            <a:endParaRPr lang="en-US" sz="1400" dirty="0"/>
          </a:p>
        </p:txBody>
      </p:sp>
      <p:pic>
        <p:nvPicPr>
          <p:cNvPr id="13" name="Image 3" descr="icons/check.png">    </p:cNvPr>
          <p:cNvPicPr>
            <a:picLocks noChangeAspect="1"/>
          </p:cNvPicPr>
          <p:nvPr/>
        </p:nvPicPr>
        <p:blipFill>
          <a:blip r:embed="rId4"/>
          <a:stretch>
            <a:fillRect/>
          </a:stretch>
        </p:blipFill>
        <p:spPr>
          <a:xfrm>
            <a:off x="6217920" y="4023360"/>
            <a:ext cx="329184" cy="329184"/>
          </a:xfrm>
          <a:prstGeom prst="rect">
            <a:avLst/>
          </a:prstGeom>
        </p:spPr>
      </p:pic>
      <p:sp>
        <p:nvSpPr>
          <p:cNvPr id="14" name="Text 8"/>
          <p:cNvSpPr/>
          <p:nvPr/>
        </p:nvSpPr>
        <p:spPr>
          <a:xfrm>
            <a:off x="6601968" y="4005072"/>
            <a:ext cx="4937760" cy="365760"/>
          </a:xfrm>
          <a:prstGeom prst="rect">
            <a:avLst/>
          </a:prstGeom>
          <a:noFill/>
          <a:ln/>
        </p:spPr>
        <p:txBody>
          <a:bodyPr wrap="square" lIns="0" tIns="0" rIns="0" bIns="0" rtlCol="0" anchor="ctr"/>
          <a:lstStyle/>
          <a:p>
            <a:pPr indent="0" marL="0">
              <a:buNone/>
            </a:pPr>
            <a:r>
              <a:rPr lang="en-US" sz="1400" dirty="0">
                <a:solidFill>
                  <a:srgbClr val="F4F0E6"/>
                </a:solidFill>
                <a:latin typeface="Calibri" pitchFamily="34" charset="0"/>
                <a:ea typeface="Calibri" pitchFamily="34" charset="-122"/>
                <a:cs typeface="Calibri" pitchFamily="34" charset="-120"/>
              </a:rPr>
              <a:t>Explosion - when a hit lands</a:t>
            </a:r>
            <a:endParaRPr lang="en-US" sz="1400" dirty="0"/>
          </a:p>
        </p:txBody>
      </p:sp>
      <p:pic>
        <p:nvPicPr>
          <p:cNvPr id="15" name="Image 4" descr="icons/check.png">    </p:cNvPr>
          <p:cNvPicPr>
            <a:picLocks noChangeAspect="1"/>
          </p:cNvPicPr>
          <p:nvPr/>
        </p:nvPicPr>
        <p:blipFill>
          <a:blip r:embed="rId5"/>
          <a:stretch>
            <a:fillRect/>
          </a:stretch>
        </p:blipFill>
        <p:spPr>
          <a:xfrm>
            <a:off x="822960" y="4663440"/>
            <a:ext cx="329184" cy="329184"/>
          </a:xfrm>
          <a:prstGeom prst="rect">
            <a:avLst/>
          </a:prstGeom>
        </p:spPr>
      </p:pic>
      <p:sp>
        <p:nvSpPr>
          <p:cNvPr id="16" name="Text 9"/>
          <p:cNvSpPr/>
          <p:nvPr/>
        </p:nvSpPr>
        <p:spPr>
          <a:xfrm>
            <a:off x="1207008" y="4645152"/>
            <a:ext cx="4937760" cy="365760"/>
          </a:xfrm>
          <a:prstGeom prst="rect">
            <a:avLst/>
          </a:prstGeom>
          <a:noFill/>
          <a:ln/>
        </p:spPr>
        <p:txBody>
          <a:bodyPr wrap="square" lIns="0" tIns="0" rIns="0" bIns="0" rtlCol="0" anchor="ctr"/>
          <a:lstStyle/>
          <a:p>
            <a:pPr indent="0" marL="0">
              <a:buNone/>
            </a:pPr>
            <a:r>
              <a:rPr lang="en-US" sz="1400" dirty="0">
                <a:solidFill>
                  <a:srgbClr val="F4F0E6"/>
                </a:solidFill>
                <a:latin typeface="Calibri" pitchFamily="34" charset="0"/>
                <a:ea typeface="Calibri" pitchFamily="34" charset="-122"/>
                <a:cs typeface="Calibri" pitchFamily="34" charset="-120"/>
              </a:rPr>
              <a:t>Wave Clear - a non-final wave ends (NEW)</a:t>
            </a:r>
            <a:endParaRPr lang="en-US" sz="1400" dirty="0"/>
          </a:p>
        </p:txBody>
      </p:sp>
      <p:pic>
        <p:nvPicPr>
          <p:cNvPr id="17" name="Image 5" descr="icons/check.png">    </p:cNvPr>
          <p:cNvPicPr>
            <a:picLocks noChangeAspect="1"/>
          </p:cNvPicPr>
          <p:nvPr/>
        </p:nvPicPr>
        <p:blipFill>
          <a:blip r:embed="rId6"/>
          <a:stretch>
            <a:fillRect/>
          </a:stretch>
        </p:blipFill>
        <p:spPr>
          <a:xfrm>
            <a:off x="6217920" y="4663440"/>
            <a:ext cx="329184" cy="329184"/>
          </a:xfrm>
          <a:prstGeom prst="rect">
            <a:avLst/>
          </a:prstGeom>
        </p:spPr>
      </p:pic>
      <p:sp>
        <p:nvSpPr>
          <p:cNvPr id="18" name="Text 10"/>
          <p:cNvSpPr/>
          <p:nvPr/>
        </p:nvSpPr>
        <p:spPr>
          <a:xfrm>
            <a:off x="6601968" y="4645152"/>
            <a:ext cx="4937760" cy="365760"/>
          </a:xfrm>
          <a:prstGeom prst="rect">
            <a:avLst/>
          </a:prstGeom>
          <a:noFill/>
          <a:ln/>
        </p:spPr>
        <p:txBody>
          <a:bodyPr wrap="square" lIns="0" tIns="0" rIns="0" bIns="0" rtlCol="0" anchor="ctr"/>
          <a:lstStyle/>
          <a:p>
            <a:pPr indent="0" marL="0">
              <a:buNone/>
            </a:pPr>
            <a:r>
              <a:rPr lang="en-US" sz="1400" dirty="0">
                <a:solidFill>
                  <a:srgbClr val="F4F0E6"/>
                </a:solidFill>
                <a:latin typeface="Calibri" pitchFamily="34" charset="0"/>
                <a:ea typeface="Calibri" pitchFamily="34" charset="-122"/>
                <a:cs typeface="Calibri" pitchFamily="34" charset="-120"/>
              </a:rPr>
              <a:t>Life Lost / Game Over - a life or the round ends</a:t>
            </a:r>
            <a:endParaRPr lang="en-US" sz="1400" dirty="0"/>
          </a:p>
        </p:txBody>
      </p:sp>
      <p:sp>
        <p:nvSpPr>
          <p:cNvPr id="20" name="Text 11"/>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1" name="Text 12"/>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22" name="Text 13"/>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title_programmi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A Dedicated Sound for Every Outcome</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One outcome, one sound, wired directly into its branch.</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12</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6012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One Outcome, One Dedicated Sound</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8229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Shoot and hit sounds are easy - one sound each, already wired since Lessons 3-4. For win, wave-clear, life-lost, and game-over: each gets its own dedicated sound, wired directly into the branch that already decides it.</a:t>
            </a:r>
            <a:endParaRPr lang="en-US" sz="1450" dirty="0"/>
          </a:p>
        </p:txBody>
      </p:sp>
      <p:sp>
        <p:nvSpPr>
          <p:cNvPr id="7" name="Shape 4"/>
          <p:cNvSpPr/>
          <p:nvPr/>
        </p:nvSpPr>
        <p:spPr>
          <a:xfrm>
            <a:off x="548640" y="2331720"/>
            <a:ext cx="11064240" cy="1554480"/>
          </a:xfrm>
          <a:prstGeom prst="roundRect">
            <a:avLst>
              <a:gd name="adj" fmla="val 7059"/>
            </a:avLst>
          </a:prstGeom>
          <a:solidFill>
            <a:srgbClr val="EDF2F8"/>
          </a:solidFill>
          <a:ln/>
        </p:spPr>
      </p:sp>
      <p:pic>
        <p:nvPicPr>
          <p:cNvPr id="8" name="Image 1" descr="icons/programming.png">    </p:cNvPr>
          <p:cNvPicPr>
            <a:picLocks noChangeAspect="1"/>
          </p:cNvPicPr>
          <p:nvPr/>
        </p:nvPicPr>
        <p:blipFill>
          <a:blip r:embed="rId2"/>
          <a:stretch>
            <a:fillRect/>
          </a:stretch>
        </p:blipFill>
        <p:spPr>
          <a:xfrm>
            <a:off x="777240" y="2560320"/>
            <a:ext cx="502920" cy="502920"/>
          </a:xfrm>
          <a:prstGeom prst="rect">
            <a:avLst/>
          </a:prstGeom>
        </p:spPr>
      </p:pic>
      <p:sp>
        <p:nvSpPr>
          <p:cNvPr id="9" name="Text 5"/>
          <p:cNvSpPr/>
          <p:nvPr/>
        </p:nvSpPr>
        <p:spPr>
          <a:xfrm>
            <a:off x="1463040" y="2468880"/>
            <a:ext cx="9966960" cy="12801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GameMaker demo: on obj_bullet's win-check (from Lesson 11), add a Play Audio block for sfx_win on the True output and sfx_wave on the False output. On obj_enemy's escape branch, confirm sfx_gameover/sfx_lifelost (from Lesson 8) are already wired in.</a:t>
            </a:r>
            <a:endParaRPr lang="en-US" sz="1350" dirty="0"/>
          </a:p>
        </p:txBody>
      </p:sp>
      <p:sp>
        <p:nvSpPr>
          <p:cNvPr id="10" name="Shape 6"/>
          <p:cNvSpPr/>
          <p:nvPr/>
        </p:nvSpPr>
        <p:spPr>
          <a:xfrm>
            <a:off x="548640" y="4069080"/>
            <a:ext cx="11064240" cy="1280160"/>
          </a:xfrm>
          <a:prstGeom prst="roundRect">
            <a:avLst>
              <a:gd name="adj" fmla="val 8571"/>
            </a:avLst>
          </a:prstGeom>
          <a:solidFill>
            <a:srgbClr val="0F2C52"/>
          </a:solidFill>
          <a:ln w="12700">
            <a:solidFill>
              <a:srgbClr val="C99A2E"/>
            </a:solidFill>
            <a:prstDash val="solid"/>
          </a:ln>
        </p:spPr>
      </p:sp>
      <p:sp>
        <p:nvSpPr>
          <p:cNvPr id="11" name="Text 7"/>
          <p:cNvSpPr/>
          <p:nvPr/>
        </p:nvSpPr>
        <p:spPr>
          <a:xfrm>
            <a:off x="822960" y="4251960"/>
            <a:ext cx="10515600" cy="914400"/>
          </a:xfrm>
          <a:prstGeom prst="rect">
            <a:avLst/>
          </a:prstGeom>
          <a:noFill/>
          <a:ln/>
        </p:spPr>
        <p:txBody>
          <a:bodyPr wrap="square" lIns="0" tIns="0" rIns="0" bIns="0" rtlCol="0" anchor="ctr"/>
          <a:lstStyle/>
          <a:p>
            <a:pPr indent="0" marL="0">
              <a:buNone/>
            </a:pPr>
            <a:r>
              <a:rPr lang="en-US" sz="1350" i="1" dirty="0">
                <a:solidFill>
                  <a:srgbClr val="F4F0E6"/>
                </a:solidFill>
                <a:latin typeface="Calibri" pitchFamily="34" charset="0"/>
                <a:ea typeface="Calibri" pitchFamily="34" charset="-122"/>
                <a:cs typeface="Calibri" pitchFamily="34" charset="-120"/>
              </a:rPr>
              <a:t>Every engine in this course uses the same dedicated-per-event pattern - no shared sound player swapping between clips anywhere. Simple, consistent, easy to audit later.</a:t>
            </a:r>
            <a:endParaRPr lang="en-US" sz="1350" dirty="0"/>
          </a:p>
        </p:txBody>
      </p:sp>
      <p:sp>
        <p:nvSpPr>
          <p:cNvPr id="13"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4"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15"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title_wrench.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No Retrigger Guard Needed</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Why today's sounds are safe by construction.</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12</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Why No Retrigger Guard?</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Shape 3"/>
          <p:cNvSpPr/>
          <p:nvPr/>
        </p:nvSpPr>
        <p:spPr>
          <a:xfrm>
            <a:off x="548640" y="1371600"/>
            <a:ext cx="11064240" cy="1554480"/>
          </a:xfrm>
          <a:prstGeom prst="roundRect">
            <a:avLst>
              <a:gd name="adj" fmla="val 7059"/>
            </a:avLst>
          </a:prstGeom>
          <a:solidFill>
            <a:srgbClr val="EDF2F8"/>
          </a:solidFill>
          <a:ln/>
        </p:spPr>
      </p:sp>
      <p:pic>
        <p:nvPicPr>
          <p:cNvPr id="7" name="Image 1" descr="icons/wrench.png">    </p:cNvPr>
          <p:cNvPicPr>
            <a:picLocks noChangeAspect="1"/>
          </p:cNvPicPr>
          <p:nvPr/>
        </p:nvPicPr>
        <p:blipFill>
          <a:blip r:embed="rId2"/>
          <a:stretch>
            <a:fillRect/>
          </a:stretch>
        </p:blipFill>
        <p:spPr>
          <a:xfrm>
            <a:off x="777240" y="1600200"/>
            <a:ext cx="502920" cy="502920"/>
          </a:xfrm>
          <a:prstGeom prst="rect">
            <a:avLst/>
          </a:prstGeom>
        </p:spPr>
      </p:pic>
      <p:sp>
        <p:nvSpPr>
          <p:cNvPr id="8" name="Text 4"/>
          <p:cNvSpPr/>
          <p:nvPr/>
        </p:nvSpPr>
        <p:spPr>
          <a:xfrm>
            <a:off x="1463040" y="1508760"/>
            <a:ext cx="9966960" cy="12801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Lesson 2's beep-beep needed an explicit stop call because it was continuous. Today's sounds are one-shot - they finish on their own. But there's a second reason they're safe: every one lives inside a branch that only runs once per actual event.</a:t>
            </a:r>
            <a:endParaRPr lang="en-US" sz="1350" dirty="0"/>
          </a:p>
        </p:txBody>
      </p:sp>
      <p:sp>
        <p:nvSpPr>
          <p:cNvPr id="9" name="Shape 5"/>
          <p:cNvSpPr/>
          <p:nvPr/>
        </p:nvSpPr>
        <p:spPr>
          <a:xfrm>
            <a:off x="548640" y="3108960"/>
            <a:ext cx="11064240" cy="1554480"/>
          </a:xfrm>
          <a:prstGeom prst="roundRect">
            <a:avLst>
              <a:gd name="adj" fmla="val 7059"/>
            </a:avLst>
          </a:prstGeom>
          <a:solidFill>
            <a:srgbClr val="0F2C52"/>
          </a:solidFill>
          <a:ln w="12700">
            <a:solidFill>
              <a:srgbClr val="C99A2E"/>
            </a:solidFill>
            <a:prstDash val="solid"/>
          </a:ln>
        </p:spPr>
      </p:sp>
      <p:pic>
        <p:nvPicPr>
          <p:cNvPr id="10" name="Image 2" descr="icons/chat.png">    </p:cNvPr>
          <p:cNvPicPr>
            <a:picLocks noChangeAspect="1"/>
          </p:cNvPicPr>
          <p:nvPr/>
        </p:nvPicPr>
        <p:blipFill>
          <a:blip r:embed="rId3"/>
          <a:stretch>
            <a:fillRect/>
          </a:stretch>
        </p:blipFill>
        <p:spPr>
          <a:xfrm>
            <a:off x="777240" y="3319272"/>
            <a:ext cx="502920" cy="502920"/>
          </a:xfrm>
          <a:prstGeom prst="rect">
            <a:avLst/>
          </a:prstGeom>
        </p:spPr>
      </p:pic>
      <p:sp>
        <p:nvSpPr>
          <p:cNvPr id="11" name="Text 6"/>
          <p:cNvSpPr/>
          <p:nvPr/>
        </p:nvSpPr>
        <p:spPr>
          <a:xfrm>
            <a:off x="1463040" y="3246120"/>
            <a:ext cx="9966960" cy="1280160"/>
          </a:xfrm>
          <a:prstGeom prst="rect">
            <a:avLst/>
          </a:prstGeom>
          <a:noFill/>
          <a:ln/>
        </p:spPr>
        <p:txBody>
          <a:bodyPr wrap="square" lIns="0" tIns="0" rIns="0" bIns="0" rtlCol="0" anchor="ctr"/>
          <a:lstStyle/>
          <a:p>
            <a:pPr indent="0" marL="0">
              <a:buNone/>
            </a:pPr>
            <a:r>
              <a:rPr lang="en-US" sz="1300" i="1" dirty="0">
                <a:solidFill>
                  <a:srgbClr val="F4F0E6"/>
                </a:solidFill>
                <a:latin typeface="Calibri" pitchFamily="34" charset="0"/>
                <a:ea typeface="Calibri" pitchFamily="34" charset="-122"/>
                <a:cs typeface="Calibri" pitchFamily="34" charset="-120"/>
              </a:rPr>
              <a:t>TIC-80 note: Lesson 6's optional win sound may have needed a hasWon guard flag back then, since the check ran every frame. Lesson 10/11's restructuring moved it into a one-time hit branch - that old guard flag can be removed now if it's still there.</a:t>
            </a:r>
            <a:endParaRPr lang="en-US" sz="1300" dirty="0"/>
          </a:p>
        </p:txBody>
      </p:sp>
      <p:sp>
        <p:nvSpPr>
          <p:cNvPr id="12" name="Text 7"/>
          <p:cNvSpPr/>
          <p:nvPr/>
        </p:nvSpPr>
        <p:spPr>
          <a:xfrm>
            <a:off x="548640" y="4846320"/>
            <a:ext cx="11064240" cy="45720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Good structure, built for one reason, quietly solves a second problem later.</a:t>
            </a:r>
            <a:endParaRPr lang="en-US" sz="1400" dirty="0"/>
          </a:p>
        </p:txBody>
      </p:sp>
      <p:sp>
        <p:nvSpPr>
          <p:cNvPr id="14"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16"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title_produc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Hearing It Happen - wiring up every sound.</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12</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Hearing It Happen</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Wire every sound into the exact branches that already represent their events - built on top of your existing project.</a:t>
            </a:r>
            <a:endParaRPr lang="en-US" sz="1450" dirty="0"/>
          </a:p>
        </p:txBody>
      </p:sp>
      <p:sp>
        <p:nvSpPr>
          <p:cNvPr id="7" name="Shape 4"/>
          <p:cNvSpPr/>
          <p:nvPr/>
        </p:nvSpPr>
        <p:spPr>
          <a:xfrm>
            <a:off x="548640" y="2103120"/>
            <a:ext cx="3566160" cy="1920240"/>
          </a:xfrm>
          <a:prstGeom prst="roundRect">
            <a:avLst>
              <a:gd name="adj" fmla="val 4762"/>
            </a:avLst>
          </a:prstGeom>
          <a:solidFill>
            <a:srgbClr val="EDF2F8"/>
          </a:solidFill>
          <a:ln w="12700">
            <a:solidFill>
              <a:srgbClr val="DCE3EC"/>
            </a:solidFill>
            <a:prstDash val="solid"/>
          </a:ln>
        </p:spPr>
      </p:sp>
      <p:sp>
        <p:nvSpPr>
          <p:cNvPr id="8" name="Text 5"/>
          <p:cNvSpPr/>
          <p:nvPr/>
        </p:nvSpPr>
        <p:spPr>
          <a:xfrm>
            <a:off x="73152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Every expected sound plays at the correct moment, at least once each.</a:t>
            </a:r>
            <a:endParaRPr lang="en-US" sz="1200" dirty="0"/>
          </a:p>
        </p:txBody>
      </p:sp>
      <p:sp>
        <p:nvSpPr>
          <p:cNvPr id="10" name="Text 7"/>
          <p:cNvSpPr/>
          <p:nvPr/>
        </p:nvSpPr>
        <p:spPr>
          <a:xfrm>
            <a:off x="73152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103120"/>
            <a:ext cx="3566160" cy="1920240"/>
          </a:xfrm>
          <a:prstGeom prst="roundRect">
            <a:avLst>
              <a:gd name="adj" fmla="val 4762"/>
            </a:avLst>
          </a:prstGeom>
          <a:solidFill>
            <a:srgbClr val="EDF2F8"/>
          </a:solidFill>
          <a:ln w="12700">
            <a:solidFill>
              <a:srgbClr val="DCE3EC"/>
            </a:solidFill>
            <a:prstDash val="solid"/>
          </a:ln>
        </p:spPr>
      </p:sp>
      <p:sp>
        <p:nvSpPr>
          <p:cNvPr id="12" name="Text 9"/>
          <p:cNvSpPr/>
          <p:nvPr/>
        </p:nvSpPr>
        <p:spPr>
          <a:xfrm>
            <a:off x="448056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Every sound fires reliably every time, none interfere with each other.</a:t>
            </a:r>
            <a:endParaRPr lang="en-US" sz="1200" dirty="0"/>
          </a:p>
        </p:txBody>
      </p:sp>
      <p:sp>
        <p:nvSpPr>
          <p:cNvPr id="14" name="Text 11"/>
          <p:cNvSpPr/>
          <p:nvPr/>
        </p:nvSpPr>
        <p:spPr>
          <a:xfrm>
            <a:off x="448056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103120"/>
            <a:ext cx="3566160" cy="1920240"/>
          </a:xfrm>
          <a:prstGeom prst="roundRect">
            <a:avLst>
              <a:gd name="adj" fmla="val 4762"/>
            </a:avLst>
          </a:prstGeom>
          <a:solidFill>
            <a:srgbClr val="EDF2F8"/>
          </a:solidFill>
          <a:ln w="12700">
            <a:solidFill>
              <a:srgbClr val="DCE3EC"/>
            </a:solidFill>
            <a:prstDash val="solid"/>
          </a:ln>
        </p:spPr>
      </p:sp>
      <p:sp>
        <p:nvSpPr>
          <p:cNvPr id="16" name="Text 13"/>
          <p:cNvSpPr/>
          <p:nvPr/>
        </p:nvSpPr>
        <p:spPr>
          <a:xfrm>
            <a:off x="822960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Add the optional win sound, pitch/volume variety, or tidy the code.</a:t>
            </a:r>
            <a:endParaRPr lang="en-US" sz="1200" dirty="0"/>
          </a:p>
        </p:txBody>
      </p:sp>
      <p:sp>
        <p:nvSpPr>
          <p:cNvPr id="18" name="Text 15"/>
          <p:cNvSpPr/>
          <p:nvPr/>
        </p:nvSpPr>
        <p:spPr>
          <a:xfrm>
            <a:off x="822960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297680"/>
            <a:ext cx="11064240" cy="1417320"/>
          </a:xfrm>
          <a:prstGeom prst="roundRect">
            <a:avLst>
              <a:gd name="adj" fmla="val 7742"/>
            </a:avLst>
          </a:prstGeom>
          <a:solidFill>
            <a:srgbClr val="0F2C52"/>
          </a:solidFill>
          <a:ln w="12700">
            <a:solidFill>
              <a:srgbClr val="C99A2E"/>
            </a:solidFill>
            <a:prstDash val="solid"/>
          </a:ln>
        </p:spPr>
      </p:sp>
      <p:pic>
        <p:nvPicPr>
          <p:cNvPr id="20" name="Image 1" descr="icons/audio.png">    </p:cNvPr>
          <p:cNvPicPr>
            <a:picLocks noChangeAspect="1"/>
          </p:cNvPicPr>
          <p:nvPr/>
        </p:nvPicPr>
        <p:blipFill>
          <a:blip r:embed="rId2"/>
          <a:stretch>
            <a:fillRect/>
          </a:stretch>
        </p:blipFill>
        <p:spPr>
          <a:xfrm>
            <a:off x="777240" y="4498848"/>
            <a:ext cx="502920" cy="502920"/>
          </a:xfrm>
          <a:prstGeom prst="rect">
            <a:avLst/>
          </a:prstGeom>
        </p:spPr>
      </p:pic>
      <p:sp>
        <p:nvSpPr>
          <p:cNvPr id="21" name="Text 17"/>
          <p:cNvSpPr/>
          <p:nvPr/>
        </p:nvSpPr>
        <p:spPr>
          <a:xfrm>
            <a:off x="1463040" y="4407408"/>
            <a:ext cx="9966960" cy="1188720"/>
          </a:xfrm>
          <a:prstGeom prst="rect">
            <a:avLst/>
          </a:prstGeom>
          <a:noFill/>
          <a:ln/>
        </p:spPr>
        <p:txBody>
          <a:bodyPr wrap="square" lIns="0" tIns="0" rIns="0" bIns="0" rtlCol="0" anchor="ctr"/>
          <a:lstStyle/>
          <a:p>
            <a:pPr indent="0" marL="0">
              <a:buNone/>
            </a:pPr>
            <a:r>
              <a:rPr lang="en-US" sz="1250" dirty="0">
                <a:solidFill>
                  <a:srgbClr val="F4F0E6"/>
                </a:solidFill>
                <a:latin typeface="Calibri" pitchFamily="34" charset="0"/>
                <a:ea typeface="Calibri" pitchFamily="34" charset="-122"/>
                <a:cs typeface="Calibri" pitchFamily="34" charset="-120"/>
              </a:rPr>
              <a:t>Play a full round OUT LOUD today - a shot, a hit, an early wave clear, and separately a lost life and a loss - and confirm every sound genuinely different from the others.</a:t>
            </a:r>
            <a:endParaRPr lang="en-US" sz="1250" dirty="0"/>
          </a:p>
        </p:txBody>
      </p:sp>
      <p:sp>
        <p:nvSpPr>
          <p:cNvPr id="23" name="Text 1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4" name="Text 1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25" name="Text 2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600200"/>
            <a:ext cx="384048" cy="384048"/>
          </a:xfrm>
          <a:prstGeom prst="rect">
            <a:avLst/>
          </a:prstGeom>
        </p:spPr>
      </p:pic>
      <p:sp>
        <p:nvSpPr>
          <p:cNvPr id="6" name="Text 1"/>
          <p:cNvSpPr/>
          <p:nvPr/>
        </p:nvSpPr>
        <p:spPr>
          <a:xfrm>
            <a:off x="1097280" y="146304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Remind students who skipped the optional Lessons 2/3/4/6/8 ideas that today's Handout gives them full instructions, not just "add one sound."</a:t>
            </a:r>
            <a:endParaRPr lang="en-US" sz="1350" dirty="0"/>
          </a:p>
        </p:txBody>
      </p:sp>
      <p:pic>
        <p:nvPicPr>
          <p:cNvPr id="7" name="Image 3" descr="icons/check.png">    </p:cNvPr>
          <p:cNvPicPr>
            <a:picLocks noChangeAspect="1"/>
          </p:cNvPicPr>
          <p:nvPr/>
        </p:nvPicPr>
        <p:blipFill>
          <a:blip r:embed="rId4"/>
          <a:stretch>
            <a:fillRect/>
          </a:stretch>
        </p:blipFill>
        <p:spPr>
          <a:xfrm>
            <a:off x="548640" y="2651760"/>
            <a:ext cx="384048" cy="384048"/>
          </a:xfrm>
          <a:prstGeom prst="rect">
            <a:avLst/>
          </a:prstGeom>
        </p:spPr>
      </p:pic>
      <p:sp>
        <p:nvSpPr>
          <p:cNvPr id="8" name="Text 2"/>
          <p:cNvSpPr/>
          <p:nvPr/>
        </p:nvSpPr>
        <p:spPr>
          <a:xfrm>
            <a:off x="1097280" y="251460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Watch for a sound call placed outside the correct if/else branch - causes two round-ending sounds to play together on the same frame.</a:t>
            </a:r>
            <a:endParaRPr lang="en-US" sz="1350" dirty="0"/>
          </a:p>
        </p:txBody>
      </p:sp>
      <p:pic>
        <p:nvPicPr>
          <p:cNvPr id="9" name="Image 4" descr="icons/check.png">    </p:cNvPr>
          <p:cNvPicPr>
            <a:picLocks noChangeAspect="1"/>
          </p:cNvPicPr>
          <p:nvPr/>
        </p:nvPicPr>
        <p:blipFill>
          <a:blip r:embed="rId5"/>
          <a:stretch>
            <a:fillRect/>
          </a:stretch>
        </p:blipFill>
        <p:spPr>
          <a:xfrm>
            <a:off x="548640" y="3703320"/>
            <a:ext cx="384048" cy="384048"/>
          </a:xfrm>
          <a:prstGeom prst="rect">
            <a:avLst/>
          </a:prstGeom>
        </p:spPr>
      </p:pic>
      <p:sp>
        <p:nvSpPr>
          <p:cNvPr id="10" name="Text 3"/>
          <p:cNvSpPr/>
          <p:nvPr/>
        </p:nvSpPr>
        <p:spPr>
          <a:xfrm>
            <a:off x="1097280" y="356616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Listen as you circulate this week, not just watch the screen - a wrong or missing sound is often faster to catch by ear than by reading code.</a:t>
            </a:r>
            <a:endParaRPr lang="en-US" sz="1350" dirty="0"/>
          </a:p>
        </p:txBody>
      </p:sp>
      <p:pic>
        <p:nvPicPr>
          <p:cNvPr id="11" name="Image 5" descr="icons/check.png">    </p:cNvPr>
          <p:cNvPicPr>
            <a:picLocks noChangeAspect="1"/>
          </p:cNvPicPr>
          <p:nvPr/>
        </p:nvPicPr>
        <p:blipFill>
          <a:blip r:embed="rId6"/>
          <a:stretch>
            <a:fillRect/>
          </a:stretch>
        </p:blipFill>
        <p:spPr>
          <a:xfrm>
            <a:off x="548640" y="4754880"/>
            <a:ext cx="384048" cy="384048"/>
          </a:xfrm>
          <a:prstGeom prst="rect">
            <a:avLst/>
          </a:prstGeom>
        </p:spPr>
      </p:pic>
      <p:sp>
        <p:nvSpPr>
          <p:cNvPr id="12" name="Text 4"/>
          <p:cNvSpPr/>
          <p:nvPr/>
        </p:nvSpPr>
        <p:spPr>
          <a:xfrm>
            <a:off x="1097280" y="461772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This is a lighter week - if a cluster finishes early, point them at Level 3 ideas rather than moving ahead to next week's material.</a:t>
            </a:r>
            <a:endParaRPr lang="en-US" sz="1350" dirty="0"/>
          </a:p>
        </p:txBody>
      </p:sp>
      <p:sp>
        <p:nvSpPr>
          <p:cNvPr id="14" name="Text 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16" name="Text 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Protect Your Project</a:t>
            </a:r>
            <a:endParaRPr lang="en-US" sz="3400" dirty="0"/>
          </a:p>
        </p:txBody>
      </p:sp>
      <p:pic>
        <p:nvPicPr>
          <p:cNvPr id="4" name="Image 1" descr="icons/shield.png">    </p:cNvPr>
          <p:cNvPicPr>
            <a:picLocks noChangeAspect="1"/>
          </p:cNvPicPr>
          <p:nvPr/>
        </p:nvPicPr>
        <p:blipFill>
          <a:blip r:embed="rId2"/>
          <a:stretch>
            <a:fillRect/>
          </a:stretch>
        </p:blipFill>
        <p:spPr>
          <a:xfrm>
            <a:off x="10515600" y="365760"/>
            <a:ext cx="914400" cy="914400"/>
          </a:xfrm>
          <a:prstGeom prst="rect">
            <a:avLst/>
          </a:prstGeom>
        </p:spPr>
      </p:pic>
      <p:sp>
        <p:nvSpPr>
          <p:cNvPr id="5" name="Text 1"/>
          <p:cNvSpPr/>
          <p:nvPr/>
        </p:nvSpPr>
        <p:spPr>
          <a:xfrm>
            <a:off x="548640" y="1188720"/>
            <a:ext cx="10881360" cy="45720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A few students have already lost work this way - worth two minutes before we wrap up today.</a:t>
            </a:r>
            <a:endParaRPr lang="en-US" sz="1500" dirty="0"/>
          </a:p>
        </p:txBody>
      </p:sp>
      <p:sp>
        <p:nvSpPr>
          <p:cNvPr id="6" name="Shape 2"/>
          <p:cNvSpPr/>
          <p:nvPr/>
        </p:nvSpPr>
        <p:spPr>
          <a:xfrm>
            <a:off x="548640" y="1783080"/>
            <a:ext cx="11064240" cy="2103120"/>
          </a:xfrm>
          <a:prstGeom prst="roundRect">
            <a:avLst>
              <a:gd name="adj" fmla="val 5217"/>
            </a:avLst>
          </a:prstGeom>
          <a:solidFill>
            <a:srgbClr val="EDF2F8"/>
          </a:solidFill>
          <a:ln/>
        </p:spPr>
      </p:sp>
      <p:pic>
        <p:nvPicPr>
          <p:cNvPr id="7" name="Image 2" descr="icons/wrench.png">    </p:cNvPr>
          <p:cNvPicPr>
            <a:picLocks noChangeAspect="1"/>
          </p:cNvPicPr>
          <p:nvPr/>
        </p:nvPicPr>
        <p:blipFill>
          <a:blip r:embed="rId3"/>
          <a:stretch>
            <a:fillRect/>
          </a:stretch>
        </p:blipFill>
        <p:spPr>
          <a:xfrm>
            <a:off x="777240" y="2011680"/>
            <a:ext cx="502920" cy="502920"/>
          </a:xfrm>
          <a:prstGeom prst="rect">
            <a:avLst/>
          </a:prstGeom>
        </p:spPr>
      </p:pic>
      <p:sp>
        <p:nvSpPr>
          <p:cNvPr id="8" name="Text 3"/>
          <p:cNvSpPr/>
          <p:nvPr/>
        </p:nvSpPr>
        <p:spPr>
          <a:xfrm>
            <a:off x="1463040" y="1920240"/>
            <a:ext cx="9966960" cy="182880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Game engines and IDEs are constantly writing and maintaining files behind the scenes - not just when you hit Save. If your computer sleeps, hibernates, or loses power WHILE one of those files is being written, that file can end up corrupted - and a corrupted project file often means the whole game won't load again.</a:t>
            </a:r>
            <a:endParaRPr lang="en-US" sz="1450" dirty="0"/>
          </a:p>
        </p:txBody>
      </p:sp>
      <p:sp>
        <p:nvSpPr>
          <p:cNvPr id="9" name="Text 4"/>
          <p:cNvSpPr/>
          <p:nvPr/>
        </p:nvSpPr>
        <p:spPr>
          <a:xfrm>
            <a:off x="548640" y="4069080"/>
            <a:ext cx="10881360" cy="5486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This isn't rare or exotic - it's the single most common way students have lost work in this course so far.</a:t>
            </a:r>
            <a:endParaRPr lang="en-US" sz="1500" dirty="0"/>
          </a:p>
        </p:txBody>
      </p:sp>
      <p:sp>
        <p:nvSpPr>
          <p:cNvPr id="10" name="Shape 5"/>
          <p:cNvSpPr/>
          <p:nvPr/>
        </p:nvSpPr>
        <p:spPr>
          <a:xfrm>
            <a:off x="548640" y="4800600"/>
            <a:ext cx="11064240" cy="1325880"/>
          </a:xfrm>
          <a:prstGeom prst="roundRect">
            <a:avLst>
              <a:gd name="adj" fmla="val 8276"/>
            </a:avLst>
          </a:prstGeom>
          <a:solidFill>
            <a:srgbClr val="0F2C52"/>
          </a:solidFill>
          <a:ln w="12700">
            <a:solidFill>
              <a:srgbClr val="C99A2E"/>
            </a:solidFill>
            <a:prstDash val="solid"/>
          </a:ln>
        </p:spPr>
      </p:sp>
      <p:sp>
        <p:nvSpPr>
          <p:cNvPr id="11" name="Text 6"/>
          <p:cNvSpPr/>
          <p:nvPr/>
        </p:nvSpPr>
        <p:spPr>
          <a:xfrm>
            <a:off x="822960" y="4983480"/>
            <a:ext cx="10515600" cy="960120"/>
          </a:xfrm>
          <a:prstGeom prst="rect">
            <a:avLst/>
          </a:prstGeom>
          <a:noFill/>
          <a:ln/>
        </p:spPr>
        <p:txBody>
          <a:bodyPr wrap="square" lIns="0" tIns="0" rIns="0" bIns="0" rtlCol="0" anchor="ctr"/>
          <a:lstStyle/>
          <a:p>
            <a:pPr indent="0" marL="0">
              <a:buNone/>
            </a:pPr>
            <a:r>
              <a:rPr lang="en-US" sz="1450" i="1" dirty="0">
                <a:solidFill>
                  <a:srgbClr val="F4F0E6"/>
                </a:solidFill>
                <a:latin typeface="Calibri" pitchFamily="34" charset="0"/>
                <a:ea typeface="Calibri" pitchFamily="34" charset="-122"/>
                <a:cs typeface="Calibri" pitchFamily="34" charset="-120"/>
              </a:rPr>
              <a:t>The good news: the fix is a habit, not a tool. The next slide covers the four steps that prevent this entirely.</a:t>
            </a:r>
            <a:endParaRPr lang="en-US" sz="1450" dirty="0"/>
          </a:p>
        </p:txBody>
      </p:sp>
      <p:sp>
        <p:nvSpPr>
          <p:cNvPr id="13" name="Text 7"/>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4" name="Text 8"/>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15" name="Text 9"/>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Your Backup Habit</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4 steps</a:t>
            </a:r>
            <a:endParaRPr lang="en-US" sz="1200" dirty="0"/>
          </a:p>
        </p:txBody>
      </p:sp>
      <p:sp>
        <p:nvSpPr>
          <p:cNvPr id="6" name="Shape 3"/>
          <p:cNvSpPr/>
          <p:nvPr/>
        </p:nvSpPr>
        <p:spPr>
          <a:xfrm>
            <a:off x="548640" y="1234440"/>
            <a:ext cx="11064240" cy="914400"/>
          </a:xfrm>
          <a:prstGeom prst="roundRect">
            <a:avLst>
              <a:gd name="adj" fmla="val 10000"/>
            </a:avLst>
          </a:prstGeom>
          <a:solidFill>
            <a:srgbClr val="FFFFFF"/>
          </a:solidFill>
          <a:ln w="12700">
            <a:solidFill>
              <a:srgbClr val="DCE3EC"/>
            </a:solidFill>
            <a:prstDash val="solid"/>
          </a:ln>
        </p:spPr>
      </p:sp>
      <p:sp>
        <p:nvSpPr>
          <p:cNvPr id="7" name="Text 4"/>
          <p:cNvSpPr/>
          <p:nvPr/>
        </p:nvSpPr>
        <p:spPr>
          <a:xfrm>
            <a:off x="777240" y="1307592"/>
            <a:ext cx="2743200" cy="7772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1. Battery backup</a:t>
            </a:r>
            <a:endParaRPr lang="en-US" sz="1400" dirty="0"/>
          </a:p>
        </p:txBody>
      </p:sp>
      <p:sp>
        <p:nvSpPr>
          <p:cNvPr id="8" name="Text 5"/>
          <p:cNvSpPr/>
          <p:nvPr/>
        </p:nvSpPr>
        <p:spPr>
          <a:xfrm>
            <a:off x="3611880" y="1307592"/>
            <a:ext cx="7863840" cy="77724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Desktop: a UPS, even a small one, just enough to shut down cleanly. Laptop: a laptop with an actual working battery - don't run a laptop with a dead/removed battery on wall power alone.</a:t>
            </a:r>
            <a:endParaRPr lang="en-US" sz="1200" dirty="0"/>
          </a:p>
        </p:txBody>
      </p:sp>
      <p:sp>
        <p:nvSpPr>
          <p:cNvPr id="9" name="Shape 6"/>
          <p:cNvSpPr/>
          <p:nvPr/>
        </p:nvSpPr>
        <p:spPr>
          <a:xfrm>
            <a:off x="548640" y="2240280"/>
            <a:ext cx="11064240" cy="914400"/>
          </a:xfrm>
          <a:prstGeom prst="roundRect">
            <a:avLst>
              <a:gd name="adj" fmla="val 10000"/>
            </a:avLst>
          </a:prstGeom>
          <a:solidFill>
            <a:srgbClr val="FFFFFF"/>
          </a:solidFill>
          <a:ln w="12700">
            <a:solidFill>
              <a:srgbClr val="DCE3EC"/>
            </a:solidFill>
            <a:prstDash val="solid"/>
          </a:ln>
        </p:spPr>
      </p:sp>
      <p:sp>
        <p:nvSpPr>
          <p:cNvPr id="10" name="Text 7"/>
          <p:cNvSpPr/>
          <p:nvPr/>
        </p:nvSpPr>
        <p:spPr>
          <a:xfrm>
            <a:off x="777240" y="2313432"/>
            <a:ext cx="2743200" cy="7772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2. Save often</a:t>
            </a:r>
            <a:endParaRPr lang="en-US" sz="1400" dirty="0"/>
          </a:p>
        </p:txBody>
      </p:sp>
      <p:sp>
        <p:nvSpPr>
          <p:cNvPr id="11" name="Text 8"/>
          <p:cNvSpPr/>
          <p:nvPr/>
        </p:nvSpPr>
        <p:spPr>
          <a:xfrm>
            <a:off x="3611880" y="2313432"/>
            <a:ext cx="7863840" cy="77724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File &gt; Save, Ctrl-S, or your engine's own save command - don't wait until you're "done" for the day.</a:t>
            </a:r>
            <a:endParaRPr lang="en-US" sz="1200" dirty="0"/>
          </a:p>
        </p:txBody>
      </p:sp>
      <p:sp>
        <p:nvSpPr>
          <p:cNvPr id="12" name="Shape 9"/>
          <p:cNvSpPr/>
          <p:nvPr/>
        </p:nvSpPr>
        <p:spPr>
          <a:xfrm>
            <a:off x="548640" y="3246120"/>
            <a:ext cx="11064240" cy="914400"/>
          </a:xfrm>
          <a:prstGeom prst="roundRect">
            <a:avLst>
              <a:gd name="adj" fmla="val 10000"/>
            </a:avLst>
          </a:prstGeom>
          <a:solidFill>
            <a:srgbClr val="FFFFFF"/>
          </a:solidFill>
          <a:ln w="12700">
            <a:solidFill>
              <a:srgbClr val="DCE3EC"/>
            </a:solidFill>
            <a:prstDash val="solid"/>
          </a:ln>
        </p:spPr>
      </p:sp>
      <p:sp>
        <p:nvSpPr>
          <p:cNvPr id="13" name="Text 10"/>
          <p:cNvSpPr/>
          <p:nvPr/>
        </p:nvSpPr>
        <p:spPr>
          <a:xfrm>
            <a:off x="777240" y="3319272"/>
            <a:ext cx="2743200" cy="7772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3. Clean exit, every time</a:t>
            </a:r>
            <a:endParaRPr lang="en-US" sz="1400" dirty="0"/>
          </a:p>
        </p:txBody>
      </p:sp>
      <p:sp>
        <p:nvSpPr>
          <p:cNvPr id="14" name="Text 11"/>
          <p:cNvSpPr/>
          <p:nvPr/>
        </p:nvSpPr>
        <p:spPr>
          <a:xfrm>
            <a:off x="3611880" y="3319272"/>
            <a:ext cx="7863840" cy="77724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Fully close the engine/IDE before powering off, sleeping, or walking away - never just close the lid or pull the plug while it's still open.</a:t>
            </a:r>
            <a:endParaRPr lang="en-US" sz="1200" dirty="0"/>
          </a:p>
        </p:txBody>
      </p:sp>
      <p:sp>
        <p:nvSpPr>
          <p:cNvPr id="15" name="Shape 12"/>
          <p:cNvSpPr/>
          <p:nvPr/>
        </p:nvSpPr>
        <p:spPr>
          <a:xfrm>
            <a:off x="548640" y="4251960"/>
            <a:ext cx="11064240" cy="914400"/>
          </a:xfrm>
          <a:prstGeom prst="roundRect">
            <a:avLst>
              <a:gd name="adj" fmla="val 10000"/>
            </a:avLst>
          </a:prstGeom>
          <a:solidFill>
            <a:srgbClr val="FFFFFF"/>
          </a:solidFill>
          <a:ln w="12700">
            <a:solidFill>
              <a:srgbClr val="DCE3EC"/>
            </a:solidFill>
            <a:prstDash val="solid"/>
          </a:ln>
        </p:spPr>
      </p:sp>
      <p:sp>
        <p:nvSpPr>
          <p:cNvPr id="16" name="Text 13"/>
          <p:cNvSpPr/>
          <p:nvPr/>
        </p:nvSpPr>
        <p:spPr>
          <a:xfrm>
            <a:off x="777240" y="4325112"/>
            <a:ext cx="2743200" cy="7772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4. Back up after shutdown</a:t>
            </a:r>
            <a:endParaRPr lang="en-US" sz="1400" dirty="0"/>
          </a:p>
        </p:txBody>
      </p:sp>
      <p:sp>
        <p:nvSpPr>
          <p:cNvPr id="17" name="Text 14"/>
          <p:cNvSpPr/>
          <p:nvPr/>
        </p:nvSpPr>
        <p:spPr>
          <a:xfrm>
            <a:off x="3611880" y="4325112"/>
            <a:ext cx="7863840" cy="77724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Once the application is fully closed, back up your project - every session, not just occasionally.</a:t>
            </a:r>
            <a:endParaRPr lang="en-US" sz="1200" dirty="0"/>
          </a:p>
        </p:txBody>
      </p:sp>
      <p:sp>
        <p:nvSpPr>
          <p:cNvPr id="18" name="Text 15"/>
          <p:cNvSpPr/>
          <p:nvPr/>
        </p:nvSpPr>
        <p:spPr>
          <a:xfrm>
            <a:off x="548640" y="5440680"/>
            <a:ext cx="11064240" cy="685800"/>
          </a:xfrm>
          <a:prstGeom prst="rect">
            <a:avLst/>
          </a:prstGeom>
          <a:noFill/>
          <a:ln/>
        </p:spPr>
        <p:txBody>
          <a:bodyPr wrap="square" lIns="0" tIns="0" rIns="0" bIns="0" rtlCol="0" anchor="ctr"/>
          <a:lstStyle/>
          <a:p>
            <a:pPr indent="0" marL="0">
              <a:buNone/>
            </a:pPr>
            <a:r>
              <a:rPr lang="en-US" sz="1250" i="1" dirty="0">
                <a:solidFill>
                  <a:srgbClr val="5A6472"/>
                </a:solidFill>
                <a:latin typeface="Calibri" pitchFamily="34" charset="0"/>
                <a:ea typeface="Calibri" pitchFamily="34" charset="-122"/>
                <a:cs typeface="Calibri" pitchFamily="34" charset="-120"/>
              </a:rPr>
              <a:t>Backup methods: your engine's own export/import, a plain copy of the project folder, or a version control system like git (local and/or GitHub/GitLab). Full engine-by-engine instructions and a git mini-tutorial are in the Backups Sidebar handout.</a:t>
            </a:r>
            <a:endParaRPr lang="en-US" sz="1250" dirty="0"/>
          </a:p>
        </p:txBody>
      </p:sp>
      <p:sp>
        <p:nvSpPr>
          <p:cNvPr id="20" name="Text 16"/>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1" name="Text 17"/>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12</a:t>
            </a:r>
            <a:endParaRPr lang="en-US" sz="1000" dirty="0"/>
          </a:p>
        </p:txBody>
      </p:sp>
      <p:sp>
        <p:nvSpPr>
          <p:cNvPr id="22" name="Text 18"/>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240280"/>
            <a:ext cx="12191695" cy="731520"/>
          </a:xfrm>
          <a:prstGeom prst="rect">
            <a:avLst/>
          </a:prstGeom>
          <a:noFill/>
          <a:ln/>
        </p:spPr>
        <p:txBody>
          <a:bodyPr wrap="square" lIns="0" tIns="0" rIns="0" bIns="0" rtlCol="0" anchor="ctr"/>
          <a:lstStyle/>
          <a:p>
            <a:pPr algn="ctr" indent="0" marL="0">
              <a:buNone/>
            </a:pPr>
            <a:r>
              <a:rPr lang="en-US" sz="4000" b="1" dirty="0">
                <a:solidFill>
                  <a:srgbClr val="E8C25A"/>
                </a:solidFill>
                <a:latin typeface="Cambria" pitchFamily="34" charset="0"/>
                <a:ea typeface="Cambria" pitchFamily="34" charset="-122"/>
                <a:cs typeface="Cambria" pitchFamily="34" charset="-120"/>
              </a:rPr>
              <a:t>It Sounds Like a Game!</a:t>
            </a:r>
            <a:endParaRPr lang="en-US" sz="4000" dirty="0"/>
          </a:p>
        </p:txBody>
      </p:sp>
      <p:sp>
        <p:nvSpPr>
          <p:cNvPr id="4" name="Text 1"/>
          <p:cNvSpPr/>
          <p:nvPr/>
        </p:nvSpPr>
        <p:spPr>
          <a:xfrm>
            <a:off x="1371600" y="3063240"/>
            <a:ext cx="9448495" cy="548640"/>
          </a:xfrm>
          <a:prstGeom prst="rect">
            <a:avLst/>
          </a:prstGeom>
          <a:noFill/>
          <a:ln/>
        </p:spPr>
        <p:txBody>
          <a:bodyPr wrap="square" lIns="0" tIns="0" rIns="0" bIns="0" rtlCol="0" anchor="ctr"/>
          <a:lstStyle/>
          <a:p>
            <a:pPr algn="ctr" indent="0" marL="0">
              <a:buNone/>
            </a:pPr>
            <a:r>
              <a:rPr lang="en-US" sz="1600" dirty="0">
                <a:solidFill>
                  <a:srgbClr val="F4F0E6"/>
                </a:solidFill>
                <a:latin typeface="Calibri" pitchFamily="34" charset="0"/>
                <a:ea typeface="Calibri" pitchFamily="34" charset="-122"/>
                <a:cs typeface="Calibri" pitchFamily="34" charset="-120"/>
              </a:rPr>
              <a:t>A shot, an explosion, a wave clear, a life lost, a game over - five moments, five distinct cues.</a:t>
            </a:r>
            <a:endParaRPr lang="en-US" sz="1600" dirty="0"/>
          </a:p>
        </p:txBody>
      </p:sp>
      <p:sp>
        <p:nvSpPr>
          <p:cNvPr id="5" name="Text 2"/>
          <p:cNvSpPr/>
          <p:nvPr/>
        </p:nvSpPr>
        <p:spPr>
          <a:xfrm>
            <a:off x="1371600" y="3657600"/>
            <a:ext cx="9448495" cy="548640"/>
          </a:xfrm>
          <a:prstGeom prst="rect">
            <a:avLst/>
          </a:prstGeom>
          <a:noFill/>
          <a:ln/>
        </p:spPr>
        <p:txBody>
          <a:bodyPr wrap="square" lIns="0" tIns="0" rIns="0" bIns="0" rtlCol="0" anchor="ctr"/>
          <a:lstStyle/>
          <a:p>
            <a:pPr algn="ctr" indent="0" marL="0">
              <a:buNone/>
            </a:pPr>
            <a:r>
              <a:rPr lang="en-US" sz="1500" dirty="0">
                <a:solidFill>
                  <a:srgbClr val="F4F0E6"/>
                </a:solidFill>
                <a:latin typeface="Calibri" pitchFamily="34" charset="0"/>
                <a:ea typeface="Calibri" pitchFamily="34" charset="-122"/>
                <a:cs typeface="Calibri" pitchFamily="34" charset="-120"/>
              </a:rPr>
              <a:t>Next week: basic animation - an explosion effect, a hit flash/reaction.</a:t>
            </a:r>
            <a:endParaRPr lang="en-US" sz="1500" dirty="0"/>
          </a:p>
        </p:txBody>
      </p:sp>
      <p:sp>
        <p:nvSpPr>
          <p:cNvPr id="6" name="Text 3"/>
          <p:cNvSpPr/>
          <p:nvPr/>
        </p:nvSpPr>
        <p:spPr>
          <a:xfrm>
            <a:off x="1371600" y="429768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Keep playtesting a full round at home if you'd like - try a Level 3 sound idea if you haven't already.</a:t>
            </a:r>
            <a:endParaRPr lang="en-US" sz="13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12</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2026-10-24T22:25:08Z</dcterms:created>
  <dcterms:modified xsi:type="dcterms:W3CDTF">2026-10-24T22:25:08Z</dcterms:modified>
</cp:coreProperties>
</file>