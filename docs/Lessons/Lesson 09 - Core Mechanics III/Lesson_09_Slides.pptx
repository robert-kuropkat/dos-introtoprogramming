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week your game got real stakes - lives, and a lose condition. Quick show of hands - who tested both directions, shooting AND escaping, to make sure the two counters stayed separate?" [Pause, call on 1-2 volunteers]
"Today, your game finally gets a real scoreboard - not just a message at the end, but score and lives visible the whole time you're playing. Today's demo is also back in GameMaker - same engine as Lesson 5, but this time in its typed GML mode instead of GML Visual, so keep an eye out for how much of what you already learned there still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"Way back in Lesson 6, I told you something on purpose: 'a plain line of text is completely legitimate today - the real UI system comes later, once there's a score and lives to actually display.' That was a promise. Today we keep it."
"Here's the interesting part: for some of you, keeping that promise is almost free. Your engine's win/lose message tool was ALREADY the real tool - it just needs to run all the time instead of once. For a couple of you, today introduces something genuinely new."
[Discussion question] "Why do you think we waited until now to build a real UI, instead of doing it back in Lesson 6 alongside the win message?" (Draw out: there was nothing worth displaying continuously yet - a UI showing nothing changing isn't useful; build the data first, display it once it means something.)
[Timing checkpoint: wrap by 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easy part: score. Every engine's hit-detection code already runs exactly once per confirmed kill - the same place enemies_remaining already changes. Score just joins it."
[Demo cue: switch to GameMaker, open a project with working lives from Lesson 8]
"Watch: right in obj_bullet's Collision event with obj_enemy - the exact same event where enemies_remaining already goes down - I add one line: obj_gamemanager.__dnd_score += 10. That's the whole scoring system (__dnd_score is the same variable GameMaker's drag-and-drop Score blocks use, which is why it has that odd name). The hard part isn't the math, it's showing it." [Add the __dnd_score += 10 line, show it's not visible yet]
"To actually SHOW score and lives, watch where I put the display code: obj_gamemanager's Draw GUI event - the exact same event that's already been drawing 'You Win!' and 'Game Over' since Lesson 6. I add two plain draw_text() calls there, with no if-check around them at all, so they just run every single frame no matter what." [Add the two unconditional draw_text() calls, run the game, shoot an enemy and let one escape to show both numbers update live]
[Timing checkpoint: wrap by 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just showed you in GameMaker is called POLL - instead of remembering to push an update every time something changes, you just check the data every single frame, no matter what. GameMaker's Draw GUI event and TIC-80's print() calls have quietly been doing this since Lesson 6 - today, Unity's HUD script does it on purpose too."
"But there's a second, equally valid way, and most of the rest of you will use it today: PUSH. Every time the data actually changes, you push an update to the display, instead of checking it constantly. Godot, GDevelop, Unreal, and 001 Game Creator's real-time Field binding all work this way."
[Demo cue, optional: pull up Godot briefly] "Neither approach is 'more correct.' Poll means you never forget to update, but you're technically doing a little more work than necessary, every frame, forever. Push means less wasted work, but you have to remember to call the update everywhere something changes. For two small numbers like these, the cost either way is nothing."
[Discussion question] "Can you think of something in a game where checking every single frame would start to feel wasteful, if there were hundreds of things to check instead of two?" (Open-ended; validate any reasonable guess - this previews ideas about performance they'll meet again in later, more advanced work.)
[Timing checkpoint: wrap by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lab today, open your own project from last week - not a new one, and no new assets needed. You're adding score tracking and a real, always-visible HUD."
[Hand out engine-specific handouts]
"Unity, Unreal, and 001 Game Creator folks - your setup today is more involved than usual, genuinely new UI tools. That's expected, not a sign you're behind. Everyone else - your engine's already had the right tool since Lesson 6, today's just about using it continuously."
"Questions before we start lab? ... Let's get your scoreboard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Unity, Unreal, and 001 Game Creator clusters need the most attention this week - budget extra circulation time there, and expect setup-related questions before logic questions.
001 Game Creator: the single most likely mistake is forgetting to tick "Update Real-time" on a Field - it looks like a mysterious bug (frozen numbers) rather than an obviously missing setting. Check this first if a student's HUD isn't updating.
Unity: NullReferenceException on Play almost always means a Text object wasn't actually dragged into the HUD script's Inspector fields - check this first.
A score readout stuck at 0 is almost always a missing or misplaced increment, not a display bug - have students confirm the underlying variable is actually changing before troubleshooting the display.
Students who finish Level 2 early should be pointed at the Level 3 ideas on their handout (HUD styling is a satisfying, visible one), not given new unrelated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3.png"/><Relationship Id="rId5" Type="http://schemas.openxmlformats.org/officeDocument/2006/relationships/image" Target="../media/image-14-3.png"/><Relationship Id="rId6" Type="http://schemas.openxmlformats.org/officeDocument/2006/relationships/image" Target="../media/image-14-3.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algn="ctr" indent="0" marL="0">
              <a:buNone/>
            </a:pPr>
            <a:r>
              <a:rPr lang="en-US" sz="1300" spc="100" kern="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algn="ctr" indent="0" marL="0">
              <a:buNone/>
            </a:pPr>
            <a:r>
              <a:rPr lang="en-US" sz="4400" b="1" dirty="0">
                <a:solidFill>
                  <a:srgbClr val="E8C25A"/>
                </a:solidFill>
                <a:latin typeface="Cambria" pitchFamily="34" charset="0"/>
                <a:ea typeface="Cambria" pitchFamily="34" charset="-122"/>
                <a:cs typeface="Cambria" pitchFamily="34" charset="-120"/>
              </a:rPr>
              <a:t>Lesson 9</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algn="ctr" indent="0" marL="0">
              <a:buNone/>
            </a:pPr>
            <a:r>
              <a:rPr lang="en-US" sz="2200" dirty="0">
                <a:solidFill>
                  <a:srgbClr val="F4F0E6"/>
                </a:solidFill>
                <a:latin typeface="Calibri" pitchFamily="34" charset="0"/>
                <a:ea typeface="Calibri" pitchFamily="34" charset="-122"/>
                <a:cs typeface="Calibri" pitchFamily="34" charset="-120"/>
              </a:rPr>
              <a:t>Core Mechanics III: On the Scoreboard</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400" b="1" i="1" dirty="0">
                <a:solidFill>
                  <a:srgbClr val="E8C25A"/>
                </a:solidFill>
                <a:latin typeface="Calibri" pitchFamily="34" charset="0"/>
                <a:ea typeface="Calibri" pitchFamily="34" charset="-122"/>
                <a:cs typeface="Calibri" pitchFamily="34" charset="-120"/>
              </a:rPr>
              <a:t>Semester 1, Week 9  -  Score Tracking + Real On-Screen UI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Lesson 9 objectives &amp; materials</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r>
          <p:cNvPicPr>
            <a:picLocks noChangeAspect="1"/>
          </p:cNvPicPr>
          <p:nvPr/>
        </p:nvPicPr>
        <p:blipFill>
          <a:blip r:embed="rId2"/>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Add score tracking to the existing hit-detection code</a:t>
            </a:r>
            <a:endParaRPr lang="en-US" sz="1450" dirty="0"/>
          </a:p>
        </p:txBody>
      </p:sp>
      <p:pic>
        <p:nvPicPr>
          <p:cNvPr id="8" name="Image 2" descr="icons/check.png">    </p:cNvPr>
          <p:cNvPicPr>
            <a:picLocks noChangeAspect="1"/>
          </p:cNvPicPr>
          <p:nvPr/>
        </p:nvPicPr>
        <p:blipFill>
          <a:blip r:embed="rId3"/>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Build a persistent, always-visible HUD</a:t>
            </a:r>
            <a:endParaRPr lang="en-US" sz="1450" dirty="0"/>
          </a:p>
        </p:txBody>
      </p:sp>
      <p:pic>
        <p:nvPicPr>
          <p:cNvPr id="10" name="Image 3" descr="icons/check.png">    </p:cNvPr>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Explain push-based vs. poll-based display updates</a:t>
            </a:r>
            <a:endParaRPr lang="en-US" sz="1450" dirty="0"/>
          </a:p>
        </p:txBody>
      </p:sp>
      <p:pic>
        <p:nvPicPr>
          <p:cNvPr id="12" name="Image 4" descr="icons/check.png">    </p:cNvPr>
          <p:cNvPicPr>
            <a:picLocks noChangeAspect="1"/>
          </p:cNvPicPr>
          <p:nvPr/>
        </p:nvPicPr>
        <p:blipFill>
          <a:blip r:embed="rId5"/>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Recognize which engines' text tools were already the real UI</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sp>
      <p:sp>
        <p:nvSpPr>
          <p:cNvPr id="15" name="Text 8"/>
          <p:cNvSpPr/>
          <p:nvPr/>
        </p:nvSpPr>
        <p:spPr>
          <a:xfrm>
            <a:off x="7223760" y="1691640"/>
            <a:ext cx="420624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What We're Using Today</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Demo laptop with all 8 engines verified</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GameMaker (GML script), for the live lecture demo - callback to Lesson 5</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No new assets this week - logic and UI lesson</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Unity, Unreal, 001GC: genuinely new UI setup this week</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Your own [YourName]Game project from Lesson 8 - not a new one</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IGDA framework tie-in:  Programming - UI/UX implementation, state display, event-driven vs. polling architecture (intermediate).</a:t>
            </a:r>
            <a:endParaRPr lang="en-US" sz="1150" dirty="0"/>
          </a:p>
        </p:txBody>
      </p:sp>
      <p:sp>
        <p:nvSpPr>
          <p:cNvPr id="27" name="Text 2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8" name="Text 2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9</a:t>
            </a:r>
            <a:endParaRPr lang="en-US" sz="1000" dirty="0"/>
          </a:p>
        </p:txBody>
      </p:sp>
      <p:sp>
        <p:nvSpPr>
          <p:cNvPr id="29" name="Text 2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production.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371600"/>
            <a:ext cx="11064240" cy="548640"/>
          </a:xfrm>
          <a:prstGeom prst="roundRect">
            <a:avLst>
              <a:gd name="adj" fmla="val 13333"/>
            </a:avLst>
          </a:prstGeom>
          <a:solidFill>
            <a:srgbClr val="FFFFFF"/>
          </a:solidFill>
          <a:ln w="12700">
            <a:solidFill>
              <a:srgbClr val="DCE3EC"/>
            </a:solidFill>
            <a:prstDash val="solid"/>
          </a:ln>
        </p:spPr>
      </p:sp>
      <p:sp>
        <p:nvSpPr>
          <p:cNvPr id="6" name="Text 2"/>
          <p:cNvSpPr/>
          <p:nvPr/>
        </p:nvSpPr>
        <p:spPr>
          <a:xfrm>
            <a:off x="822960" y="1371600"/>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0:00 - 0:05</a:t>
            </a:r>
            <a:endParaRPr lang="en-US" sz="1350" dirty="0"/>
          </a:p>
        </p:txBody>
      </p:sp>
      <p:sp>
        <p:nvSpPr>
          <p:cNvPr id="7" name="Text 3"/>
          <p:cNvSpPr/>
          <p:nvPr/>
        </p:nvSpPr>
        <p:spPr>
          <a:xfrm>
            <a:off x="3017520" y="1371600"/>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Welcome back, Lesson 8 recap</a:t>
            </a:r>
            <a:endParaRPr lang="en-US" sz="1280" dirty="0"/>
          </a:p>
        </p:txBody>
      </p:sp>
      <p:sp>
        <p:nvSpPr>
          <p:cNvPr id="8" name="Shape 4"/>
          <p:cNvSpPr/>
          <p:nvPr/>
        </p:nvSpPr>
        <p:spPr>
          <a:xfrm>
            <a:off x="548640" y="2020824"/>
            <a:ext cx="11064240" cy="548640"/>
          </a:xfrm>
          <a:prstGeom prst="roundRect">
            <a:avLst>
              <a:gd name="adj" fmla="val 13333"/>
            </a:avLst>
          </a:prstGeom>
          <a:solidFill>
            <a:srgbClr val="FFFFFF"/>
          </a:solidFill>
          <a:ln w="12700">
            <a:solidFill>
              <a:srgbClr val="DCE3EC"/>
            </a:solidFill>
            <a:prstDash val="solid"/>
          </a:ln>
        </p:spPr>
      </p:sp>
      <p:sp>
        <p:nvSpPr>
          <p:cNvPr id="9" name="Text 5"/>
          <p:cNvSpPr/>
          <p:nvPr/>
        </p:nvSpPr>
        <p:spPr>
          <a:xfrm>
            <a:off x="822960" y="2020824"/>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0:05 - 0:15</a:t>
            </a:r>
            <a:endParaRPr lang="en-US" sz="1350" dirty="0"/>
          </a:p>
        </p:txBody>
      </p:sp>
      <p:sp>
        <p:nvSpPr>
          <p:cNvPr id="10" name="Text 6"/>
          <p:cNvSpPr/>
          <p:nvPr/>
        </p:nvSpPr>
        <p:spPr>
          <a:xfrm>
            <a:off x="3017520" y="2020824"/>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The Payoff of Deferring UI</a:t>
            </a:r>
            <a:endParaRPr lang="en-US" sz="1280" dirty="0"/>
          </a:p>
        </p:txBody>
      </p:sp>
      <p:sp>
        <p:nvSpPr>
          <p:cNvPr id="11" name="Shape 7"/>
          <p:cNvSpPr/>
          <p:nvPr/>
        </p:nvSpPr>
        <p:spPr>
          <a:xfrm>
            <a:off x="548640" y="2670048"/>
            <a:ext cx="11064240" cy="548640"/>
          </a:xfrm>
          <a:prstGeom prst="roundRect">
            <a:avLst>
              <a:gd name="adj" fmla="val 13333"/>
            </a:avLst>
          </a:prstGeom>
          <a:solidFill>
            <a:srgbClr val="FFFFFF"/>
          </a:solidFill>
          <a:ln w="12700">
            <a:solidFill>
              <a:srgbClr val="DCE3EC"/>
            </a:solidFill>
            <a:prstDash val="solid"/>
          </a:ln>
        </p:spPr>
      </p:sp>
      <p:sp>
        <p:nvSpPr>
          <p:cNvPr id="12" name="Text 8"/>
          <p:cNvSpPr/>
          <p:nvPr/>
        </p:nvSpPr>
        <p:spPr>
          <a:xfrm>
            <a:off x="822960" y="2670048"/>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0:15 - 0:35</a:t>
            </a:r>
            <a:endParaRPr lang="en-US" sz="1350" dirty="0"/>
          </a:p>
        </p:txBody>
      </p:sp>
      <p:sp>
        <p:nvSpPr>
          <p:cNvPr id="13" name="Text 9"/>
          <p:cNvSpPr/>
          <p:nvPr/>
        </p:nvSpPr>
        <p:spPr>
          <a:xfrm>
            <a:off x="3017520" y="2670048"/>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Score: Reusing the Hit-Detection Path</a:t>
            </a:r>
            <a:endParaRPr lang="en-US" sz="1280" dirty="0"/>
          </a:p>
        </p:txBody>
      </p:sp>
      <p:sp>
        <p:nvSpPr>
          <p:cNvPr id="14" name="Shape 10"/>
          <p:cNvSpPr/>
          <p:nvPr/>
        </p:nvSpPr>
        <p:spPr>
          <a:xfrm>
            <a:off x="548640" y="3319272"/>
            <a:ext cx="11064240" cy="548640"/>
          </a:xfrm>
          <a:prstGeom prst="roundRect">
            <a:avLst>
              <a:gd name="adj" fmla="val 13333"/>
            </a:avLst>
          </a:prstGeom>
          <a:solidFill>
            <a:srgbClr val="FFFFFF"/>
          </a:solidFill>
          <a:ln w="12700">
            <a:solidFill>
              <a:srgbClr val="DCE3EC"/>
            </a:solidFill>
            <a:prstDash val="solid"/>
          </a:ln>
        </p:spPr>
      </p:sp>
      <p:sp>
        <p:nvSpPr>
          <p:cNvPr id="15" name="Text 11"/>
          <p:cNvSpPr/>
          <p:nvPr/>
        </p:nvSpPr>
        <p:spPr>
          <a:xfrm>
            <a:off x="822960" y="3319272"/>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0:35 - 0:50</a:t>
            </a:r>
            <a:endParaRPr lang="en-US" sz="1350" dirty="0"/>
          </a:p>
        </p:txBody>
      </p:sp>
      <p:sp>
        <p:nvSpPr>
          <p:cNvPr id="16" name="Text 12"/>
          <p:cNvSpPr/>
          <p:nvPr/>
        </p:nvSpPr>
        <p:spPr>
          <a:xfrm>
            <a:off x="3017520" y="3319272"/>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Two Ways to Stay in Sync: Push vs. Poll</a:t>
            </a:r>
            <a:endParaRPr lang="en-US" sz="1280" dirty="0"/>
          </a:p>
        </p:txBody>
      </p:sp>
      <p:sp>
        <p:nvSpPr>
          <p:cNvPr id="17" name="Shape 13"/>
          <p:cNvSpPr/>
          <p:nvPr/>
        </p:nvSpPr>
        <p:spPr>
          <a:xfrm>
            <a:off x="548640" y="3968496"/>
            <a:ext cx="11064240" cy="548640"/>
          </a:xfrm>
          <a:prstGeom prst="roundRect">
            <a:avLst>
              <a:gd name="adj" fmla="val 13333"/>
            </a:avLst>
          </a:prstGeom>
          <a:solidFill>
            <a:srgbClr val="FFFFFF"/>
          </a:solidFill>
          <a:ln w="12700">
            <a:solidFill>
              <a:srgbClr val="DCE3EC"/>
            </a:solidFill>
            <a:prstDash val="solid"/>
          </a:ln>
        </p:spPr>
      </p:sp>
      <p:sp>
        <p:nvSpPr>
          <p:cNvPr id="18" name="Text 14"/>
          <p:cNvSpPr/>
          <p:nvPr/>
        </p:nvSpPr>
        <p:spPr>
          <a:xfrm>
            <a:off x="822960" y="3968496"/>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0:50 - 0:55</a:t>
            </a:r>
            <a:endParaRPr lang="en-US" sz="1350" dirty="0"/>
          </a:p>
        </p:txBody>
      </p:sp>
      <p:sp>
        <p:nvSpPr>
          <p:cNvPr id="19" name="Text 15"/>
          <p:cNvSpPr/>
          <p:nvPr/>
        </p:nvSpPr>
        <p:spPr>
          <a:xfrm>
            <a:off x="3017520" y="3968496"/>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Introduce lab exercise, hand out engine-specific handouts</a:t>
            </a:r>
            <a:endParaRPr lang="en-US" sz="1280" dirty="0"/>
          </a:p>
        </p:txBody>
      </p:sp>
      <p:sp>
        <p:nvSpPr>
          <p:cNvPr id="20" name="Shape 16"/>
          <p:cNvSpPr/>
          <p:nvPr/>
        </p:nvSpPr>
        <p:spPr>
          <a:xfrm>
            <a:off x="548640" y="4617720"/>
            <a:ext cx="11064240" cy="438912"/>
          </a:xfrm>
          <a:prstGeom prst="roundRect">
            <a:avLst>
              <a:gd name="adj" fmla="val 16667"/>
            </a:avLst>
          </a:prstGeom>
          <a:solidFill>
            <a:srgbClr val="C99A2E"/>
          </a:solidFill>
          <a:ln w="12700">
            <a:solidFill>
              <a:srgbClr val="DCE3EC"/>
            </a:solidFill>
            <a:prstDash val="solid"/>
          </a:ln>
        </p:spPr>
      </p:sp>
      <p:sp>
        <p:nvSpPr>
          <p:cNvPr id="21" name="Text 17"/>
          <p:cNvSpPr/>
          <p:nvPr/>
        </p:nvSpPr>
        <p:spPr>
          <a:xfrm>
            <a:off x="822960" y="4617720"/>
            <a:ext cx="2103120" cy="438912"/>
          </a:xfrm>
          <a:prstGeom prst="rect">
            <a:avLst/>
          </a:prstGeom>
          <a:noFill/>
          <a:ln/>
        </p:spPr>
        <p:txBody>
          <a:bodyPr wrap="square" lIns="0" tIns="0" rIns="0" bIns="0" rtlCol="0" anchor="ctr"/>
          <a:lstStyle/>
          <a:p>
            <a:pPr indent="0" marL="0">
              <a:buNone/>
            </a:pPr>
            <a:r>
              <a:rPr lang="en-US" sz="1300" b="1" dirty="0">
                <a:solidFill>
                  <a:srgbClr val="16305C"/>
                </a:solidFill>
                <a:latin typeface="Calibri" pitchFamily="34" charset="0"/>
                <a:ea typeface="Calibri" pitchFamily="34" charset="-122"/>
                <a:cs typeface="Calibri" pitchFamily="34" charset="-120"/>
              </a:rPr>
              <a:t>LAB TIME</a:t>
            </a:r>
            <a:endParaRPr lang="en-US" sz="1300" dirty="0"/>
          </a:p>
        </p:txBody>
      </p:sp>
      <p:sp>
        <p:nvSpPr>
          <p:cNvPr id="22" name="Text 18"/>
          <p:cNvSpPr/>
          <p:nvPr/>
        </p:nvSpPr>
        <p:spPr>
          <a:xfrm>
            <a:off x="3017520" y="4617720"/>
            <a:ext cx="8412480" cy="438912"/>
          </a:xfrm>
          <a:prstGeom prst="rect">
            <a:avLst/>
          </a:prstGeom>
          <a:noFill/>
          <a:ln/>
        </p:spPr>
        <p:txBody>
          <a:bodyPr wrap="square" lIns="0" tIns="0" rIns="0" bIns="0" rtlCol="0" anchor="ctr"/>
          <a:lstStyle/>
          <a:p>
            <a:pPr indent="0" marL="0">
              <a:buNone/>
            </a:pPr>
            <a:r>
              <a:rPr lang="en-US" sz="1300" b="1" i="1" dirty="0">
                <a:solidFill>
                  <a:srgbClr val="16305C"/>
                </a:solidFill>
                <a:latin typeface="Calibri" pitchFamily="34" charset="0"/>
                <a:ea typeface="Calibri" pitchFamily="34" charset="-122"/>
                <a:cs typeface="Calibri" pitchFamily="34" charset="-120"/>
              </a:rPr>
              <a:t>— On the Scoreboard —</a:t>
            </a:r>
            <a:endParaRPr lang="en-US" sz="1300" dirty="0"/>
          </a:p>
        </p:txBody>
      </p:sp>
      <p:sp>
        <p:nvSpPr>
          <p:cNvPr id="23" name="Shape 19"/>
          <p:cNvSpPr/>
          <p:nvPr/>
        </p:nvSpPr>
        <p:spPr>
          <a:xfrm>
            <a:off x="548640" y="5157216"/>
            <a:ext cx="11064240" cy="548640"/>
          </a:xfrm>
          <a:prstGeom prst="roundRect">
            <a:avLst>
              <a:gd name="adj" fmla="val 13333"/>
            </a:avLst>
          </a:prstGeom>
          <a:solidFill>
            <a:srgbClr val="FFFFFF"/>
          </a:solidFill>
          <a:ln w="12700">
            <a:solidFill>
              <a:srgbClr val="DCE3EC"/>
            </a:solidFill>
            <a:prstDash val="solid"/>
          </a:ln>
        </p:spPr>
      </p:sp>
      <p:sp>
        <p:nvSpPr>
          <p:cNvPr id="24" name="Text 20"/>
          <p:cNvSpPr/>
          <p:nvPr/>
        </p:nvSpPr>
        <p:spPr>
          <a:xfrm>
            <a:off x="822960" y="5157216"/>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0:55 - 1:50</a:t>
            </a:r>
            <a:endParaRPr lang="en-US" sz="1350" dirty="0"/>
          </a:p>
        </p:txBody>
      </p:sp>
      <p:sp>
        <p:nvSpPr>
          <p:cNvPr id="25" name="Text 21"/>
          <p:cNvSpPr/>
          <p:nvPr/>
        </p:nvSpPr>
        <p:spPr>
          <a:xfrm>
            <a:off x="3017520" y="5157216"/>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Add score tracking and a real on-screen UI</a:t>
            </a:r>
            <a:endParaRPr lang="en-US" sz="1280" dirty="0"/>
          </a:p>
        </p:txBody>
      </p:sp>
      <p:sp>
        <p:nvSpPr>
          <p:cNvPr id="26" name="Shape 22"/>
          <p:cNvSpPr/>
          <p:nvPr/>
        </p:nvSpPr>
        <p:spPr>
          <a:xfrm>
            <a:off x="548640" y="5806440"/>
            <a:ext cx="11064240" cy="548640"/>
          </a:xfrm>
          <a:prstGeom prst="roundRect">
            <a:avLst>
              <a:gd name="adj" fmla="val 13333"/>
            </a:avLst>
          </a:prstGeom>
          <a:solidFill>
            <a:srgbClr val="FFFFFF"/>
          </a:solidFill>
          <a:ln w="12700">
            <a:solidFill>
              <a:srgbClr val="DCE3EC"/>
            </a:solidFill>
            <a:prstDash val="solid"/>
          </a:ln>
        </p:spPr>
      </p:sp>
      <p:sp>
        <p:nvSpPr>
          <p:cNvPr id="27" name="Text 23"/>
          <p:cNvSpPr/>
          <p:nvPr/>
        </p:nvSpPr>
        <p:spPr>
          <a:xfrm>
            <a:off x="822960" y="5806440"/>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1:50 - 2:00</a:t>
            </a:r>
            <a:endParaRPr lang="en-US" sz="1350" dirty="0"/>
          </a:p>
        </p:txBody>
      </p:sp>
      <p:sp>
        <p:nvSpPr>
          <p:cNvPr id="28" name="Text 24"/>
          <p:cNvSpPr/>
          <p:nvPr/>
        </p:nvSpPr>
        <p:spPr>
          <a:xfrm>
            <a:off x="3017520" y="5806440"/>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Exit check / quick share-out</a:t>
            </a:r>
            <a:endParaRPr lang="en-US" sz="1280" dirty="0"/>
          </a:p>
        </p:txBody>
      </p:sp>
      <p:sp>
        <p:nvSpPr>
          <p:cNvPr id="29" name="Text 2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30" name="Text 2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9</a:t>
            </a:r>
            <a:endParaRPr lang="en-US" sz="1000" dirty="0"/>
          </a:p>
        </p:txBody>
      </p:sp>
      <p:sp>
        <p:nvSpPr>
          <p:cNvPr id="31" name="Text 2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Lesson 8 recap - your game got real stakes.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9</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Welcome Back</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Quick recap of Lesson 8:</a:t>
            </a:r>
            <a:endParaRPr lang="en-US" sz="1600" dirty="0"/>
          </a:p>
        </p:txBody>
      </p:sp>
      <p:pic>
        <p:nvPicPr>
          <p:cNvPr id="7" name="Image 1" descr="icons/check.png">    </p:cNvPr>
          <p:cNvPicPr>
            <a:picLocks noChangeAspect="1"/>
          </p:cNvPicPr>
          <p:nvPr/>
        </p:nvPicPr>
        <p:blipFill>
          <a:blip r:embed="rId2"/>
          <a:stretch>
            <a:fillRect/>
          </a:stretch>
        </p:blipFill>
        <p:spPr>
          <a:xfrm>
            <a:off x="548640" y="1828800"/>
            <a:ext cx="365760" cy="365760"/>
          </a:xfrm>
          <a:prstGeom prst="rect">
            <a:avLst/>
          </a:prstGeom>
        </p:spPr>
      </p:pic>
      <p:sp>
        <p:nvSpPr>
          <p:cNvPr id="8" name="Text 4"/>
          <p:cNvSpPr/>
          <p:nvPr/>
        </p:nvSpPr>
        <p:spPr>
          <a:xfrm>
            <a:off x="1051560" y="175564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 lives system - an escaped enemy costs a life, tracked starting at 3</a:t>
            </a:r>
            <a:endParaRPr lang="en-US" sz="1500" dirty="0"/>
          </a:p>
        </p:txBody>
      </p:sp>
      <p:pic>
        <p:nvPicPr>
          <p:cNvPr id="9" name="Image 2" descr="icons/check.png">    </p:cNvPr>
          <p:cNvPicPr>
            <a:picLocks noChangeAspect="1"/>
          </p:cNvPicPr>
          <p:nvPr/>
        </p:nvPicPr>
        <p:blipFill>
          <a:blip r:embed="rId3"/>
          <a:stretch>
            <a:fillRect/>
          </a:stretch>
        </p:blipFill>
        <p:spPr>
          <a:xfrm>
            <a:off x="548640" y="2606040"/>
            <a:ext cx="365760" cy="365760"/>
          </a:xfrm>
          <a:prstGeom prst="rect">
            <a:avLst/>
          </a:prstGeom>
        </p:spPr>
      </p:pic>
      <p:sp>
        <p:nvSpPr>
          <p:cNvPr id="10" name="Text 5"/>
          <p:cNvSpPr/>
          <p:nvPr/>
        </p:nvSpPr>
        <p:spPr>
          <a:xfrm>
            <a:off x="1051560" y="253288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 real lose condition - "Game Over" appears at zero lives</a:t>
            </a:r>
            <a:endParaRPr lang="en-US" sz="1500" dirty="0"/>
          </a:p>
        </p:txBody>
      </p:sp>
      <p:pic>
        <p:nvPicPr>
          <p:cNvPr id="11" name="Image 3" descr="icons/check.png">    </p:cNvPr>
          <p:cNvPicPr>
            <a:picLocks noChangeAspect="1"/>
          </p:cNvPicPr>
          <p:nvPr/>
        </p:nvPicPr>
        <p:blipFill>
          <a:blip r:embed="rId4"/>
          <a:stretch>
            <a:fillRect/>
          </a:stretch>
        </p:blipFill>
        <p:spPr>
          <a:xfrm>
            <a:off x="548640" y="3383280"/>
            <a:ext cx="365760" cy="365760"/>
          </a:xfrm>
          <a:prstGeom prst="rect">
            <a:avLst/>
          </a:prstGeom>
        </p:spPr>
      </p:pic>
      <p:sp>
        <p:nvSpPr>
          <p:cNvPr id="12" name="Text 6"/>
          <p:cNvSpPr/>
          <p:nvPr/>
        </p:nvSpPr>
        <p:spPr>
          <a:xfrm>
            <a:off x="1051560" y="331012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Today: score and lives finally show on screen the whole time you're playing</a:t>
            </a:r>
            <a:endParaRPr lang="en-US" sz="1500" dirty="0"/>
          </a:p>
        </p:txBody>
      </p:sp>
      <p:sp>
        <p:nvSpPr>
          <p:cNvPr id="13" name="Shape 7"/>
          <p:cNvSpPr/>
          <p:nvPr/>
        </p:nvSpPr>
        <p:spPr>
          <a:xfrm>
            <a:off x="548640" y="4343400"/>
            <a:ext cx="11064240" cy="1371600"/>
          </a:xfrm>
          <a:prstGeom prst="roundRect">
            <a:avLst>
              <a:gd name="adj" fmla="val 8000"/>
            </a:avLst>
          </a:prstGeom>
          <a:solidFill>
            <a:srgbClr val="EDF2F8"/>
          </a:solidFill>
          <a:ln/>
        </p:spPr>
      </p:sp>
      <p:pic>
        <p:nvPicPr>
          <p:cNvPr id="14" name="Image 4" descr="icons/wrench.png">    </p:cNvPr>
          <p:cNvPicPr>
            <a:picLocks noChangeAspect="1"/>
          </p:cNvPicPr>
          <p:nvPr/>
        </p:nvPicPr>
        <p:blipFill>
          <a:blip r:embed="rId5"/>
          <a:stretch>
            <a:fillRect/>
          </a:stretch>
        </p:blipFill>
        <p:spPr>
          <a:xfrm>
            <a:off x="777240" y="4572000"/>
            <a:ext cx="548640" cy="548640"/>
          </a:xfrm>
          <a:prstGeom prst="rect">
            <a:avLst/>
          </a:prstGeom>
        </p:spPr>
      </p:pic>
      <p:sp>
        <p:nvSpPr>
          <p:cNvPr id="15" name="Text 8"/>
          <p:cNvSpPr/>
          <p:nvPr/>
        </p:nvSpPr>
        <p:spPr>
          <a:xfrm>
            <a:off x="1508760" y="4526280"/>
            <a:ext cx="9875520" cy="9601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Open your own project from last week today, not a new one - and no new assets needed either, this is a logic and UI lesson.</a:t>
            </a:r>
            <a:endParaRPr lang="en-US" sz="1400" dirty="0"/>
          </a:p>
        </p:txBody>
      </p:sp>
      <p:sp>
        <p:nvSpPr>
          <p:cNvPr id="17"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9</a:t>
            </a:r>
            <a:endParaRPr lang="en-US" sz="1000" dirty="0"/>
          </a:p>
        </p:txBody>
      </p:sp>
      <p:sp>
        <p:nvSpPr>
          <p:cNvPr id="19"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desig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The Payoff of Deferring UI</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A promise made in Lesson 6, kept today.</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9</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Keeping a Promise</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Shape 3"/>
          <p:cNvSpPr/>
          <p:nvPr/>
        </p:nvSpPr>
        <p:spPr>
          <a:xfrm>
            <a:off x="548640" y="1371600"/>
            <a:ext cx="11064240" cy="1371600"/>
          </a:xfrm>
          <a:prstGeom prst="roundRect">
            <a:avLst>
              <a:gd name="adj" fmla="val 8000"/>
            </a:avLst>
          </a:prstGeom>
          <a:solidFill>
            <a:srgbClr val="EDF2F8"/>
          </a:solidFill>
          <a:ln/>
        </p:spPr>
      </p:sp>
      <p:pic>
        <p:nvPicPr>
          <p:cNvPr id="7" name="Image 1" descr="icons/design.png">    </p:cNvPr>
          <p:cNvPicPr>
            <a:picLocks noChangeAspect="1"/>
          </p:cNvPicPr>
          <p:nvPr/>
        </p:nvPicPr>
        <p:blipFill>
          <a:blip r:embed="rId2"/>
          <a:stretch>
            <a:fillRect/>
          </a:stretch>
        </p:blipFill>
        <p:spPr>
          <a:xfrm>
            <a:off x="777240" y="1600200"/>
            <a:ext cx="502920" cy="502920"/>
          </a:xfrm>
          <a:prstGeom prst="rect">
            <a:avLst/>
          </a:prstGeom>
        </p:spPr>
      </p:pic>
      <p:sp>
        <p:nvSpPr>
          <p:cNvPr id="8" name="Text 4"/>
          <p:cNvSpPr/>
          <p:nvPr/>
        </p:nvSpPr>
        <p:spPr>
          <a:xfrm>
            <a:off x="1463040" y="1508760"/>
            <a:ext cx="9966960" cy="109728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Lesson 6: "a plain line of text is completely legitimate today - the real UI system comes later, once there's a score and lives to actually display." That's today.</a:t>
            </a:r>
            <a:endParaRPr lang="en-US" sz="1450" dirty="0"/>
          </a:p>
        </p:txBody>
      </p:sp>
      <p:sp>
        <p:nvSpPr>
          <p:cNvPr id="9" name="Text 5"/>
          <p:cNvSpPr/>
          <p:nvPr/>
        </p:nvSpPr>
        <p:spPr>
          <a:xfrm>
            <a:off x="548640" y="2971800"/>
            <a:ext cx="10881360" cy="68580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For some engines, keeping that promise is almost free - the tool was already right, it just needs to run continuously. For a couple, today is genuinely new.</a:t>
            </a:r>
            <a:endParaRPr lang="en-US" sz="1500" dirty="0"/>
          </a:p>
        </p:txBody>
      </p:sp>
      <p:sp>
        <p:nvSpPr>
          <p:cNvPr id="10" name="Shape 6"/>
          <p:cNvSpPr/>
          <p:nvPr/>
        </p:nvSpPr>
        <p:spPr>
          <a:xfrm>
            <a:off x="548640" y="3840480"/>
            <a:ext cx="11064240" cy="1371600"/>
          </a:xfrm>
          <a:prstGeom prst="roundRect">
            <a:avLst>
              <a:gd name="adj" fmla="val 8000"/>
            </a:avLst>
          </a:prstGeom>
          <a:solidFill>
            <a:srgbClr val="0F2C52"/>
          </a:solidFill>
          <a:ln w="12700">
            <a:solidFill>
              <a:srgbClr val="C99A2E"/>
            </a:solidFill>
            <a:prstDash val="solid"/>
          </a:ln>
        </p:spPr>
      </p:sp>
      <p:pic>
        <p:nvPicPr>
          <p:cNvPr id="11" name="Image 2" descr="icons/chat.png">    </p:cNvPr>
          <p:cNvPicPr>
            <a:picLocks noChangeAspect="1"/>
          </p:cNvPicPr>
          <p:nvPr/>
        </p:nvPicPr>
        <p:blipFill>
          <a:blip r:embed="rId3"/>
          <a:stretch>
            <a:fillRect/>
          </a:stretch>
        </p:blipFill>
        <p:spPr>
          <a:xfrm>
            <a:off x="777240" y="4069080"/>
            <a:ext cx="502920" cy="502920"/>
          </a:xfrm>
          <a:prstGeom prst="rect">
            <a:avLst/>
          </a:prstGeom>
        </p:spPr>
      </p:pic>
      <p:sp>
        <p:nvSpPr>
          <p:cNvPr id="12" name="Text 7"/>
          <p:cNvSpPr/>
          <p:nvPr/>
        </p:nvSpPr>
        <p:spPr>
          <a:xfrm>
            <a:off x="1463040" y="3977640"/>
            <a:ext cx="9966960" cy="1188720"/>
          </a:xfrm>
          <a:prstGeom prst="rect">
            <a:avLst/>
          </a:prstGeom>
          <a:noFill/>
          <a:ln/>
        </p:spPr>
        <p:txBody>
          <a:bodyPr wrap="square" lIns="0" tIns="0" rIns="0" bIns="0" rtlCol="0" anchor="ctr"/>
          <a:lstStyle/>
          <a:p>
            <a:pPr indent="0" marL="0">
              <a:buNone/>
            </a:pPr>
            <a:r>
              <a:rPr lang="en-US" sz="1350" i="1" dirty="0">
                <a:solidFill>
                  <a:srgbClr val="F4F0E6"/>
                </a:solidFill>
                <a:latin typeface="Calibri" pitchFamily="34" charset="0"/>
                <a:ea typeface="Calibri" pitchFamily="34" charset="-122"/>
                <a:cs typeface="Calibri" pitchFamily="34" charset="-120"/>
              </a:rPr>
              <a:t>Discussion: why wait until now to build a real UI, instead of doing it back in Lesson 6? (There was nothing worth displaying continuously yet - build the data first, display it once it means something.)</a:t>
            </a:r>
            <a:endParaRPr lang="en-US" sz="1350" dirty="0"/>
          </a:p>
        </p:txBody>
      </p:sp>
      <p:sp>
        <p:nvSpPr>
          <p:cNvPr id="14"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9</a:t>
            </a:r>
            <a:endParaRPr lang="en-US" sz="1000" dirty="0"/>
          </a:p>
        </p:txBody>
      </p:sp>
      <p:sp>
        <p:nvSpPr>
          <p:cNvPr id="16"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title_programmin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Score: Reusing the Path</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The hit-detection code already runs once per kill.</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9</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6012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Score Joins the Kill</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7772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Every engine's hit-detection code already runs exactly once per confirmed kill - the same place enemies_remaining already changes. Score just joins it: +10 per kill.</a:t>
            </a:r>
            <a:endParaRPr lang="en-US" sz="1500" dirty="0"/>
          </a:p>
        </p:txBody>
      </p:sp>
      <p:sp>
        <p:nvSpPr>
          <p:cNvPr id="7" name="Shape 4"/>
          <p:cNvSpPr/>
          <p:nvPr/>
        </p:nvSpPr>
        <p:spPr>
          <a:xfrm>
            <a:off x="548640" y="2286000"/>
            <a:ext cx="11064240" cy="1554480"/>
          </a:xfrm>
          <a:prstGeom prst="roundRect">
            <a:avLst>
              <a:gd name="adj" fmla="val 7059"/>
            </a:avLst>
          </a:prstGeom>
          <a:solidFill>
            <a:srgbClr val="EDF2F8"/>
          </a:solidFill>
          <a:ln/>
        </p:spPr>
      </p:sp>
      <p:pic>
        <p:nvPicPr>
          <p:cNvPr id="8" name="Image 1" descr="icons/programming.png">    </p:cNvPr>
          <p:cNvPicPr>
            <a:picLocks noChangeAspect="1"/>
          </p:cNvPicPr>
          <p:nvPr/>
        </p:nvPicPr>
        <p:blipFill>
          <a:blip r:embed="rId2"/>
          <a:stretch>
            <a:fillRect/>
          </a:stretch>
        </p:blipFill>
        <p:spPr>
          <a:xfrm>
            <a:off x="777240" y="2514600"/>
            <a:ext cx="502920" cy="502920"/>
          </a:xfrm>
          <a:prstGeom prst="rect">
            <a:avLst/>
          </a:prstGeom>
        </p:spPr>
      </p:pic>
      <p:sp>
        <p:nvSpPr>
          <p:cNvPr id="9" name="Text 5"/>
          <p:cNvSpPr/>
          <p:nvPr/>
        </p:nvSpPr>
        <p:spPr>
          <a:xfrm>
            <a:off x="1463040" y="2423160"/>
            <a:ext cx="9966960" cy="12801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The math is the easy part. GameMaker demo: obj_bullet's Collision event gets one new line - obj_gamemanager.__dnd_score += 10 - right alongside the enemies_remaining change already there.</a:t>
            </a:r>
            <a:endParaRPr lang="en-US" sz="1400" dirty="0"/>
          </a:p>
        </p:txBody>
      </p:sp>
      <p:sp>
        <p:nvSpPr>
          <p:cNvPr id="10" name="Text 6"/>
          <p:cNvSpPr/>
          <p:nvPr/>
        </p:nvSpPr>
        <p:spPr>
          <a:xfrm>
            <a:off x="548640" y="4023360"/>
            <a:ext cx="10881360" cy="685800"/>
          </a:xfrm>
          <a:prstGeom prst="rect">
            <a:avLst/>
          </a:prstGeom>
          <a:noFill/>
          <a:ln/>
        </p:spPr>
        <p:txBody>
          <a:bodyPr wrap="square" lIns="0" tIns="0" rIns="0" bIns="0" rtlCol="0" anchor="ctr"/>
          <a:lstStyle/>
          <a:p>
            <a:pPr indent="0" marL="0">
              <a:buNone/>
            </a:pPr>
            <a:r>
              <a:rPr lang="en-US" sz="1400" i="1" dirty="0">
                <a:solidFill>
                  <a:srgbClr val="1C4A86"/>
                </a:solidFill>
                <a:latin typeface="Calibri" pitchFamily="34" charset="0"/>
                <a:ea typeface="Calibri" pitchFamily="34" charset="-122"/>
                <a:cs typeface="Calibri" pitchFamily="34" charset="-120"/>
              </a:rPr>
              <a:t>Showing it is the real work this week - a new kind of separation: game logic vs. display.</a:t>
            </a:r>
            <a:endParaRPr lang="en-US" sz="1400" dirty="0"/>
          </a:p>
        </p:txBody>
      </p:sp>
      <p:sp>
        <p:nvSpPr>
          <p:cNvPr id="11" name="Shape 7"/>
          <p:cNvSpPr/>
          <p:nvPr/>
        </p:nvSpPr>
        <p:spPr>
          <a:xfrm>
            <a:off x="548640" y="4800600"/>
            <a:ext cx="11064240" cy="914400"/>
          </a:xfrm>
          <a:prstGeom prst="roundRect">
            <a:avLst>
              <a:gd name="adj" fmla="val 12000"/>
            </a:avLst>
          </a:prstGeom>
          <a:solidFill>
            <a:srgbClr val="0F2C52"/>
          </a:solidFill>
          <a:ln w="12700">
            <a:solidFill>
              <a:srgbClr val="C99A2E"/>
            </a:solidFill>
            <a:prstDash val="solid"/>
          </a:ln>
        </p:spPr>
      </p:sp>
      <p:sp>
        <p:nvSpPr>
          <p:cNvPr id="12" name="Text 8"/>
          <p:cNvSpPr/>
          <p:nvPr/>
        </p:nvSpPr>
        <p:spPr>
          <a:xfrm>
            <a:off x="822960" y="4892040"/>
            <a:ext cx="10515600" cy="731520"/>
          </a:xfrm>
          <a:prstGeom prst="rect">
            <a:avLst/>
          </a:prstGeom>
          <a:noFill/>
          <a:ln/>
        </p:spPr>
        <p:txBody>
          <a:bodyPr wrap="square" lIns="0" tIns="0" rIns="0" bIns="0" rtlCol="0" anchor="ctr"/>
          <a:lstStyle/>
          <a:p>
            <a:pPr indent="0" marL="0">
              <a:buNone/>
            </a:pPr>
            <a:r>
              <a:rPr lang="en-US" sz="1300" i="1" dirty="0">
                <a:solidFill>
                  <a:srgbClr val="F4F0E6"/>
                </a:solidFill>
                <a:latin typeface="Calibri" pitchFamily="34" charset="0"/>
                <a:ea typeface="Calibri" pitchFamily="34" charset="-122"/>
                <a:cs typeface="Calibri" pitchFamily="34" charset="-120"/>
              </a:rPr>
              <a:t>Display lives in obj_gamemanager's Draw GUI event - the same event already drawing "You Win!" and "Game Over" since Lesson 6.</a:t>
            </a:r>
            <a:endParaRPr lang="en-US" sz="1300" dirty="0"/>
          </a:p>
        </p:txBody>
      </p:sp>
      <p:sp>
        <p:nvSpPr>
          <p:cNvPr id="14"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9</a:t>
            </a:r>
            <a:endParaRPr lang="en-US" sz="1000" dirty="0"/>
          </a:p>
        </p:txBody>
      </p:sp>
      <p:sp>
        <p:nvSpPr>
          <p:cNvPr id="16"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title_wrench.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Push vs. Poll</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Two valid ways to keep a display in sync.</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9</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87552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Two Ways to Stay in Sync</a:t>
            </a:r>
            <a:endParaRPr lang="en-US" sz="30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15 min</a:t>
            </a:r>
            <a:endParaRPr lang="en-US" sz="1200" dirty="0"/>
          </a:p>
        </p:txBody>
      </p:sp>
      <p:sp>
        <p:nvSpPr>
          <p:cNvPr id="6" name="Shape 3"/>
          <p:cNvSpPr/>
          <p:nvPr/>
        </p:nvSpPr>
        <p:spPr>
          <a:xfrm>
            <a:off x="548640" y="1371600"/>
            <a:ext cx="5394960" cy="1737360"/>
          </a:xfrm>
          <a:prstGeom prst="roundRect">
            <a:avLst>
              <a:gd name="adj" fmla="val 5263"/>
            </a:avLst>
          </a:prstGeom>
          <a:solidFill>
            <a:srgbClr val="EDF2F8"/>
          </a:solidFill>
          <a:ln w="12700">
            <a:solidFill>
              <a:srgbClr val="DCE3EC"/>
            </a:solidFill>
            <a:prstDash val="solid"/>
          </a:ln>
        </p:spPr>
      </p:sp>
      <p:sp>
        <p:nvSpPr>
          <p:cNvPr id="7" name="Text 4"/>
          <p:cNvSpPr/>
          <p:nvPr/>
        </p:nvSpPr>
        <p:spPr>
          <a:xfrm>
            <a:off x="777240" y="1554480"/>
            <a:ext cx="493776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PUSH</a:t>
            </a:r>
            <a:endParaRPr lang="en-US" sz="1600" dirty="0"/>
          </a:p>
        </p:txBody>
      </p:sp>
      <p:sp>
        <p:nvSpPr>
          <p:cNvPr id="8" name="Text 5"/>
          <p:cNvSpPr/>
          <p:nvPr/>
        </p:nvSpPr>
        <p:spPr>
          <a:xfrm>
            <a:off x="777240" y="1965960"/>
            <a:ext cx="4937760" cy="105156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Every time the data changes, call an update function to reflect it. Godot, GDevelop, Unreal, 001GC's real-time Field binding.</a:t>
            </a:r>
            <a:endParaRPr lang="en-US" sz="1250" dirty="0"/>
          </a:p>
        </p:txBody>
      </p:sp>
      <p:sp>
        <p:nvSpPr>
          <p:cNvPr id="9" name="Shape 6"/>
          <p:cNvSpPr/>
          <p:nvPr/>
        </p:nvSpPr>
        <p:spPr>
          <a:xfrm>
            <a:off x="6217920" y="1371600"/>
            <a:ext cx="5394960" cy="1737360"/>
          </a:xfrm>
          <a:prstGeom prst="roundRect">
            <a:avLst>
              <a:gd name="adj" fmla="val 5263"/>
            </a:avLst>
          </a:prstGeom>
          <a:solidFill>
            <a:srgbClr val="EDF2F8"/>
          </a:solidFill>
          <a:ln w="12700">
            <a:solidFill>
              <a:srgbClr val="DCE3EC"/>
            </a:solidFill>
            <a:prstDash val="solid"/>
          </a:ln>
        </p:spPr>
      </p:sp>
      <p:sp>
        <p:nvSpPr>
          <p:cNvPr id="10" name="Text 7"/>
          <p:cNvSpPr/>
          <p:nvPr/>
        </p:nvSpPr>
        <p:spPr>
          <a:xfrm>
            <a:off x="6446520" y="1554480"/>
            <a:ext cx="493776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POLL</a:t>
            </a:r>
            <a:endParaRPr lang="en-US" sz="1600" dirty="0"/>
          </a:p>
        </p:txBody>
      </p:sp>
      <p:sp>
        <p:nvSpPr>
          <p:cNvPr id="11" name="Text 8"/>
          <p:cNvSpPr/>
          <p:nvPr/>
        </p:nvSpPr>
        <p:spPr>
          <a:xfrm>
            <a:off x="6446520" y="1965960"/>
            <a:ext cx="4937760" cy="105156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Just re-check the data every single frame, no matter what. GameMaker's Draw GUI, TIC-80's print(), and this week's Unity HUD script.</a:t>
            </a:r>
            <a:endParaRPr lang="en-US" sz="1250" dirty="0"/>
          </a:p>
        </p:txBody>
      </p:sp>
      <p:sp>
        <p:nvSpPr>
          <p:cNvPr id="12" name="Text 9"/>
          <p:cNvSpPr/>
          <p:nvPr/>
        </p:nvSpPr>
        <p:spPr>
          <a:xfrm>
            <a:off x="548640" y="3291840"/>
            <a:ext cx="10881360" cy="68580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Neither is "more correct." Push means remembering to call the update everywhere data changes. Poll means never forgetting, at the cost of a little wasted work every frame.</a:t>
            </a:r>
            <a:endParaRPr lang="en-US" sz="1350" dirty="0"/>
          </a:p>
        </p:txBody>
      </p:sp>
      <p:sp>
        <p:nvSpPr>
          <p:cNvPr id="13" name="Shape 10"/>
          <p:cNvSpPr/>
          <p:nvPr/>
        </p:nvSpPr>
        <p:spPr>
          <a:xfrm>
            <a:off x="548640" y="4114800"/>
            <a:ext cx="11064240" cy="1691640"/>
          </a:xfrm>
          <a:prstGeom prst="roundRect">
            <a:avLst>
              <a:gd name="adj" fmla="val 6486"/>
            </a:avLst>
          </a:prstGeom>
          <a:solidFill>
            <a:srgbClr val="0F2C52"/>
          </a:solidFill>
          <a:ln w="12700">
            <a:solidFill>
              <a:srgbClr val="C99A2E"/>
            </a:solidFill>
            <a:prstDash val="solid"/>
          </a:ln>
        </p:spPr>
      </p:sp>
      <p:pic>
        <p:nvPicPr>
          <p:cNvPr id="14" name="Image 1" descr="icons/chat.png">    </p:cNvPr>
          <p:cNvPicPr>
            <a:picLocks noChangeAspect="1"/>
          </p:cNvPicPr>
          <p:nvPr/>
        </p:nvPicPr>
        <p:blipFill>
          <a:blip r:embed="rId2"/>
          <a:stretch>
            <a:fillRect/>
          </a:stretch>
        </p:blipFill>
        <p:spPr>
          <a:xfrm>
            <a:off x="777240" y="4315968"/>
            <a:ext cx="502920" cy="502920"/>
          </a:xfrm>
          <a:prstGeom prst="rect">
            <a:avLst/>
          </a:prstGeom>
        </p:spPr>
      </p:pic>
      <p:sp>
        <p:nvSpPr>
          <p:cNvPr id="15" name="Text 11"/>
          <p:cNvSpPr/>
          <p:nvPr/>
        </p:nvSpPr>
        <p:spPr>
          <a:xfrm>
            <a:off x="1463040" y="4224528"/>
            <a:ext cx="9966960" cy="1508760"/>
          </a:xfrm>
          <a:prstGeom prst="rect">
            <a:avLst/>
          </a:prstGeom>
          <a:noFill/>
          <a:ln/>
        </p:spPr>
        <p:txBody>
          <a:bodyPr wrap="square" lIns="0" tIns="0" rIns="0" bIns="0" rtlCol="0" anchor="ctr"/>
          <a:lstStyle/>
          <a:p>
            <a:pPr indent="0" marL="0">
              <a:buNone/>
            </a:pPr>
            <a:r>
              <a:rPr lang="en-US" sz="1300" i="1" dirty="0">
                <a:solidFill>
                  <a:srgbClr val="F4F0E6"/>
                </a:solidFill>
                <a:latin typeface="Calibri" pitchFamily="34" charset="0"/>
                <a:ea typeface="Calibri" pitchFamily="34" charset="-122"/>
                <a:cs typeface="Calibri" pitchFamily="34" charset="-120"/>
              </a:rPr>
              <a:t>Discussion: can you think of something in a game where checking every single frame would start to feel wasteful, if there were hundreds of things to check instead of two?</a:t>
            </a:r>
            <a:endParaRPr lang="en-US" sz="1300" dirty="0"/>
          </a:p>
        </p:txBody>
      </p:sp>
      <p:sp>
        <p:nvSpPr>
          <p:cNvPr id="17" name="Text 12"/>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3"/>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9</a:t>
            </a:r>
            <a:endParaRPr lang="en-US" sz="1000" dirty="0"/>
          </a:p>
        </p:txBody>
      </p:sp>
      <p:sp>
        <p:nvSpPr>
          <p:cNvPr id="19" name="Text 14"/>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title_producti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Today's Exercise &amp; Lab</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On the Scoreboard - score tracking and a real HUD.</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9</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On the Scoreboard</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Destroying an enemy adds 10 points. Score and lives are both visible on screen, all the time - built on top of your existing project.</a:t>
            </a:r>
            <a:endParaRPr lang="en-US" sz="1450" dirty="0"/>
          </a:p>
        </p:txBody>
      </p:sp>
      <p:sp>
        <p:nvSpPr>
          <p:cNvPr id="7" name="Shape 4"/>
          <p:cNvSpPr/>
          <p:nvPr/>
        </p:nvSpPr>
        <p:spPr>
          <a:xfrm>
            <a:off x="548640" y="2103120"/>
            <a:ext cx="3566160" cy="1920240"/>
          </a:xfrm>
          <a:prstGeom prst="roundRect">
            <a:avLst>
              <a:gd name="adj" fmla="val 4762"/>
            </a:avLst>
          </a:prstGeom>
          <a:solidFill>
            <a:srgbClr val="EDF2F8"/>
          </a:solidFill>
          <a:ln w="12700">
            <a:solidFill>
              <a:srgbClr val="DCE3EC"/>
            </a:solidFill>
            <a:prstDash val="solid"/>
          </a:ln>
        </p:spPr>
      </p:sp>
      <p:sp>
        <p:nvSpPr>
          <p:cNvPr id="8" name="Text 5"/>
          <p:cNvSpPr/>
          <p:nvPr/>
        </p:nvSpPr>
        <p:spPr>
          <a:xfrm>
            <a:off x="73152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1 - Minimal</a:t>
            </a:r>
            <a:endParaRPr lang="en-US" sz="1450" dirty="0"/>
          </a:p>
        </p:txBody>
      </p:sp>
      <p:sp>
        <p:nvSpPr>
          <p:cNvPr id="9" name="Text 6"/>
          <p:cNvSpPr/>
          <p:nvPr/>
        </p:nvSpPr>
        <p:spPr>
          <a:xfrm>
            <a:off x="73152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Score +10 per kill; score and lives both always visible on screen.</a:t>
            </a:r>
            <a:endParaRPr lang="en-US" sz="1200" dirty="0"/>
          </a:p>
        </p:txBody>
      </p:sp>
      <p:sp>
        <p:nvSpPr>
          <p:cNvPr id="10" name="Text 7"/>
          <p:cNvSpPr/>
          <p:nvPr/>
        </p:nvSpPr>
        <p:spPr>
          <a:xfrm>
            <a:off x="73152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MVP - a complete finish for today.</a:t>
            </a:r>
            <a:endParaRPr lang="en-US" sz="1150" dirty="0"/>
          </a:p>
        </p:txBody>
      </p:sp>
      <p:sp>
        <p:nvSpPr>
          <p:cNvPr id="11" name="Shape 8"/>
          <p:cNvSpPr/>
          <p:nvPr/>
        </p:nvSpPr>
        <p:spPr>
          <a:xfrm>
            <a:off x="4297680" y="2103120"/>
            <a:ext cx="3566160" cy="1920240"/>
          </a:xfrm>
          <a:prstGeom prst="roundRect">
            <a:avLst>
              <a:gd name="adj" fmla="val 4762"/>
            </a:avLst>
          </a:prstGeom>
          <a:solidFill>
            <a:srgbClr val="EDF2F8"/>
          </a:solidFill>
          <a:ln w="12700">
            <a:solidFill>
              <a:srgbClr val="DCE3EC"/>
            </a:solidFill>
            <a:prstDash val="solid"/>
          </a:ln>
        </p:spPr>
      </p:sp>
      <p:sp>
        <p:nvSpPr>
          <p:cNvPr id="12" name="Text 9"/>
          <p:cNvSpPr/>
          <p:nvPr/>
        </p:nvSpPr>
        <p:spPr>
          <a:xfrm>
            <a:off x="448056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2 - Complete</a:t>
            </a:r>
            <a:endParaRPr lang="en-US" sz="1450" dirty="0"/>
          </a:p>
        </p:txBody>
      </p:sp>
      <p:sp>
        <p:nvSpPr>
          <p:cNvPr id="13" name="Text 10"/>
          <p:cNvSpPr/>
          <p:nvPr/>
        </p:nvSpPr>
        <p:spPr>
          <a:xfrm>
            <a:off x="448056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Readouts never show a stale or wrong number - always match reality.</a:t>
            </a:r>
            <a:endParaRPr lang="en-US" sz="1200" dirty="0"/>
          </a:p>
        </p:txBody>
      </p:sp>
      <p:sp>
        <p:nvSpPr>
          <p:cNvPr id="14" name="Text 11"/>
          <p:cNvSpPr/>
          <p:nvPr/>
        </p:nvSpPr>
        <p:spPr>
          <a:xfrm>
            <a:off x="448056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Everything works end to end.</a:t>
            </a:r>
            <a:endParaRPr lang="en-US" sz="1150" dirty="0"/>
          </a:p>
        </p:txBody>
      </p:sp>
      <p:sp>
        <p:nvSpPr>
          <p:cNvPr id="15" name="Shape 12"/>
          <p:cNvSpPr/>
          <p:nvPr/>
        </p:nvSpPr>
        <p:spPr>
          <a:xfrm>
            <a:off x="8046720" y="2103120"/>
            <a:ext cx="3566160" cy="1920240"/>
          </a:xfrm>
          <a:prstGeom prst="roundRect">
            <a:avLst>
              <a:gd name="adj" fmla="val 4762"/>
            </a:avLst>
          </a:prstGeom>
          <a:solidFill>
            <a:srgbClr val="EDF2F8"/>
          </a:solidFill>
          <a:ln w="12700">
            <a:solidFill>
              <a:srgbClr val="DCE3EC"/>
            </a:solidFill>
            <a:prstDash val="solid"/>
          </a:ln>
        </p:spPr>
      </p:sp>
      <p:sp>
        <p:nvSpPr>
          <p:cNvPr id="16" name="Text 13"/>
          <p:cNvSpPr/>
          <p:nvPr/>
        </p:nvSpPr>
        <p:spPr>
          <a:xfrm>
            <a:off x="822960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3 - Refined</a:t>
            </a:r>
            <a:endParaRPr lang="en-US" sz="1450" dirty="0"/>
          </a:p>
        </p:txBody>
      </p:sp>
      <p:sp>
        <p:nvSpPr>
          <p:cNvPr id="17" name="Text 14"/>
          <p:cNvSpPr/>
          <p:nvPr/>
        </p:nvSpPr>
        <p:spPr>
          <a:xfrm>
            <a:off x="822960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Style the HUD, add scoring variety, tighten logic/display separation.</a:t>
            </a:r>
            <a:endParaRPr lang="en-US" sz="1200" dirty="0"/>
          </a:p>
        </p:txBody>
      </p:sp>
      <p:sp>
        <p:nvSpPr>
          <p:cNvPr id="18" name="Text 15"/>
          <p:cNvSpPr/>
          <p:nvPr/>
        </p:nvSpPr>
        <p:spPr>
          <a:xfrm>
            <a:off x="822960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Ready to share.</a:t>
            </a:r>
            <a:endParaRPr lang="en-US" sz="1150" dirty="0"/>
          </a:p>
        </p:txBody>
      </p:sp>
      <p:sp>
        <p:nvSpPr>
          <p:cNvPr id="19" name="Shape 16"/>
          <p:cNvSpPr/>
          <p:nvPr/>
        </p:nvSpPr>
        <p:spPr>
          <a:xfrm>
            <a:off x="548640" y="4297680"/>
            <a:ext cx="11064240" cy="1417320"/>
          </a:xfrm>
          <a:prstGeom prst="roundRect">
            <a:avLst>
              <a:gd name="adj" fmla="val 7742"/>
            </a:avLst>
          </a:prstGeom>
          <a:solidFill>
            <a:srgbClr val="0F2C52"/>
          </a:solidFill>
          <a:ln w="12700">
            <a:solidFill>
              <a:srgbClr val="C99A2E"/>
            </a:solidFill>
            <a:prstDash val="solid"/>
          </a:ln>
        </p:spPr>
      </p:sp>
      <p:pic>
        <p:nvPicPr>
          <p:cNvPr id="20" name="Image 1" descr="icons/wrench.png">    </p:cNvPr>
          <p:cNvPicPr>
            <a:picLocks noChangeAspect="1"/>
          </p:cNvPicPr>
          <p:nvPr/>
        </p:nvPicPr>
        <p:blipFill>
          <a:blip r:embed="rId2"/>
          <a:stretch>
            <a:fillRect/>
          </a:stretch>
        </p:blipFill>
        <p:spPr>
          <a:xfrm>
            <a:off x="777240" y="4498848"/>
            <a:ext cx="502920" cy="502920"/>
          </a:xfrm>
          <a:prstGeom prst="rect">
            <a:avLst/>
          </a:prstGeom>
        </p:spPr>
      </p:pic>
      <p:sp>
        <p:nvSpPr>
          <p:cNvPr id="21" name="Text 17"/>
          <p:cNvSpPr/>
          <p:nvPr/>
        </p:nvSpPr>
        <p:spPr>
          <a:xfrm>
            <a:off x="1463040" y="4407408"/>
            <a:ext cx="9966960" cy="1188720"/>
          </a:xfrm>
          <a:prstGeom prst="rect">
            <a:avLst/>
          </a:prstGeom>
          <a:noFill/>
          <a:ln/>
        </p:spPr>
        <p:txBody>
          <a:bodyPr wrap="square" lIns="0" tIns="0" rIns="0" bIns="0" rtlCol="0" anchor="ctr"/>
          <a:lstStyle/>
          <a:p>
            <a:pPr indent="0" marL="0">
              <a:buNone/>
            </a:pPr>
            <a:r>
              <a:rPr lang="en-US" sz="1250" dirty="0">
                <a:solidFill>
                  <a:srgbClr val="F4F0E6"/>
                </a:solidFill>
                <a:latin typeface="Calibri" pitchFamily="34" charset="0"/>
                <a:ea typeface="Calibri" pitchFamily="34" charset="-122"/>
                <a:cs typeface="Calibri" pitchFamily="34" charset="-120"/>
              </a:rPr>
              <a:t>Unity, Unreal, 001 Game Creator: today's setup is more involved than usual - genuinely new UI tools. Everyone else: your engine already had the right tool since Lesson 6.</a:t>
            </a:r>
            <a:endParaRPr lang="en-US" sz="1250" dirty="0"/>
          </a:p>
        </p:txBody>
      </p:sp>
      <p:sp>
        <p:nvSpPr>
          <p:cNvPr id="23" name="Text 1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4" name="Text 1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9</a:t>
            </a:r>
            <a:endParaRPr lang="en-US" sz="1000" dirty="0"/>
          </a:p>
        </p:txBody>
      </p:sp>
      <p:sp>
        <p:nvSpPr>
          <p:cNvPr id="25" name="Text 2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Lab Time Notes</a:t>
            </a:r>
            <a:endParaRPr lang="en-US" sz="3400" dirty="0"/>
          </a:p>
        </p:txBody>
      </p:sp>
      <p:pic>
        <p:nvPicPr>
          <p:cNvPr id="4" name="Image 1" descr="icons/wrench.png">    </p:cNvPr>
          <p:cNvPicPr>
            <a:picLocks noChangeAspect="1"/>
          </p:cNvPicPr>
          <p:nvPr/>
        </p:nvPicPr>
        <p:blipFill>
          <a:blip r:embed="rId2"/>
          <a:stretch>
            <a:fillRect/>
          </a:stretch>
        </p:blipFill>
        <p:spPr>
          <a:xfrm>
            <a:off x="10515600" y="365760"/>
            <a:ext cx="914400" cy="914400"/>
          </a:xfrm>
          <a:prstGeom prst="rect">
            <a:avLst/>
          </a:prstGeom>
        </p:spPr>
      </p:pic>
      <p:pic>
        <p:nvPicPr>
          <p:cNvPr id="5" name="Image 2" descr="icons/check.png">    </p:cNvPr>
          <p:cNvPicPr>
            <a:picLocks noChangeAspect="1"/>
          </p:cNvPicPr>
          <p:nvPr/>
        </p:nvPicPr>
        <p:blipFill>
          <a:blip r:embed="rId3"/>
          <a:stretch>
            <a:fillRect/>
          </a:stretch>
        </p:blipFill>
        <p:spPr>
          <a:xfrm>
            <a:off x="548640" y="1600200"/>
            <a:ext cx="384048" cy="384048"/>
          </a:xfrm>
          <a:prstGeom prst="rect">
            <a:avLst/>
          </a:prstGeom>
        </p:spPr>
      </p:pic>
      <p:sp>
        <p:nvSpPr>
          <p:cNvPr id="6" name="Text 1"/>
          <p:cNvSpPr/>
          <p:nvPr/>
        </p:nvSpPr>
        <p:spPr>
          <a:xfrm>
            <a:off x="1097280" y="146304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Unity, Unreal, and 001 Game Creator clusters need the most attention this week - budget extra circulation time, expect setup questions before logic questions.</a:t>
            </a:r>
            <a:endParaRPr lang="en-US" sz="1350" dirty="0"/>
          </a:p>
        </p:txBody>
      </p:sp>
      <p:pic>
        <p:nvPicPr>
          <p:cNvPr id="7" name="Image 3" descr="icons/check.png">    </p:cNvPr>
          <p:cNvPicPr>
            <a:picLocks noChangeAspect="1"/>
          </p:cNvPicPr>
          <p:nvPr/>
        </p:nvPicPr>
        <p:blipFill>
          <a:blip r:embed="rId4"/>
          <a:stretch>
            <a:fillRect/>
          </a:stretch>
        </p:blipFill>
        <p:spPr>
          <a:xfrm>
            <a:off x="548640" y="2651760"/>
            <a:ext cx="384048" cy="384048"/>
          </a:xfrm>
          <a:prstGeom prst="rect">
            <a:avLst/>
          </a:prstGeom>
        </p:spPr>
      </p:pic>
      <p:sp>
        <p:nvSpPr>
          <p:cNvPr id="8" name="Text 2"/>
          <p:cNvSpPr/>
          <p:nvPr/>
        </p:nvSpPr>
        <p:spPr>
          <a:xfrm>
            <a:off x="1097280" y="251460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001 Game Creator: forgetting to tick "Update Real-time" on a Field looks like a mystery bug, not an obviously missing setting - check this first.</a:t>
            </a:r>
            <a:endParaRPr lang="en-US" sz="1350" dirty="0"/>
          </a:p>
        </p:txBody>
      </p:sp>
      <p:pic>
        <p:nvPicPr>
          <p:cNvPr id="9" name="Image 4" descr="icons/check.png">    </p:cNvPr>
          <p:cNvPicPr>
            <a:picLocks noChangeAspect="1"/>
          </p:cNvPicPr>
          <p:nvPr/>
        </p:nvPicPr>
        <p:blipFill>
          <a:blip r:embed="rId5"/>
          <a:stretch>
            <a:fillRect/>
          </a:stretch>
        </p:blipFill>
        <p:spPr>
          <a:xfrm>
            <a:off x="548640" y="3703320"/>
            <a:ext cx="384048" cy="384048"/>
          </a:xfrm>
          <a:prstGeom prst="rect">
            <a:avLst/>
          </a:prstGeom>
        </p:spPr>
      </p:pic>
      <p:sp>
        <p:nvSpPr>
          <p:cNvPr id="10" name="Text 3"/>
          <p:cNvSpPr/>
          <p:nvPr/>
        </p:nvSpPr>
        <p:spPr>
          <a:xfrm>
            <a:off x="1097280" y="356616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Unity: NullReferenceException on Play almost always means a Text object wasn't dragged into the HUD script's Inspector fields.</a:t>
            </a:r>
            <a:endParaRPr lang="en-US" sz="1350" dirty="0"/>
          </a:p>
        </p:txBody>
      </p:sp>
      <p:pic>
        <p:nvPicPr>
          <p:cNvPr id="11" name="Image 5" descr="icons/check.png">    </p:cNvPr>
          <p:cNvPicPr>
            <a:picLocks noChangeAspect="1"/>
          </p:cNvPicPr>
          <p:nvPr/>
        </p:nvPicPr>
        <p:blipFill>
          <a:blip r:embed="rId6"/>
          <a:stretch>
            <a:fillRect/>
          </a:stretch>
        </p:blipFill>
        <p:spPr>
          <a:xfrm>
            <a:off x="548640" y="4754880"/>
            <a:ext cx="384048" cy="384048"/>
          </a:xfrm>
          <a:prstGeom prst="rect">
            <a:avLst/>
          </a:prstGeom>
        </p:spPr>
      </p:pic>
      <p:sp>
        <p:nvSpPr>
          <p:cNvPr id="12" name="Text 4"/>
          <p:cNvSpPr/>
          <p:nvPr/>
        </p:nvSpPr>
        <p:spPr>
          <a:xfrm>
            <a:off x="1097280" y="461772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A score readout stuck at 0 is almost always a missing/misplaced increment, not a display bug - confirm the underlying variable first.</a:t>
            </a:r>
            <a:endParaRPr lang="en-US" sz="1350" dirty="0"/>
          </a:p>
        </p:txBody>
      </p:sp>
      <p:sp>
        <p:nvSpPr>
          <p:cNvPr id="14" name="Text 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9</a:t>
            </a:r>
            <a:endParaRPr lang="en-US" sz="1000" dirty="0"/>
          </a:p>
        </p:txBody>
      </p:sp>
      <p:sp>
        <p:nvSpPr>
          <p:cNvPr id="16" name="Text 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title_with_slh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2240280"/>
            <a:ext cx="12191695" cy="731520"/>
          </a:xfrm>
          <a:prstGeom prst="rect">
            <a:avLst/>
          </a:prstGeom>
          <a:noFill/>
          <a:ln/>
        </p:spPr>
        <p:txBody>
          <a:bodyPr wrap="square" lIns="0" tIns="0" rIns="0" bIns="0" rtlCol="0" anchor="ctr"/>
          <a:lstStyle/>
          <a:p>
            <a:pPr algn="ctr" indent="0" marL="0">
              <a:buNone/>
            </a:pPr>
            <a:r>
              <a:rPr lang="en-US" sz="4000" b="1" dirty="0">
                <a:solidFill>
                  <a:srgbClr val="E8C25A"/>
                </a:solidFill>
                <a:latin typeface="Cambria" pitchFamily="34" charset="0"/>
                <a:ea typeface="Cambria" pitchFamily="34" charset="-122"/>
                <a:cs typeface="Cambria" pitchFamily="34" charset="-120"/>
              </a:rPr>
              <a:t>A Real Scoreboard!</a:t>
            </a:r>
            <a:endParaRPr lang="en-US" sz="4000" dirty="0"/>
          </a:p>
        </p:txBody>
      </p:sp>
      <p:sp>
        <p:nvSpPr>
          <p:cNvPr id="4" name="Text 1"/>
          <p:cNvSpPr/>
          <p:nvPr/>
        </p:nvSpPr>
        <p:spPr>
          <a:xfrm>
            <a:off x="1371600" y="3063240"/>
            <a:ext cx="9448495" cy="548640"/>
          </a:xfrm>
          <a:prstGeom prst="rect">
            <a:avLst/>
          </a:prstGeom>
          <a:noFill/>
          <a:ln/>
        </p:spPr>
        <p:txBody>
          <a:bodyPr wrap="square" lIns="0" tIns="0" rIns="0" bIns="0" rtlCol="0" anchor="ctr"/>
          <a:lstStyle/>
          <a:p>
            <a:pPr algn="ctr" indent="0" marL="0">
              <a:buNone/>
            </a:pPr>
            <a:r>
              <a:rPr lang="en-US" sz="1600" dirty="0">
                <a:solidFill>
                  <a:srgbClr val="F4F0E6"/>
                </a:solidFill>
                <a:latin typeface="Calibri" pitchFamily="34" charset="0"/>
                <a:ea typeface="Calibri" pitchFamily="34" charset="-122"/>
                <a:cs typeface="Calibri" pitchFamily="34" charset="-120"/>
              </a:rPr>
              <a:t>Score and lives, visible the whole time you play - a promise kept from Lesson 6.</a:t>
            </a:r>
            <a:endParaRPr lang="en-US" sz="1600" dirty="0"/>
          </a:p>
        </p:txBody>
      </p:sp>
      <p:sp>
        <p:nvSpPr>
          <p:cNvPr id="5" name="Text 2"/>
          <p:cNvSpPr/>
          <p:nvPr/>
        </p:nvSpPr>
        <p:spPr>
          <a:xfrm>
            <a:off x="1371600" y="3657600"/>
            <a:ext cx="9448495" cy="548640"/>
          </a:xfrm>
          <a:prstGeom prst="rect">
            <a:avLst/>
          </a:prstGeom>
          <a:noFill/>
          <a:ln/>
        </p:spPr>
        <p:txBody>
          <a:bodyPr wrap="square" lIns="0" tIns="0" rIns="0" bIns="0" rtlCol="0" anchor="ctr"/>
          <a:lstStyle/>
          <a:p>
            <a:pPr algn="ctr" indent="0" marL="0">
              <a:buNone/>
            </a:pPr>
            <a:r>
              <a:rPr lang="en-US" sz="1500" dirty="0">
                <a:solidFill>
                  <a:srgbClr val="F4F0E6"/>
                </a:solidFill>
                <a:latin typeface="Calibri" pitchFamily="34" charset="0"/>
                <a:ea typeface="Calibri" pitchFamily="34" charset="-122"/>
                <a:cs typeface="Calibri" pitchFamily="34" charset="-120"/>
              </a:rPr>
              <a:t>Next week: game-over and restart flow - finally closing the loop Lesson 8 opened.</a:t>
            </a:r>
            <a:endParaRPr lang="en-US" sz="1500" dirty="0"/>
          </a:p>
        </p:txBody>
      </p:sp>
      <p:sp>
        <p:nvSpPr>
          <p:cNvPr id="6" name="Text 3"/>
          <p:cNvSpPr/>
          <p:nvPr/>
        </p:nvSpPr>
        <p:spPr>
          <a:xfrm>
            <a:off x="1371600" y="4297680"/>
            <a:ext cx="9448495" cy="548640"/>
          </a:xfrm>
          <a:prstGeom prst="rect">
            <a:avLst/>
          </a:prstGeom>
          <a:noFill/>
          <a:ln/>
        </p:spPr>
        <p:txBody>
          <a:bodyPr wrap="square" lIns="0" tIns="0" rIns="0" bIns="0" rtlCol="0" anchor="ctr"/>
          <a:lstStyle/>
          <a:p>
            <a:pPr algn="ctr" indent="0" marL="0">
              <a:buNone/>
            </a:pPr>
            <a:r>
              <a:rPr lang="en-US" sz="1300" i="1" dirty="0">
                <a:solidFill>
                  <a:srgbClr val="9FB6D6"/>
                </a:solidFill>
                <a:latin typeface="Calibri" pitchFamily="34" charset="0"/>
                <a:ea typeface="Calibri" pitchFamily="34" charset="-122"/>
                <a:cs typeface="Calibri" pitchFamily="34" charset="-120"/>
              </a:rPr>
              <a:t>Try a Level 3 idea at home if you'd like - styling your HUD is a satisfying, visible one.</a:t>
            </a:r>
            <a:endParaRPr lang="en-US" sz="13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9</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2026-10-08T02:07:29Z</dcterms:created>
  <dcterms:modified xsi:type="dcterms:W3CDTF">2026-10-08T02:07:29Z</dcterms:modified>
</cp:coreProperties>
</file>