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"Welcome back! Your game moves, shoots, sounds good, and reacts to hits. Today, it starts to feel like a REAL arcade game - one that gets harder the longer you survive." "Some of you may remember a hint from Lesson 11's Teacher's Key, or a comment in the TIC-80 or Scratch materials, that hard-coding 5 enemies per wave was 'a deliberate simplification.' Today's the day that pays off."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"Here's the whole idea in one sentence: instead of always spawning 5 enemies, we spawn (4 + wave) enemies. Wave 1: still 5. Wave 2: 6. Wave 3: 7. One small formula, and your game already escalates." "The catch: that formula has to appear in TWO places that already exist in your code - wherever you spawn enemies, AND wherever enemies_remaining gets reset for a new wave. If those two disagree, your win-check breaks. This is exactly the kind of 'one source of truth' thinking we've been building since Lesson 10's reusable reset function." [Timing checkpoint: wrap by 0:15]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[Demo cue: switch to GameMaker, open a project with Lesson 13's flash and explosion working] "Count alone is a good start, but speed makes it feel dangerous. Watch: in spawn_enemies(), right after instance_create_layer() makes each enemy, I set inst.enemy_speed = 1 + (wave - 1) * 0.5. Wave 1 stays exactly the same. Wave 3 is noticeably faster." [Build it live, demonstrate wave 1 versus wave 3 side by side if time allows] "That new enemy_speed variable has to actually get used, so flip over to obj_enemy's Step event: it currently just says y += 1. Change that one line to y += enemy_speed, and suddenly the number we set at spawn time is doing real work every frame. Notice what did NOT change: the rest of the Step event, from Lesson 4. It already ran every frame - today we just made one of its numbers depend on the wave." "TIC-80 folks: your engine doesn't have a per-instance speed variable yet, since Lesson 7 only offered that as an OPTIONAL idea. Today it becomes required - you're adding it for real, if you haven't already." [Timing checkpoint: wrap by 0:35]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"Level 3 works differently this week. Instead of 2-3 small stretch ideas, you're choosing ONE feature from a list of five real capstone-level ideas: destructible shields, a power-up, a bonus enemy, formation movement, or a title/game-over screen." "These are open-ended on purpose. A good-faith attempt at the general idea - even if it's rough - is a complete Level 3 finish today. Don't feel like you need to polish it. Pick whichever one sounds the most fun to YOU." [Timing checkpoint: wrap by 0:45]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"For lab today, open your own project from last week - not a new one. No new assets needed, except 001 Game Creator folks, who are adding two more pre-placed enemy copies in the Map editor first." [Hand out engine-specific handouts] "Level 1 and 2 today, then pick your Level 3 feature. Test a full 3-wave round when you're done, and confirm restarting brings everything back to wave 1's original feel." "Questions before we start lab? ... Let's raise the stakes."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2.png"/><Relationship Id="rId5" Type="http://schemas.openxmlformats.org/officeDocument/2006/relationships/image" Target="../media/image-2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2.png"/><Relationship Id="rId4" Type="http://schemas.openxmlformats.org/officeDocument/2006/relationships/image" Target="../media/image-11-2.png"/><Relationship Id="rId5" Type="http://schemas.openxmlformats.org/officeDocument/2006/relationships/image" Target="../media/image-11-2.png"/><Relationship Id="rId6" Type="http://schemas.openxmlformats.org/officeDocument/2006/relationships/image" Target="../media/image-11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3.png"/><Relationship Id="rId5" Type="http://schemas.openxmlformats.org/officeDocument/2006/relationships/image" Target="../media/image-14-3.png"/><Relationship Id="rId6" Type="http://schemas.openxmlformats.org/officeDocument/2006/relationships/image" Target="../media/image-14-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with_vg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029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O U T H   L A K E   H O M E   E D U C A T O R 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3383280"/>
            <a:ext cx="12191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14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914400" y="41148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the Stakes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0" y="48920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Semester 1, Week 14  -  Difficulty Scaling &amp; Stretch Features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a Glance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 objectives &amp; materials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48640" y="15087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today, students will:</a:t>
            </a:r>
            <a:endParaRPr lang="en-US" sz="1600" dirty="0"/>
          </a:p>
        </p:txBody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384048" cy="3840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938528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hardcoded numbers with wave-dependent formulas</a:t>
            </a:r>
            <a:endParaRPr lang="en-US" sz="1450" dirty="0"/>
          </a:p>
        </p:txBody>
      </p:sp>
      <p:pic>
        <p:nvPicPr>
          <p:cNvPr id="8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32888"/>
            <a:ext cx="384048" cy="38404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250545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every referenced value in agreement, everywhere</a:t>
            </a:r>
            <a:endParaRPr lang="en-US" sz="1450" dirty="0"/>
          </a:p>
        </p:txBody>
      </p:sp>
      <p:pic>
        <p:nvPicPr>
          <p:cNvPr id="10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099816"/>
            <a:ext cx="384048" cy="38404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3072384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both enemy count AND enemy speed by wave</a:t>
            </a:r>
            <a:endParaRPr lang="en-US" sz="1450" dirty="0"/>
          </a:p>
        </p:txBody>
      </p:sp>
      <p:pic>
        <p:nvPicPr>
          <p:cNvPr id="12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666744"/>
            <a:ext cx="384048" cy="384048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3639312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and attempt one capstone-level stretch feature</a:t>
            </a:r>
            <a:endParaRPr lang="en-US" sz="1450" dirty="0"/>
          </a:p>
        </p:txBody>
      </p:sp>
      <p:sp>
        <p:nvSpPr>
          <p:cNvPr id="14" name="Shape 7"/>
          <p:cNvSpPr/>
          <p:nvPr/>
        </p:nvSpPr>
        <p:spPr>
          <a:xfrm>
            <a:off x="6949440" y="1508760"/>
            <a:ext cx="4709160" cy="4206240"/>
          </a:xfrm>
          <a:prstGeom prst="roundRect">
            <a:avLst>
              <a:gd name="adj" fmla="val 2609"/>
            </a:avLst>
          </a:prstGeom>
          <a:solidFill>
            <a:srgbClr val="EDF2F8"/>
          </a:solidFill>
          <a:ln/>
        </p:spPr>
      </p:sp>
      <p:sp>
        <p:nvSpPr>
          <p:cNvPr id="15" name="Text 8"/>
          <p:cNvSpPr/>
          <p:nvPr/>
        </p:nvSpPr>
        <p:spPr>
          <a:xfrm>
            <a:off x="7223760" y="1691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Using Today</a:t>
            </a:r>
            <a:endParaRPr lang="en-US" sz="1500" dirty="0"/>
          </a:p>
        </p:txBody>
      </p:sp>
      <p:sp>
        <p:nvSpPr>
          <p:cNvPr id="16" name="Text 9"/>
          <p:cNvSpPr/>
          <p:nvPr/>
        </p:nvSpPr>
        <p:spPr>
          <a:xfrm>
            <a:off x="7223760" y="214884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7498080" y="214884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laptop with all 8 engines verified</a:t>
            </a:r>
            <a:endParaRPr lang="en-US" sz="1250" dirty="0"/>
          </a:p>
        </p:txBody>
      </p:sp>
      <p:sp>
        <p:nvSpPr>
          <p:cNvPr id="18" name="Text 11"/>
          <p:cNvSpPr/>
          <p:nvPr/>
        </p:nvSpPr>
        <p:spPr>
          <a:xfrm>
            <a:off x="7223760" y="2807208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7498080" y="280720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GameMaker, for the live lecture demo</a:t>
            </a:r>
            <a:endParaRPr lang="en-US" sz="1250" dirty="0"/>
          </a:p>
        </p:txBody>
      </p:sp>
      <p:sp>
        <p:nvSpPr>
          <p:cNvPr id="20" name="Text 13"/>
          <p:cNvSpPr/>
          <p:nvPr/>
        </p:nvSpPr>
        <p:spPr>
          <a:xfrm>
            <a:off x="7223760" y="3465576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21" name="Text 14"/>
          <p:cNvSpPr/>
          <p:nvPr/>
        </p:nvSpPr>
        <p:spPr>
          <a:xfrm>
            <a:off x="7498080" y="3465576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assets - reuses existing enemies/spawn logic</a:t>
            </a:r>
            <a:endParaRPr lang="en-US" sz="1250" dirty="0"/>
          </a:p>
        </p:txBody>
      </p:sp>
      <p:sp>
        <p:nvSpPr>
          <p:cNvPr id="22" name="Text 15"/>
          <p:cNvSpPr/>
          <p:nvPr/>
        </p:nvSpPr>
        <p:spPr>
          <a:xfrm>
            <a:off x="7223760" y="4123944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7498080" y="4123944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001GC: 2 new pre-placed enemy copies (design time)</a:t>
            </a:r>
            <a:endParaRPr lang="en-US" sz="1250" dirty="0"/>
          </a:p>
        </p:txBody>
      </p:sp>
      <p:sp>
        <p:nvSpPr>
          <p:cNvPr id="24" name="Text 17"/>
          <p:cNvSpPr/>
          <p:nvPr/>
        </p:nvSpPr>
        <p:spPr>
          <a:xfrm>
            <a:off x="7223760" y="4782312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7498080" y="4782312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[YourName]Game project from Lesson 13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IGDA framework tie-in:  Game Design - balance, pacing, difficulty curves (intermediate); Programming - parameterization (intermediate).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</a:t>
            </a:r>
            <a:endParaRPr lang="en-US" sz="3800" dirty="0"/>
          </a:p>
        </p:txBody>
      </p:sp>
      <p:pic>
        <p:nvPicPr>
          <p:cNvPr id="4" name="Image 1" descr="icons/desig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822960" cy="8229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28016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822960" y="128016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0:00 - 0:05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3017520" y="128016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back, Lesson 13 recap</a:t>
            </a:r>
            <a:endParaRPr lang="en-US" sz="1230" dirty="0"/>
          </a:p>
        </p:txBody>
      </p:sp>
      <p:sp>
        <p:nvSpPr>
          <p:cNvPr id="8" name="Shape 4"/>
          <p:cNvSpPr/>
          <p:nvPr/>
        </p:nvSpPr>
        <p:spPr>
          <a:xfrm>
            <a:off x="548640" y="188366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2960" y="188366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0:05 - 0:15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3017520" y="1883664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Foreshadowed Feature: One Formula, Two Places</a:t>
            </a:r>
            <a:endParaRPr lang="en-US" sz="1230" dirty="0"/>
          </a:p>
        </p:txBody>
      </p:sp>
      <p:sp>
        <p:nvSpPr>
          <p:cNvPr id="11" name="Shape 7"/>
          <p:cNvSpPr/>
          <p:nvPr/>
        </p:nvSpPr>
        <p:spPr>
          <a:xfrm>
            <a:off x="548640" y="2487168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248716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0:15 - 0:35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017520" y="248716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Speed to the Mix</a:t>
            </a:r>
            <a:endParaRPr lang="en-US" sz="1230" dirty="0"/>
          </a:p>
        </p:txBody>
      </p:sp>
      <p:sp>
        <p:nvSpPr>
          <p:cNvPr id="14" name="Shape 10"/>
          <p:cNvSpPr/>
          <p:nvPr/>
        </p:nvSpPr>
        <p:spPr>
          <a:xfrm>
            <a:off x="548640" y="3090672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3090672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0:35 - 0:45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017520" y="3090672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Twist: Student's Choice</a:t>
            </a:r>
            <a:endParaRPr lang="en-US" sz="1230" dirty="0"/>
          </a:p>
        </p:txBody>
      </p:sp>
      <p:sp>
        <p:nvSpPr>
          <p:cNvPr id="17" name="Shape 13"/>
          <p:cNvSpPr/>
          <p:nvPr/>
        </p:nvSpPr>
        <p:spPr>
          <a:xfrm>
            <a:off x="548640" y="3694176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2960" y="36941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0:45 - 0:55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3017520" y="3694176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lab exercise, hand out engine-specific handouts</a:t>
            </a:r>
            <a:endParaRPr lang="en-US" sz="1230" dirty="0"/>
          </a:p>
        </p:txBody>
      </p:sp>
      <p:sp>
        <p:nvSpPr>
          <p:cNvPr id="20" name="Shape 16"/>
          <p:cNvSpPr/>
          <p:nvPr/>
        </p:nvSpPr>
        <p:spPr>
          <a:xfrm>
            <a:off x="548640" y="4297680"/>
            <a:ext cx="11064240" cy="420624"/>
          </a:xfrm>
          <a:prstGeom prst="roundRect">
            <a:avLst>
              <a:gd name="adj" fmla="val 17391"/>
            </a:avLst>
          </a:prstGeom>
          <a:solidFill>
            <a:srgbClr val="C99A2E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22960" y="429768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TIME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017520" y="4297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Raising the Stakes —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548640" y="480974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2960" y="480974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0:55 - 1:50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3017520" y="4809744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count and speed, then pick one stretch feature</a:t>
            </a:r>
            <a:endParaRPr lang="en-US" sz="1230" dirty="0"/>
          </a:p>
        </p:txBody>
      </p:sp>
      <p:sp>
        <p:nvSpPr>
          <p:cNvPr id="26" name="Shape 22"/>
          <p:cNvSpPr/>
          <p:nvPr/>
        </p:nvSpPr>
        <p:spPr>
          <a:xfrm>
            <a:off x="548640" y="5413248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22960" y="541324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1:50 - 2:00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3017520" y="541324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check: toughest wave 3 wins bragging rights</a:t>
            </a:r>
            <a:endParaRPr lang="en-US" sz="1230" dirty="0"/>
          </a:p>
        </p:txBody>
      </p:sp>
      <p:sp>
        <p:nvSpPr>
          <p:cNvPr id="29" name="Text 25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34640" y="23774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Back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288036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your game starts fighting back.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880360" y="39776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880360" y="39776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Back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0424160" y="45720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4F0E6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24160" y="4572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 of Lesson 13:</a:t>
            </a:r>
            <a:endParaRPr lang="en-US" sz="1600" dirty="0"/>
          </a:p>
        </p:txBody>
      </p:sp>
      <p:pic>
        <p:nvPicPr>
          <p:cNvPr id="7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51560" y="175564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hit finally looks like getting hit - flash, then explosion</a:t>
            </a:r>
            <a:endParaRPr lang="en-US" sz="1500" dirty="0"/>
          </a:p>
        </p:txBody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06040"/>
            <a:ext cx="365760" cy="36576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253288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11's Key deliberately called 5-per-wave a "simplification"</a:t>
            </a:r>
            <a:endParaRPr lang="en-US" sz="1500" dirty="0"/>
          </a:p>
        </p:txBody>
      </p:sp>
      <p:pic>
        <p:nvPicPr>
          <p:cNvPr id="11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83280"/>
            <a:ext cx="365760" cy="36576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51560" y="33101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the payoff: count AND speed both scale with wave</a:t>
            </a:r>
            <a:endParaRPr lang="en-US" sz="1500" dirty="0"/>
          </a:p>
        </p:txBody>
      </p:sp>
      <p:sp>
        <p:nvSpPr>
          <p:cNvPr id="13" name="Shape 7"/>
          <p:cNvSpPr/>
          <p:nvPr/>
        </p:nvSpPr>
        <p:spPr>
          <a:xfrm>
            <a:off x="548640" y="434340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DF2F8"/>
          </a:solidFill>
          <a:ln/>
        </p:spPr>
      </p:sp>
      <p:pic>
        <p:nvPicPr>
          <p:cNvPr id="14" name="Image 4" descr="icons/desig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572000"/>
            <a:ext cx="548640" cy="54864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508760" y="452628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own project from last week today, not a new one. No new assets needed - 001 Game Creator students add two more pre-placed enemy copies first (see your Handout).</a:t>
            </a:r>
            <a:endParaRPr lang="en-US" sz="1400" dirty="0"/>
          </a:p>
        </p:txBody>
      </p:sp>
      <p:sp>
        <p:nvSpPr>
          <p:cNvPr id="17" name="Text 9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18" name="Text 10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1000" dirty="0"/>
          </a:p>
        </p:txBody>
      </p:sp>
      <p:sp>
        <p:nvSpPr>
          <p:cNvPr id="19" name="Text 11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desi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34640" y="23774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Formula, Two Places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288036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 for a simplification flagged weeks ago.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880360" y="39776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880360" y="39776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Formula, Two Places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10424160" y="45720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4F0E6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24160" y="4572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EDF2F8"/>
          </a:solidFill>
          <a:ln/>
        </p:spPr>
      </p:sp>
      <p:pic>
        <p:nvPicPr>
          <p:cNvPr id="7" name="Image 1" descr="icons/desig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08760"/>
            <a:ext cx="9966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always spawning 5 enemies, spawn (4 + wave). Wave 1: still 5. Wave 2: 6. Wave 3: 7. One small formula, and the game already escalates.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548640" y="306324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22960" y="32461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catch: that formula has to appear in TWO places - wherever enemies spawn, AND wherever enemies_remaining resets for a new wave. If they disagree, the win-check breaks.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of truth, referenced everywhere - the same discipline behind Lesson 10's reusable reset function.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programm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34640" y="23774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Speed to the Mix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288036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is a start. Speed makes it dangerous.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880360" y="39776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880360" y="39776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Speed to the Mix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10424160" y="45720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4F0E6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24160" y="4572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alone is a good start, but speed makes it feel dangerous.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EDF2F8"/>
          </a:solidFill>
          <a:ln/>
        </p:spPr>
      </p:sp>
      <p:pic>
        <p:nvPicPr>
          <p:cNvPr id="8" name="Image 1" descr="icons/programm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4028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148840"/>
            <a:ext cx="9966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GameMaker demo: in spawn_enemies(), right after creating each enemy instance, set inst.enemy_speed = 1 + (wave - 1) * 0.5. Wave 1 stays the same; wave 3 is noticeably faster.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48640" y="37490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22960" y="39319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new enemy_speed variable has to actually get used: obj_enemy's Step event currently just says y += 1, so change that one line to y += enemy_speed. Notice what did NOT change: the rest of the Step event, from Lesson 4 - it already ran every frame, today we just made one number depend on the wave.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wre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34640" y="23774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Student's Choice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288036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ONE. Good-faith effort is a complete finish.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880360" y="39776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880360" y="39776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Week's Twist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0424160" y="45720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4F0E6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24160" y="4572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 works differently this week: pick ONE of five real capstone-level ideas.</a:t>
            </a:r>
            <a:endParaRPr lang="en-US" sz="1500" dirty="0"/>
          </a:p>
        </p:txBody>
      </p:sp>
      <p:pic>
        <p:nvPicPr>
          <p:cNvPr id="7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80160" y="19659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Destructible shields</a:t>
            </a:r>
            <a:endParaRPr lang="en-US" sz="1500" dirty="0"/>
          </a:p>
        </p:txBody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011680"/>
            <a:ext cx="365760" cy="36576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766560" y="19659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power-up</a:t>
            </a:r>
            <a:endParaRPr lang="en-US" sz="1500" dirty="0"/>
          </a:p>
        </p:txBody>
      </p:sp>
      <p:pic>
        <p:nvPicPr>
          <p:cNvPr id="11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697480"/>
            <a:ext cx="365760" cy="36576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80160" y="26517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bonus enemy</a:t>
            </a:r>
            <a:endParaRPr lang="en-US" sz="1500" dirty="0"/>
          </a:p>
        </p:txBody>
      </p:sp>
      <p:pic>
        <p:nvPicPr>
          <p:cNvPr id="13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697480"/>
            <a:ext cx="365760" cy="36576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6766560" y="26517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movement</a:t>
            </a:r>
            <a:endParaRPr lang="en-US" sz="1500" dirty="0"/>
          </a:p>
        </p:txBody>
      </p:sp>
      <p:pic>
        <p:nvPicPr>
          <p:cNvPr id="15" name="Image 5" descr="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3383280"/>
            <a:ext cx="365760" cy="36576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280160" y="33375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/ game-over screen</a:t>
            </a:r>
            <a:endParaRPr lang="en-US" sz="1500" dirty="0"/>
          </a:p>
        </p:txBody>
      </p:sp>
      <p:sp>
        <p:nvSpPr>
          <p:cNvPr id="17" name="Shape 9"/>
          <p:cNvSpPr/>
          <p:nvPr/>
        </p:nvSpPr>
        <p:spPr>
          <a:xfrm>
            <a:off x="548640" y="457200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18" name="Text 10"/>
          <p:cNvSpPr/>
          <p:nvPr/>
        </p:nvSpPr>
        <p:spPr>
          <a:xfrm>
            <a:off x="822960" y="47548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open-ended on purpose. A good-faith attempt at the general idea - even if rough - is a complete Level 3 finish today. Pick whichever sounds the most fun to YOU.</a:t>
            </a:r>
            <a:endParaRPr lang="en-US" sz="1350" dirty="0"/>
          </a:p>
        </p:txBody>
      </p:sp>
      <p:sp>
        <p:nvSpPr>
          <p:cNvPr id="20" name="Text 11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21" name="Text 12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1000" dirty="0"/>
          </a:p>
        </p:txBody>
      </p:sp>
      <p:sp>
        <p:nvSpPr>
          <p:cNvPr id="22" name="Text 13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prod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34640" y="23774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Exercise &amp; Lab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288036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the Stakes - scale it, then choose your own.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880360" y="39776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880360" y="39776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Raising the Stakes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0424160" y="45720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4F0E6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24160" y="4572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enemy count and speed by wave, then pick one stretch feature - built on top of your existing project.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EDF2F8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2240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1 - Minimal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31520" y="26517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Enemy count increases by one each wave (5, 6, 7).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566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- a complete finish for today.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297680" y="210312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EDF2F8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80560" y="2240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2 - Complete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480560" y="26517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ALSO scales; restart returns to wave 1's values.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480560" y="3566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works end to end.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046720" y="210312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EDF2F8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0" y="2240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3 - Refined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229600" y="26517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 stretch feature; a good-faith attempt.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229600" y="3566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share.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8640" y="429768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pic>
        <p:nvPicPr>
          <p:cNvPr id="20" name="Image 1" descr="icons/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498848"/>
            <a:ext cx="502920" cy="5029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63040" y="44074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full 3-wave round when you're done, and confirm restarting brings everything back to wave 1's original feel.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Time Notes</a:t>
            </a:r>
            <a:endParaRPr lang="en-US" sz="3400" dirty="0"/>
          </a:p>
        </p:txBody>
      </p:sp>
      <p:pic>
        <p:nvPicPr>
          <p:cNvPr id="4" name="Image 1" descr="icons/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14400" cy="914400"/>
          </a:xfrm>
          <a:prstGeom prst="rect">
            <a:avLst/>
          </a:prstGeom>
        </p:spPr>
      </p:pic>
      <p:pic>
        <p:nvPicPr>
          <p:cNvPr id="5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384048" cy="38404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97280" y="14630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 the spawn-count formula updated in one place but not the enemies_remaining reset in the other - an easy one to half-do.</a:t>
            </a:r>
            <a:endParaRPr lang="en-US" sz="1350" dirty="0"/>
          </a:p>
        </p:txBody>
      </p:sp>
      <p:pic>
        <p:nvPicPr>
          <p:cNvPr id="7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51760"/>
            <a:ext cx="384048" cy="384048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097280" y="25146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001 Game Creator students need extra time up front to correctly add and name enemy_6/enemy_7 before any scripting begins.</a:t>
            </a:r>
            <a:endParaRPr lang="en-US" sz="1350" dirty="0"/>
          </a:p>
        </p:txBody>
      </p:sp>
      <p:pic>
        <p:nvPicPr>
          <p:cNvPr id="9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703320"/>
            <a:ext cx="384048" cy="384048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1097280" y="3566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cluster's wave 3 feels impossible rather than exciting, help them dial back their difficulty increments rather than pushing through.</a:t>
            </a:r>
            <a:endParaRPr lang="en-US" sz="1350" dirty="0"/>
          </a:p>
        </p:txBody>
      </p:sp>
      <p:pic>
        <p:nvPicPr>
          <p:cNvPr id="11" name="Image 5" descr="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754880"/>
            <a:ext cx="384048" cy="384048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1097280" y="46177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 is open-ended this week - help students scope their chosen feature down to something achievable in the remaining time.</a:t>
            </a:r>
            <a:endParaRPr lang="en-US" sz="1350" dirty="0"/>
          </a:p>
        </p:txBody>
      </p:sp>
      <p:sp>
        <p:nvSpPr>
          <p:cNvPr id="13" name="Text 5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14" name="Text 6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1000" dirty="0"/>
          </a:p>
        </p:txBody>
      </p:sp>
      <p:sp>
        <p:nvSpPr>
          <p:cNvPr id="15" name="Text 7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with_slh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24028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Stakes Are Raised!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1371600" y="306324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enemies, faster enemies, and a feature that's all your own.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1371600" y="365760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a final polish pass, and the Semester 1 Capstone presentation.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371600" y="429768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tuning your difficulty curve at home if you'd like - and keep building on your Level 3 feature if you're excited about it.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2026-10-25T17:15:36Z</dcterms:created>
  <dcterms:modified xsi:type="dcterms:W3CDTF">2026-10-25T17:15:36Z</dcterms:modified>
</cp:coreProperties>
</file>