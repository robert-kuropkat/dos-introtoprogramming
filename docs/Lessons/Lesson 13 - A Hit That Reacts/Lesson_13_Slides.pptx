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back! Last week your game got its voice. This week, it gets a body - a hit is about to actually LOOK like a hit, not just sound like one." "Since Lesson 4, an enemy you shoot has just... vanished. Functional, but not satisfying. Today we fix that: a brief flash, then a small explosion, before it disappears." [Timing checkpoint: wrap by 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are happening today, and they're different kinds of things. First: the enemy itself briefly flashes - a reaction ON the thing that got hit. Second: a completely separate explosion effect appears at that spot and plays itself out - independent of the enemy entirely." "Here's the rule for today, and it's important: your score, your lives, your wave counter, your win and lose logic - none of that changes WHEN it happens. Only how the enemy's removal LOOKS is changing. If you find yourself moving scoring code around, stop and re-check the Handout." [Timing checkpoint: wrap by 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cue: switch to Scratch, open a project with Lesson 12's four sounds working] "Here's the actual challenge this week: to see a flash, the enemy has to stick around for a fraction of a second AFTER being hit, before it's actually removed. That means something in our code needs to pause - just for a moment - without freezing the whole game." "Scratch actually has the simplest answer of any engine in this class: a plain 'wait' block. Watch - right in the Enemy's touching-Bullet branch, after scoring and the sound, I set the color effect to flash it white, then just drop in 'wait 0.1 seconds', then move the existing win-check and delete-this-clone below that wait." [Build it live, demonstrate the flash-then-disappear on a hit] "Everything below that wait block just... happens a moment later. No special keyword needed - Scratch was built from the ground up to run every sprite's scripts side by side, so pausing one of them was never a hard problem to solve." "Godot and Unity get the same result with a bit more ceremony - GDScript's await keyword and C#'s Coroutines both pause a script mid-line, the same idea as Scratch's wait, just spelled with more setup. But GameMaker and TIC-80 CAN'T do this at all - their code can't pause mid-script, full stop. So they solve it differently: GameMaker sets an Alarm and finishes the job in a second event, a fraction of a second later. TIC-80 does the Lua version of the same trick with a countdown variable. Four engines, two genuinely different families of solution to the same problem - and that's worth understanding, not just copying." [Timing checkpoint: wrap by 0:40]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easier half: the explosion effect. It spawns at the hit location and IMMEDIATELY forgets about everything else - it doesn't know your score, doesn't know your wave, doesn't even know which enemy made it. It just plays itself out and cleans itself up, on its own." "This should feel familiar - it's the exact same discipline your bullets have followed since Lesson 3, and your enemies since Lesson 5. Every object in this game is responsible for exactly one job, and cleans up after itself. Today's explosion is just the newest member of that club." [Timing checkpoint: wrap by 0:50]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lab today, open your own project from last week - not a new one. One new asset is provided: a small explosion image. Unreal folks, you're using your existing Cube/Sphere shapes instead; TIC-80 folks, you're drawing your own tiny explosion sprite." [Hand out engine-specific handouts] "Test a FULL round when you're done - shooting, a wave clear, even a loss - and confirm nothing about your SCORING changed, only the visuals. That's today's real Level 2 check." "Questions before we start lab? ... Let's make getting hit feel like something."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2.png"/><Relationship Id="rId4" Type="http://schemas.openxmlformats.org/officeDocument/2006/relationships/image" Target="../media/image-2-2.png"/><Relationship Id="rId5" Type="http://schemas.openxmlformats.org/officeDocument/2006/relationships/image" Target="../media/image-2-2.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2.png"/><Relationship Id="rId4" Type="http://schemas.openxmlformats.org/officeDocument/2006/relationships/image" Target="../media/image-5-2.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3.png"/><Relationship Id="rId5" Type="http://schemas.openxmlformats.org/officeDocument/2006/relationships/image" Target="../media/image-14-3.png"/><Relationship Id="rId6" Type="http://schemas.openxmlformats.org/officeDocument/2006/relationships/image" Target="../media/image-14-3.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bg_title_with_vgc.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0" y="502920"/>
            <a:ext cx="12191695" cy="320040"/>
          </a:xfrm>
          <a:prstGeom prst="rect">
            <a:avLst/>
          </a:prstGeom>
          <a:noFill/>
          <a:ln/>
        </p:spPr>
        <p:txBody>
          <a:bodyPr wrap="square" lIns="0" tIns="0" rIns="0" bIns="0" rtlCol="0" anchor="ctr"/>
          <a:lstStyle/>
          <a:p>
            <a:pPr algn="ctr" indent="0" marL="0">
              <a:buNone/>
            </a:pPr>
            <a:r>
              <a:rPr lang="en-US" sz="1300" spc="100" kern="0" dirty="0">
                <a:solidFill>
                  <a:srgbClr val="E8C25A"/>
                </a:solidFill>
                <a:latin typeface="Calibri" pitchFamily="34" charset="0"/>
                <a:ea typeface="Calibri" pitchFamily="34" charset="-122"/>
                <a:cs typeface="Calibri" pitchFamily="34" charset="-120"/>
              </a:rPr>
              <a:t>S O U T H   L A K E   H O M E   E D U C A T O R S</a:t>
            </a:r>
            <a:endParaRPr lang="en-US" sz="1300" dirty="0"/>
          </a:p>
        </p:txBody>
      </p:sp>
      <p:sp>
        <p:nvSpPr>
          <p:cNvPr id="4" name="Text 1"/>
          <p:cNvSpPr/>
          <p:nvPr/>
        </p:nvSpPr>
        <p:spPr>
          <a:xfrm>
            <a:off x="0" y="3383280"/>
            <a:ext cx="12191695" cy="685800"/>
          </a:xfrm>
          <a:prstGeom prst="rect">
            <a:avLst/>
          </a:prstGeom>
          <a:noFill/>
          <a:ln/>
        </p:spPr>
        <p:txBody>
          <a:bodyPr wrap="square" lIns="0" tIns="0" rIns="0" bIns="0" rtlCol="0" anchor="ctr"/>
          <a:lstStyle/>
          <a:p>
            <a:pPr algn="ctr" indent="0" marL="0">
              <a:buNone/>
            </a:pPr>
            <a:r>
              <a:rPr lang="en-US" sz="4400" b="1" dirty="0">
                <a:solidFill>
                  <a:srgbClr val="E8C25A"/>
                </a:solidFill>
                <a:latin typeface="Cambria" pitchFamily="34" charset="0"/>
                <a:ea typeface="Cambria" pitchFamily="34" charset="-122"/>
                <a:cs typeface="Cambria" pitchFamily="34" charset="-120"/>
              </a:rPr>
              <a:t>Lesson 13</a:t>
            </a:r>
            <a:endParaRPr lang="en-US" sz="4400" dirty="0"/>
          </a:p>
        </p:txBody>
      </p:sp>
      <p:sp>
        <p:nvSpPr>
          <p:cNvPr id="5" name="Text 2"/>
          <p:cNvSpPr/>
          <p:nvPr/>
        </p:nvSpPr>
        <p:spPr>
          <a:xfrm>
            <a:off x="914400" y="4114800"/>
            <a:ext cx="10362895" cy="640080"/>
          </a:xfrm>
          <a:prstGeom prst="rect">
            <a:avLst/>
          </a:prstGeom>
          <a:noFill/>
          <a:ln/>
        </p:spPr>
        <p:txBody>
          <a:bodyPr wrap="square" lIns="0" tIns="0" rIns="0" bIns="0" rtlCol="0" anchor="ctr"/>
          <a:lstStyle/>
          <a:p>
            <a:pPr algn="ctr" indent="0" marL="0">
              <a:buNone/>
            </a:pPr>
            <a:r>
              <a:rPr lang="en-US" sz="2200" dirty="0">
                <a:solidFill>
                  <a:srgbClr val="F4F0E6"/>
                </a:solidFill>
                <a:latin typeface="Calibri" pitchFamily="34" charset="0"/>
                <a:ea typeface="Calibri" pitchFamily="34" charset="-122"/>
                <a:cs typeface="Calibri" pitchFamily="34" charset="-120"/>
              </a:rPr>
              <a:t>A Hit That Reacts</a:t>
            </a:r>
            <a:endParaRPr lang="en-US" sz="2200" dirty="0"/>
          </a:p>
        </p:txBody>
      </p:sp>
      <p:sp>
        <p:nvSpPr>
          <p:cNvPr id="6" name="Text 3"/>
          <p:cNvSpPr/>
          <p:nvPr/>
        </p:nvSpPr>
        <p:spPr>
          <a:xfrm>
            <a:off x="0" y="4892040"/>
            <a:ext cx="12191695" cy="365760"/>
          </a:xfrm>
          <a:prstGeom prst="rect">
            <a:avLst/>
          </a:prstGeom>
          <a:noFill/>
          <a:ln/>
        </p:spPr>
        <p:txBody>
          <a:bodyPr wrap="square" lIns="0" tIns="0" rIns="0" bIns="0" rtlCol="0" anchor="ctr"/>
          <a:lstStyle/>
          <a:p>
            <a:pPr algn="ctr" indent="0" marL="0">
              <a:buNone/>
            </a:pPr>
            <a:r>
              <a:rPr lang="en-US" sz="1400" b="1" i="1" dirty="0">
                <a:solidFill>
                  <a:srgbClr val="E8C25A"/>
                </a:solidFill>
                <a:latin typeface="Calibri" pitchFamily="34" charset="0"/>
                <a:ea typeface="Calibri" pitchFamily="34" charset="-122"/>
                <a:cs typeface="Calibri" pitchFamily="34" charset="-120"/>
              </a:rPr>
              <a:t>Semester 1, Week 13  -  Basic Animation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bg_content.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 y="411480"/>
            <a:ext cx="7315200" cy="640080"/>
          </a:xfrm>
          <a:prstGeom prst="rect">
            <a:avLst/>
          </a:prstGeom>
          <a:noFill/>
          <a:ln/>
        </p:spPr>
        <p:txBody>
          <a:bodyPr wrap="square" lIns="0" tIns="0" rIns="0" bIns="0" rtlCol="0" anchor="ctr"/>
          <a:lstStyle/>
          <a:p>
            <a:pPr indent="0" marL="0">
              <a:buNone/>
            </a:pPr>
            <a:r>
              <a:rPr lang="en-US" sz="3800" b="1" dirty="0">
                <a:solidFill>
                  <a:srgbClr val="1C4A86"/>
                </a:solidFill>
                <a:latin typeface="Cambria" pitchFamily="34" charset="0"/>
                <a:ea typeface="Cambria" pitchFamily="34" charset="-122"/>
                <a:cs typeface="Cambria" pitchFamily="34" charset="-120"/>
              </a:rPr>
              <a:t>At a Glance</a:t>
            </a:r>
            <a:endParaRPr lang="en-US" sz="3800" dirty="0"/>
          </a:p>
        </p:txBody>
      </p:sp>
      <p:sp>
        <p:nvSpPr>
          <p:cNvPr id="4" name="Text 1"/>
          <p:cNvSpPr/>
          <p:nvPr/>
        </p:nvSpPr>
        <p:spPr>
          <a:xfrm>
            <a:off x="548640" y="960120"/>
            <a:ext cx="7315200" cy="365760"/>
          </a:xfrm>
          <a:prstGeom prst="rect">
            <a:avLst/>
          </a:prstGeom>
          <a:noFill/>
          <a:ln/>
        </p:spPr>
        <p:txBody>
          <a:bodyPr wrap="square" lIns="0" tIns="0" rIns="0" bIns="0" rtlCol="0" anchor="ctr"/>
          <a:lstStyle/>
          <a:p>
            <a:pPr indent="0" marL="0">
              <a:buNone/>
            </a:pPr>
            <a:r>
              <a:rPr lang="en-US" sz="1500" i="1" dirty="0">
                <a:solidFill>
                  <a:srgbClr val="5A6472"/>
                </a:solidFill>
                <a:latin typeface="Calibri" pitchFamily="34" charset="0"/>
                <a:ea typeface="Calibri" pitchFamily="34" charset="-122"/>
                <a:cs typeface="Calibri" pitchFamily="34" charset="-120"/>
              </a:rPr>
              <a:t>Lesson 13 objectives &amp; materials</a:t>
            </a:r>
            <a:endParaRPr lang="en-US" sz="1500" dirty="0"/>
          </a:p>
        </p:txBody>
      </p:sp>
      <p:sp>
        <p:nvSpPr>
          <p:cNvPr id="5" name="Text 2"/>
          <p:cNvSpPr/>
          <p:nvPr/>
        </p:nvSpPr>
        <p:spPr>
          <a:xfrm>
            <a:off x="548640" y="1508760"/>
            <a:ext cx="6035040" cy="365760"/>
          </a:xfrm>
          <a:prstGeom prst="rect">
            <a:avLst/>
          </a:prstGeom>
          <a:noFill/>
          <a:ln/>
        </p:spPr>
        <p:txBody>
          <a:bodyPr wrap="square" lIns="0" tIns="0" rIns="0" bIns="0" rtlCol="0" anchor="ctr"/>
          <a:lstStyle/>
          <a:p>
            <a:pPr indent="0" marL="0">
              <a:buNone/>
            </a:pPr>
            <a:r>
              <a:rPr lang="en-US" sz="1600" b="1" dirty="0">
                <a:solidFill>
                  <a:srgbClr val="1C4A86"/>
                </a:solidFill>
                <a:latin typeface="Calibri" pitchFamily="34" charset="0"/>
                <a:ea typeface="Calibri" pitchFamily="34" charset="-122"/>
                <a:cs typeface="Calibri" pitchFamily="34" charset="-120"/>
              </a:rPr>
              <a:t>By the end of today, students will:</a:t>
            </a:r>
            <a:endParaRPr lang="en-US" sz="1600" dirty="0"/>
          </a:p>
        </p:txBody>
      </p:sp>
      <p:pic>
        <p:nvPicPr>
          <p:cNvPr id="6" name="Image 1" descr="icons/check.png">    </p:cNvPr>
          <p:cNvPicPr>
            <a:picLocks noChangeAspect="1"/>
          </p:cNvPicPr>
          <p:nvPr/>
        </p:nvPicPr>
        <p:blipFill>
          <a:blip r:embed="rId2"/>
          <a:stretch>
            <a:fillRect/>
          </a:stretch>
        </p:blipFill>
        <p:spPr>
          <a:xfrm>
            <a:off x="548640" y="1965960"/>
            <a:ext cx="384048" cy="384048"/>
          </a:xfrm>
          <a:prstGeom prst="rect">
            <a:avLst/>
          </a:prstGeom>
        </p:spPr>
      </p:pic>
      <p:sp>
        <p:nvSpPr>
          <p:cNvPr id="7" name="Text 3"/>
          <p:cNvSpPr/>
          <p:nvPr/>
        </p:nvSpPr>
        <p:spPr>
          <a:xfrm>
            <a:off x="1051560" y="1938528"/>
            <a:ext cx="5577840" cy="502920"/>
          </a:xfrm>
          <a:prstGeom prst="rect">
            <a:avLst/>
          </a:prstGeom>
          <a:noFill/>
          <a:ln/>
        </p:spPr>
        <p:txBody>
          <a:bodyPr wrap="square" lIns="0" tIns="0" rIns="0" bIns="0" rtlCol="0" anchor="ctr"/>
          <a:lstStyle/>
          <a:p>
            <a:pPr indent="0" marL="0">
              <a:buNone/>
            </a:pPr>
            <a:r>
              <a:rPr lang="en-US" sz="1450" dirty="0">
                <a:solidFill>
                  <a:srgbClr val="222222"/>
                </a:solidFill>
                <a:latin typeface="Calibri" pitchFamily="34" charset="0"/>
                <a:ea typeface="Calibri" pitchFamily="34" charset="-122"/>
                <a:cs typeface="Calibri" pitchFamily="34" charset="-120"/>
              </a:rPr>
              <a:t>Sequence a flash before finalizing an existing state change</a:t>
            </a:r>
            <a:endParaRPr lang="en-US" sz="1450" dirty="0"/>
          </a:p>
        </p:txBody>
      </p:sp>
      <p:pic>
        <p:nvPicPr>
          <p:cNvPr id="8" name="Image 2" descr="icons/check.png">    </p:cNvPr>
          <p:cNvPicPr>
            <a:picLocks noChangeAspect="1"/>
          </p:cNvPicPr>
          <p:nvPr/>
        </p:nvPicPr>
        <p:blipFill>
          <a:blip r:embed="rId3"/>
          <a:stretch>
            <a:fillRect/>
          </a:stretch>
        </p:blipFill>
        <p:spPr>
          <a:xfrm>
            <a:off x="548640" y="2532888"/>
            <a:ext cx="384048" cy="384048"/>
          </a:xfrm>
          <a:prstGeom prst="rect">
            <a:avLst/>
          </a:prstGeom>
        </p:spPr>
      </p:pic>
      <p:sp>
        <p:nvSpPr>
          <p:cNvPr id="9" name="Text 4"/>
          <p:cNvSpPr/>
          <p:nvPr/>
        </p:nvSpPr>
        <p:spPr>
          <a:xfrm>
            <a:off x="1051560" y="2505456"/>
            <a:ext cx="5577840" cy="502920"/>
          </a:xfrm>
          <a:prstGeom prst="rect">
            <a:avLst/>
          </a:prstGeom>
          <a:noFill/>
          <a:ln/>
        </p:spPr>
        <p:txBody>
          <a:bodyPr wrap="square" lIns="0" tIns="0" rIns="0" bIns="0" rtlCol="0" anchor="ctr"/>
          <a:lstStyle/>
          <a:p>
            <a:pPr indent="0" marL="0">
              <a:buNone/>
            </a:pPr>
            <a:r>
              <a:rPr lang="en-US" sz="1450" dirty="0">
                <a:solidFill>
                  <a:srgbClr val="222222"/>
                </a:solidFill>
                <a:latin typeface="Calibri" pitchFamily="34" charset="0"/>
                <a:ea typeface="Calibri" pitchFamily="34" charset="-122"/>
                <a:cs typeface="Calibri" pitchFamily="34" charset="-120"/>
              </a:rPr>
              <a:t>Spawn a fully independent, self-cleaning explosion effect</a:t>
            </a:r>
            <a:endParaRPr lang="en-US" sz="1450" dirty="0"/>
          </a:p>
        </p:txBody>
      </p:sp>
      <p:pic>
        <p:nvPicPr>
          <p:cNvPr id="10" name="Image 3" descr="icons/check.png">    </p:cNvPr>
          <p:cNvPicPr>
            <a:picLocks noChangeAspect="1"/>
          </p:cNvPicPr>
          <p:nvPr/>
        </p:nvPicPr>
        <p:blipFill>
          <a:blip r:embed="rId4"/>
          <a:stretch>
            <a:fillRect/>
          </a:stretch>
        </p:blipFill>
        <p:spPr>
          <a:xfrm>
            <a:off x="548640" y="3099816"/>
            <a:ext cx="384048" cy="384048"/>
          </a:xfrm>
          <a:prstGeom prst="rect">
            <a:avLst/>
          </a:prstGeom>
        </p:spPr>
      </p:pic>
      <p:sp>
        <p:nvSpPr>
          <p:cNvPr id="11" name="Text 5"/>
          <p:cNvSpPr/>
          <p:nvPr/>
        </p:nvSpPr>
        <p:spPr>
          <a:xfrm>
            <a:off x="1051560" y="3072384"/>
            <a:ext cx="5577840" cy="502920"/>
          </a:xfrm>
          <a:prstGeom prst="rect">
            <a:avLst/>
          </a:prstGeom>
          <a:noFill/>
          <a:ln/>
        </p:spPr>
        <p:txBody>
          <a:bodyPr wrap="square" lIns="0" tIns="0" rIns="0" bIns="0" rtlCol="0" anchor="ctr"/>
          <a:lstStyle/>
          <a:p>
            <a:pPr indent="0" marL="0">
              <a:buNone/>
            </a:pPr>
            <a:r>
              <a:rPr lang="en-US" sz="1450" dirty="0">
                <a:solidFill>
                  <a:srgbClr val="222222"/>
                </a:solidFill>
                <a:latin typeface="Calibri" pitchFamily="34" charset="0"/>
                <a:ea typeface="Calibri" pitchFamily="34" charset="-122"/>
                <a:cs typeface="Calibri" pitchFamily="34" charset="-120"/>
              </a:rPr>
              <a:t>Compare how 3 engine families pause mid-script (or don't)</a:t>
            </a:r>
            <a:endParaRPr lang="en-US" sz="1450" dirty="0"/>
          </a:p>
        </p:txBody>
      </p:sp>
      <p:pic>
        <p:nvPicPr>
          <p:cNvPr id="12" name="Image 4" descr="icons/check.png">    </p:cNvPr>
          <p:cNvPicPr>
            <a:picLocks noChangeAspect="1"/>
          </p:cNvPicPr>
          <p:nvPr/>
        </p:nvPicPr>
        <p:blipFill>
          <a:blip r:embed="rId5"/>
          <a:stretch>
            <a:fillRect/>
          </a:stretch>
        </p:blipFill>
        <p:spPr>
          <a:xfrm>
            <a:off x="548640" y="3666744"/>
            <a:ext cx="384048" cy="384048"/>
          </a:xfrm>
          <a:prstGeom prst="rect">
            <a:avLst/>
          </a:prstGeom>
        </p:spPr>
      </p:pic>
      <p:sp>
        <p:nvSpPr>
          <p:cNvPr id="13" name="Text 6"/>
          <p:cNvSpPr/>
          <p:nvPr/>
        </p:nvSpPr>
        <p:spPr>
          <a:xfrm>
            <a:off x="1051560" y="3639312"/>
            <a:ext cx="5577840" cy="502920"/>
          </a:xfrm>
          <a:prstGeom prst="rect">
            <a:avLst/>
          </a:prstGeom>
          <a:noFill/>
          <a:ln/>
        </p:spPr>
        <p:txBody>
          <a:bodyPr wrap="square" lIns="0" tIns="0" rIns="0" bIns="0" rtlCol="0" anchor="ctr"/>
          <a:lstStyle/>
          <a:p>
            <a:pPr indent="0" marL="0">
              <a:buNone/>
            </a:pPr>
            <a:r>
              <a:rPr lang="en-US" sz="1450" dirty="0">
                <a:solidFill>
                  <a:srgbClr val="222222"/>
                </a:solidFill>
                <a:latin typeface="Calibri" pitchFamily="34" charset="0"/>
                <a:ea typeface="Calibri" pitchFamily="34" charset="-122"/>
                <a:cs typeface="Calibri" pitchFamily="34" charset="-120"/>
              </a:rPr>
              <a:t>Confirm game logic timing is completely unchanged</a:t>
            </a:r>
            <a:endParaRPr lang="en-US" sz="1450" dirty="0"/>
          </a:p>
        </p:txBody>
      </p:sp>
      <p:sp>
        <p:nvSpPr>
          <p:cNvPr id="14" name="Shape 7"/>
          <p:cNvSpPr/>
          <p:nvPr/>
        </p:nvSpPr>
        <p:spPr>
          <a:xfrm>
            <a:off x="6949440" y="1508760"/>
            <a:ext cx="4709160" cy="4206240"/>
          </a:xfrm>
          <a:prstGeom prst="roundRect">
            <a:avLst>
              <a:gd name="adj" fmla="val 2609"/>
            </a:avLst>
          </a:prstGeom>
          <a:solidFill>
            <a:srgbClr val="EDF2F8"/>
          </a:solidFill>
          <a:ln/>
        </p:spPr>
      </p:sp>
      <p:sp>
        <p:nvSpPr>
          <p:cNvPr id="15" name="Text 8"/>
          <p:cNvSpPr/>
          <p:nvPr/>
        </p:nvSpPr>
        <p:spPr>
          <a:xfrm>
            <a:off x="7223760" y="1691640"/>
            <a:ext cx="4206240" cy="365760"/>
          </a:xfrm>
          <a:prstGeom prst="rect">
            <a:avLst/>
          </a:prstGeom>
          <a:noFill/>
          <a:ln/>
        </p:spPr>
        <p:txBody>
          <a:bodyPr wrap="square" lIns="0" tIns="0" rIns="0" bIns="0" rtlCol="0" anchor="ctr"/>
          <a:lstStyle/>
          <a:p>
            <a:pPr indent="0" marL="0">
              <a:buNone/>
            </a:pPr>
            <a:r>
              <a:rPr lang="en-US" sz="1500" b="1" dirty="0">
                <a:solidFill>
                  <a:srgbClr val="1C4A86"/>
                </a:solidFill>
                <a:latin typeface="Calibri" pitchFamily="34" charset="0"/>
                <a:ea typeface="Calibri" pitchFamily="34" charset="-122"/>
                <a:cs typeface="Calibri" pitchFamily="34" charset="-120"/>
              </a:rPr>
              <a:t>What We're Using Today</a:t>
            </a:r>
            <a:endParaRPr lang="en-US" sz="1500" dirty="0"/>
          </a:p>
        </p:txBody>
      </p:sp>
      <p:sp>
        <p:nvSpPr>
          <p:cNvPr id="16" name="Text 9"/>
          <p:cNvSpPr/>
          <p:nvPr/>
        </p:nvSpPr>
        <p:spPr>
          <a:xfrm>
            <a:off x="7223760" y="2148840"/>
            <a:ext cx="228600" cy="548640"/>
          </a:xfrm>
          <a:prstGeom prst="rect">
            <a:avLst/>
          </a:prstGeom>
          <a:noFill/>
          <a:ln/>
        </p:spPr>
        <p:txBody>
          <a:bodyPr wrap="square" lIns="0" tIns="0" rIns="0" bIns="0" rtlCol="0" anchor="ctr"/>
          <a:lstStyle/>
          <a:p>
            <a:pPr indent="0" marL="0">
              <a:buNone/>
            </a:pPr>
            <a:r>
              <a:rPr lang="en-US" sz="1500" dirty="0">
                <a:solidFill>
                  <a:srgbClr val="C99A2E"/>
                </a:solidFill>
                <a:latin typeface="Calibri" pitchFamily="34" charset="0"/>
                <a:ea typeface="Calibri" pitchFamily="34" charset="-122"/>
                <a:cs typeface="Calibri" pitchFamily="34" charset="-120"/>
              </a:rPr>
              <a:t>•</a:t>
            </a:r>
            <a:endParaRPr lang="en-US" sz="1500" dirty="0"/>
          </a:p>
        </p:txBody>
      </p:sp>
      <p:sp>
        <p:nvSpPr>
          <p:cNvPr id="17" name="Text 10"/>
          <p:cNvSpPr/>
          <p:nvPr/>
        </p:nvSpPr>
        <p:spPr>
          <a:xfrm>
            <a:off x="7498080" y="2148840"/>
            <a:ext cx="4023360" cy="621792"/>
          </a:xfrm>
          <a:prstGeom prst="rect">
            <a:avLst/>
          </a:prstGeom>
          <a:noFill/>
          <a:ln/>
        </p:spPr>
        <p:txBody>
          <a:bodyPr wrap="square" lIns="0" tIns="0" rIns="0" bIns="0" rtlCol="0" anchor="ctr"/>
          <a:lstStyle/>
          <a:p>
            <a:pPr indent="0" marL="0">
              <a:buNone/>
            </a:pPr>
            <a:r>
              <a:rPr lang="en-US" sz="1250" dirty="0">
                <a:solidFill>
                  <a:srgbClr val="222222"/>
                </a:solidFill>
                <a:latin typeface="Calibri" pitchFamily="34" charset="0"/>
                <a:ea typeface="Calibri" pitchFamily="34" charset="-122"/>
                <a:cs typeface="Calibri" pitchFamily="34" charset="-120"/>
              </a:rPr>
              <a:t>Demo laptop with all 8 engines verified</a:t>
            </a:r>
            <a:endParaRPr lang="en-US" sz="1250" dirty="0"/>
          </a:p>
        </p:txBody>
      </p:sp>
      <p:sp>
        <p:nvSpPr>
          <p:cNvPr id="18" name="Text 11"/>
          <p:cNvSpPr/>
          <p:nvPr/>
        </p:nvSpPr>
        <p:spPr>
          <a:xfrm>
            <a:off x="7223760" y="2807208"/>
            <a:ext cx="228600" cy="548640"/>
          </a:xfrm>
          <a:prstGeom prst="rect">
            <a:avLst/>
          </a:prstGeom>
          <a:noFill/>
          <a:ln/>
        </p:spPr>
        <p:txBody>
          <a:bodyPr wrap="square" lIns="0" tIns="0" rIns="0" bIns="0" rtlCol="0" anchor="ctr"/>
          <a:lstStyle/>
          <a:p>
            <a:pPr indent="0" marL="0">
              <a:buNone/>
            </a:pPr>
            <a:r>
              <a:rPr lang="en-US" sz="1500" dirty="0">
                <a:solidFill>
                  <a:srgbClr val="C99A2E"/>
                </a:solidFill>
                <a:latin typeface="Calibri" pitchFamily="34" charset="0"/>
                <a:ea typeface="Calibri" pitchFamily="34" charset="-122"/>
                <a:cs typeface="Calibri" pitchFamily="34" charset="-120"/>
              </a:rPr>
              <a:t>•</a:t>
            </a:r>
            <a:endParaRPr lang="en-US" sz="1500" dirty="0"/>
          </a:p>
        </p:txBody>
      </p:sp>
      <p:sp>
        <p:nvSpPr>
          <p:cNvPr id="19" name="Text 12"/>
          <p:cNvSpPr/>
          <p:nvPr/>
        </p:nvSpPr>
        <p:spPr>
          <a:xfrm>
            <a:off x="7498080" y="2807208"/>
            <a:ext cx="4023360" cy="621792"/>
          </a:xfrm>
          <a:prstGeom prst="rect">
            <a:avLst/>
          </a:prstGeom>
          <a:noFill/>
          <a:ln/>
        </p:spPr>
        <p:txBody>
          <a:bodyPr wrap="square" lIns="0" tIns="0" rIns="0" bIns="0" rtlCol="0" anchor="ctr"/>
          <a:lstStyle/>
          <a:p>
            <a:pPr indent="0" marL="0">
              <a:buNone/>
            </a:pPr>
            <a:r>
              <a:rPr lang="en-US" sz="1250" dirty="0">
                <a:solidFill>
                  <a:srgbClr val="222222"/>
                </a:solidFill>
                <a:latin typeface="Calibri" pitchFamily="34" charset="0"/>
                <a:ea typeface="Calibri" pitchFamily="34" charset="-122"/>
                <a:cs typeface="Calibri" pitchFamily="34" charset="-120"/>
              </a:rPr>
              <a:t>Scratch, for the live lecture demo</a:t>
            </a:r>
            <a:endParaRPr lang="en-US" sz="1250" dirty="0"/>
          </a:p>
        </p:txBody>
      </p:sp>
      <p:sp>
        <p:nvSpPr>
          <p:cNvPr id="20" name="Text 13"/>
          <p:cNvSpPr/>
          <p:nvPr/>
        </p:nvSpPr>
        <p:spPr>
          <a:xfrm>
            <a:off x="7223760" y="3465576"/>
            <a:ext cx="228600" cy="548640"/>
          </a:xfrm>
          <a:prstGeom prst="rect">
            <a:avLst/>
          </a:prstGeom>
          <a:noFill/>
          <a:ln/>
        </p:spPr>
        <p:txBody>
          <a:bodyPr wrap="square" lIns="0" tIns="0" rIns="0" bIns="0" rtlCol="0" anchor="ctr"/>
          <a:lstStyle/>
          <a:p>
            <a:pPr indent="0" marL="0">
              <a:buNone/>
            </a:pPr>
            <a:r>
              <a:rPr lang="en-US" sz="1500" dirty="0">
                <a:solidFill>
                  <a:srgbClr val="C99A2E"/>
                </a:solidFill>
                <a:latin typeface="Calibri" pitchFamily="34" charset="0"/>
                <a:ea typeface="Calibri" pitchFamily="34" charset="-122"/>
                <a:cs typeface="Calibri" pitchFamily="34" charset="-120"/>
              </a:rPr>
              <a:t>•</a:t>
            </a:r>
            <a:endParaRPr lang="en-US" sz="1500" dirty="0"/>
          </a:p>
        </p:txBody>
      </p:sp>
      <p:sp>
        <p:nvSpPr>
          <p:cNvPr id="21" name="Text 14"/>
          <p:cNvSpPr/>
          <p:nvPr/>
        </p:nvSpPr>
        <p:spPr>
          <a:xfrm>
            <a:off x="7498080" y="3465576"/>
            <a:ext cx="4023360" cy="621792"/>
          </a:xfrm>
          <a:prstGeom prst="rect">
            <a:avLst/>
          </a:prstGeom>
          <a:noFill/>
          <a:ln/>
        </p:spPr>
        <p:txBody>
          <a:bodyPr wrap="square" lIns="0" tIns="0" rIns="0" bIns="0" rtlCol="0" anchor="ctr"/>
          <a:lstStyle/>
          <a:p>
            <a:pPr indent="0" marL="0">
              <a:buNone/>
            </a:pPr>
            <a:r>
              <a:rPr lang="en-US" sz="1250" dirty="0">
                <a:solidFill>
                  <a:srgbClr val="222222"/>
                </a:solidFill>
                <a:latin typeface="Calibri" pitchFamily="34" charset="0"/>
                <a:ea typeface="Calibri" pitchFamily="34" charset="-122"/>
                <a:cs typeface="Calibri" pitchFamily="34" charset="-120"/>
              </a:rPr>
              <a:t>One new asset: explosion_placeholder.png</a:t>
            </a:r>
            <a:endParaRPr lang="en-US" sz="1250" dirty="0"/>
          </a:p>
        </p:txBody>
      </p:sp>
      <p:sp>
        <p:nvSpPr>
          <p:cNvPr id="22" name="Text 15"/>
          <p:cNvSpPr/>
          <p:nvPr/>
        </p:nvSpPr>
        <p:spPr>
          <a:xfrm>
            <a:off x="7223760" y="4123944"/>
            <a:ext cx="228600" cy="548640"/>
          </a:xfrm>
          <a:prstGeom prst="rect">
            <a:avLst/>
          </a:prstGeom>
          <a:noFill/>
          <a:ln/>
        </p:spPr>
        <p:txBody>
          <a:bodyPr wrap="square" lIns="0" tIns="0" rIns="0" bIns="0" rtlCol="0" anchor="ctr"/>
          <a:lstStyle/>
          <a:p>
            <a:pPr indent="0" marL="0">
              <a:buNone/>
            </a:pPr>
            <a:r>
              <a:rPr lang="en-US" sz="1500" dirty="0">
                <a:solidFill>
                  <a:srgbClr val="C99A2E"/>
                </a:solidFill>
                <a:latin typeface="Calibri" pitchFamily="34" charset="0"/>
                <a:ea typeface="Calibri" pitchFamily="34" charset="-122"/>
                <a:cs typeface="Calibri" pitchFamily="34" charset="-120"/>
              </a:rPr>
              <a:t>•</a:t>
            </a:r>
            <a:endParaRPr lang="en-US" sz="1500" dirty="0"/>
          </a:p>
        </p:txBody>
      </p:sp>
      <p:sp>
        <p:nvSpPr>
          <p:cNvPr id="23" name="Text 16"/>
          <p:cNvSpPr/>
          <p:nvPr/>
        </p:nvSpPr>
        <p:spPr>
          <a:xfrm>
            <a:off x="7498080" y="4123944"/>
            <a:ext cx="4023360" cy="621792"/>
          </a:xfrm>
          <a:prstGeom prst="rect">
            <a:avLst/>
          </a:prstGeom>
          <a:noFill/>
          <a:ln/>
        </p:spPr>
        <p:txBody>
          <a:bodyPr wrap="square" lIns="0" tIns="0" rIns="0" bIns="0" rtlCol="0" anchor="ctr"/>
          <a:lstStyle/>
          <a:p>
            <a:pPr indent="0" marL="0">
              <a:buNone/>
            </a:pPr>
            <a:r>
              <a:rPr lang="en-US" sz="1250" dirty="0">
                <a:solidFill>
                  <a:srgbClr val="222222"/>
                </a:solidFill>
                <a:latin typeface="Calibri" pitchFamily="34" charset="0"/>
                <a:ea typeface="Calibri" pitchFamily="34" charset="-122"/>
                <a:cs typeface="Calibri" pitchFamily="34" charset="-120"/>
              </a:rPr>
              <a:t>Unreal reuses its existing Cube/Sphere shapes</a:t>
            </a:r>
            <a:endParaRPr lang="en-US" sz="1250" dirty="0"/>
          </a:p>
        </p:txBody>
      </p:sp>
      <p:sp>
        <p:nvSpPr>
          <p:cNvPr id="24" name="Text 17"/>
          <p:cNvSpPr/>
          <p:nvPr/>
        </p:nvSpPr>
        <p:spPr>
          <a:xfrm>
            <a:off x="7223760" y="4782312"/>
            <a:ext cx="228600" cy="548640"/>
          </a:xfrm>
          <a:prstGeom prst="rect">
            <a:avLst/>
          </a:prstGeom>
          <a:noFill/>
          <a:ln/>
        </p:spPr>
        <p:txBody>
          <a:bodyPr wrap="square" lIns="0" tIns="0" rIns="0" bIns="0" rtlCol="0" anchor="ctr"/>
          <a:lstStyle/>
          <a:p>
            <a:pPr indent="0" marL="0">
              <a:buNone/>
            </a:pPr>
            <a:r>
              <a:rPr lang="en-US" sz="1500" dirty="0">
                <a:solidFill>
                  <a:srgbClr val="C99A2E"/>
                </a:solidFill>
                <a:latin typeface="Calibri" pitchFamily="34" charset="0"/>
                <a:ea typeface="Calibri" pitchFamily="34" charset="-122"/>
                <a:cs typeface="Calibri" pitchFamily="34" charset="-120"/>
              </a:rPr>
              <a:t>•</a:t>
            </a:r>
            <a:endParaRPr lang="en-US" sz="1500" dirty="0"/>
          </a:p>
        </p:txBody>
      </p:sp>
      <p:sp>
        <p:nvSpPr>
          <p:cNvPr id="25" name="Text 18"/>
          <p:cNvSpPr/>
          <p:nvPr/>
        </p:nvSpPr>
        <p:spPr>
          <a:xfrm>
            <a:off x="7498080" y="4782312"/>
            <a:ext cx="4023360" cy="621792"/>
          </a:xfrm>
          <a:prstGeom prst="rect">
            <a:avLst/>
          </a:prstGeom>
          <a:noFill/>
          <a:ln/>
        </p:spPr>
        <p:txBody>
          <a:bodyPr wrap="square" lIns="0" tIns="0" rIns="0" bIns="0" rtlCol="0" anchor="ctr"/>
          <a:lstStyle/>
          <a:p>
            <a:pPr indent="0" marL="0">
              <a:buNone/>
            </a:pPr>
            <a:r>
              <a:rPr lang="en-US" sz="1250" dirty="0">
                <a:solidFill>
                  <a:srgbClr val="222222"/>
                </a:solidFill>
                <a:latin typeface="Calibri" pitchFamily="34" charset="0"/>
                <a:ea typeface="Calibri" pitchFamily="34" charset="-122"/>
                <a:cs typeface="Calibri" pitchFamily="34" charset="-120"/>
              </a:rPr>
              <a:t>Your own [YourName]Game project from Lesson 12</a:t>
            </a:r>
            <a:endParaRPr lang="en-US" sz="1250" dirty="0"/>
          </a:p>
        </p:txBody>
      </p:sp>
      <p:sp>
        <p:nvSpPr>
          <p:cNvPr id="26" name="Text 19"/>
          <p:cNvSpPr/>
          <p:nvPr/>
        </p:nvSpPr>
        <p:spPr>
          <a:xfrm>
            <a:off x="548640" y="5989320"/>
            <a:ext cx="11064240" cy="457200"/>
          </a:xfrm>
          <a:prstGeom prst="rect">
            <a:avLst/>
          </a:prstGeom>
          <a:noFill/>
          <a:ln/>
        </p:spPr>
        <p:txBody>
          <a:bodyPr wrap="square" lIns="0" tIns="0" rIns="0" bIns="0" rtlCol="0" anchor="ctr"/>
          <a:lstStyle/>
          <a:p>
            <a:pPr indent="0" marL="0">
              <a:buNone/>
            </a:pPr>
            <a:r>
              <a:rPr lang="en-US" sz="1150" i="1" dirty="0">
                <a:solidFill>
                  <a:srgbClr val="5A6472"/>
                </a:solidFill>
                <a:latin typeface="Calibri" pitchFamily="34" charset="0"/>
                <a:ea typeface="Calibri" pitchFamily="34" charset="-122"/>
                <a:cs typeface="Calibri" pitchFamily="34" charset="-120"/>
              </a:rPr>
              <a:t>IGDA framework tie-in:  Visual Art - basic animation, juice/feedback fundamentals (introductory); Programming - timed/asynchronous execution (intermediate).</a:t>
            </a:r>
            <a:endParaRPr lang="en-US" sz="1150" dirty="0"/>
          </a:p>
        </p:txBody>
      </p:sp>
      <p:sp>
        <p:nvSpPr>
          <p:cNvPr id="27" name="Text 20"/>
          <p:cNvSpPr/>
          <p:nvPr/>
        </p:nvSpPr>
        <p:spPr>
          <a:xfrm>
            <a:off x="457200" y="6528816"/>
            <a:ext cx="4572000" cy="274320"/>
          </a:xfrm>
          <a:prstGeom prst="rect">
            <a:avLst/>
          </a:prstGeom>
          <a:noFill/>
          <a:ln/>
        </p:spPr>
        <p:txBody>
          <a:bodyPr wrap="square" lIns="0" tIns="0" rIns="0" bIns="0" rtlCol="0" anchor="ctr"/>
          <a:lstStyle/>
          <a:p>
            <a:pPr indent="0" marL="0">
              <a:buNone/>
            </a:pPr>
            <a:r>
              <a:rPr lang="en-US" sz="1000" b="1" spc="200" kern="0" dirty="0">
                <a:solidFill>
                  <a:srgbClr val="5A6472"/>
                </a:solidFill>
                <a:latin typeface="Calibri" pitchFamily="34" charset="0"/>
                <a:ea typeface="Calibri" pitchFamily="34" charset="-122"/>
                <a:cs typeface="Calibri" pitchFamily="34" charset="-120"/>
              </a:rPr>
              <a:t>VIDEO GAME CREATION</a:t>
            </a:r>
            <a:endParaRPr lang="en-US" sz="1000" dirty="0"/>
          </a:p>
        </p:txBody>
      </p:sp>
      <p:sp>
        <p:nvSpPr>
          <p:cNvPr id="28" name="Text 21"/>
          <p:cNvSpPr/>
          <p:nvPr/>
        </p:nvSpPr>
        <p:spPr>
          <a:xfrm>
            <a:off x="10088575" y="6528816"/>
            <a:ext cx="1371600" cy="274320"/>
          </a:xfrm>
          <a:prstGeom prst="rect">
            <a:avLst/>
          </a:prstGeom>
          <a:noFill/>
          <a:ln/>
        </p:spPr>
        <p:txBody>
          <a:bodyPr wrap="square" lIns="0" tIns="0" rIns="0" bIns="0" rtlCol="0" anchor="ctr"/>
          <a:lstStyle/>
          <a:p>
            <a:pPr algn="r" indent="0" marL="0">
              <a:buNone/>
            </a:pPr>
            <a:r>
              <a:rPr lang="en-US" sz="1000" dirty="0">
                <a:solidFill>
                  <a:srgbClr val="5A6472"/>
                </a:solidFill>
                <a:latin typeface="Calibri" pitchFamily="34" charset="0"/>
                <a:ea typeface="Calibri" pitchFamily="34" charset="-122"/>
                <a:cs typeface="Calibri" pitchFamily="34" charset="-120"/>
              </a:rPr>
              <a:t>Lesson 13</a:t>
            </a:r>
            <a:endParaRPr lang="en-US" sz="1000" dirty="0"/>
          </a:p>
        </p:txBody>
      </p:sp>
      <p:sp>
        <p:nvSpPr>
          <p:cNvPr id="29" name="Text 22"/>
          <p:cNvSpPr/>
          <p:nvPr/>
        </p:nvSpPr>
        <p:spPr>
          <a:xfrm>
            <a:off x="11505895" y="6528816"/>
            <a:ext cx="411480" cy="274320"/>
          </a:xfrm>
          <a:prstGeom prst="rect">
            <a:avLst/>
          </a:prstGeom>
          <a:noFill/>
          <a:ln/>
        </p:spPr>
        <p:txBody>
          <a:bodyPr wrap="square" lIns="0" tIns="0" rIns="0" bIns="0" rtlCol="0" anchor="ctr"/>
          <a:lstStyle/>
          <a:p>
            <a:pPr algn="r" indent="0" marL="0">
              <a:buNone/>
            </a:pPr>
            <a:r>
              <a:rPr lang="en-US" sz="1000" dirty="0">
                <a:solidFill>
                  <a:srgbClr val="5A6472"/>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bg_content.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 y="411480"/>
            <a:ext cx="7315200" cy="640080"/>
          </a:xfrm>
          <a:prstGeom prst="rect">
            <a:avLst/>
          </a:prstGeom>
          <a:noFill/>
          <a:ln/>
        </p:spPr>
        <p:txBody>
          <a:bodyPr wrap="square" lIns="0" tIns="0" rIns="0" bIns="0" rtlCol="0" anchor="ctr"/>
          <a:lstStyle/>
          <a:p>
            <a:pPr indent="0" marL="0">
              <a:buNone/>
            </a:pPr>
            <a:r>
              <a:rPr lang="en-US" sz="3800" b="1" dirty="0">
                <a:solidFill>
                  <a:srgbClr val="1C4A86"/>
                </a:solidFill>
                <a:latin typeface="Cambria" pitchFamily="34" charset="0"/>
                <a:ea typeface="Cambria" pitchFamily="34" charset="-122"/>
                <a:cs typeface="Cambria" pitchFamily="34" charset="-120"/>
              </a:rPr>
              <a:t>Today's Agenda</a:t>
            </a:r>
            <a:endParaRPr lang="en-US" sz="3800" dirty="0"/>
          </a:p>
        </p:txBody>
      </p:sp>
      <p:pic>
        <p:nvPicPr>
          <p:cNvPr id="4" name="Image 1" descr="icons/design.png">    </p:cNvPr>
          <p:cNvPicPr>
            <a:picLocks noChangeAspect="1"/>
          </p:cNvPicPr>
          <p:nvPr/>
        </p:nvPicPr>
        <p:blipFill>
          <a:blip r:embed="rId2"/>
          <a:stretch>
            <a:fillRect/>
          </a:stretch>
        </p:blipFill>
        <p:spPr>
          <a:xfrm>
            <a:off x="10607040" y="365760"/>
            <a:ext cx="822960" cy="822960"/>
          </a:xfrm>
          <a:prstGeom prst="rect">
            <a:avLst/>
          </a:prstGeom>
        </p:spPr>
      </p:pic>
      <p:sp>
        <p:nvSpPr>
          <p:cNvPr id="5" name="Shape 1"/>
          <p:cNvSpPr/>
          <p:nvPr/>
        </p:nvSpPr>
        <p:spPr>
          <a:xfrm>
            <a:off x="548640" y="1280160"/>
            <a:ext cx="11064240" cy="512064"/>
          </a:xfrm>
          <a:prstGeom prst="roundRect">
            <a:avLst>
              <a:gd name="adj" fmla="val 14286"/>
            </a:avLst>
          </a:prstGeom>
          <a:solidFill>
            <a:srgbClr val="FFFFFF"/>
          </a:solidFill>
          <a:ln w="12700">
            <a:solidFill>
              <a:srgbClr val="DCE3EC"/>
            </a:solidFill>
            <a:prstDash val="solid"/>
          </a:ln>
        </p:spPr>
      </p:sp>
      <p:sp>
        <p:nvSpPr>
          <p:cNvPr id="6" name="Text 2"/>
          <p:cNvSpPr/>
          <p:nvPr/>
        </p:nvSpPr>
        <p:spPr>
          <a:xfrm>
            <a:off x="822960" y="1280160"/>
            <a:ext cx="2103120" cy="512064"/>
          </a:xfrm>
          <a:prstGeom prst="rect">
            <a:avLst/>
          </a:prstGeom>
          <a:noFill/>
          <a:ln/>
        </p:spPr>
        <p:txBody>
          <a:bodyPr wrap="square" lIns="0" tIns="0" rIns="0" bIns="0" rtlCol="0" anchor="ctr"/>
          <a:lstStyle/>
          <a:p>
            <a:pPr indent="0" marL="0">
              <a:buNone/>
            </a:pPr>
            <a:r>
              <a:rPr lang="en-US" sz="1300" b="1" dirty="0">
                <a:solidFill>
                  <a:srgbClr val="1C4A86"/>
                </a:solidFill>
                <a:latin typeface="Calibri" pitchFamily="34" charset="0"/>
                <a:ea typeface="Calibri" pitchFamily="34" charset="-122"/>
                <a:cs typeface="Calibri" pitchFamily="34" charset="-120"/>
              </a:rPr>
              <a:t>0:00 - 0:05</a:t>
            </a:r>
            <a:endParaRPr lang="en-US" sz="1300" dirty="0"/>
          </a:p>
        </p:txBody>
      </p:sp>
      <p:sp>
        <p:nvSpPr>
          <p:cNvPr id="7" name="Text 3"/>
          <p:cNvSpPr/>
          <p:nvPr/>
        </p:nvSpPr>
        <p:spPr>
          <a:xfrm>
            <a:off x="3017520" y="1280160"/>
            <a:ext cx="8412480" cy="512064"/>
          </a:xfrm>
          <a:prstGeom prst="rect">
            <a:avLst/>
          </a:prstGeom>
          <a:noFill/>
          <a:ln/>
        </p:spPr>
        <p:txBody>
          <a:bodyPr wrap="square" lIns="0" tIns="0" rIns="0" bIns="0" rtlCol="0" anchor="ctr"/>
          <a:lstStyle/>
          <a:p>
            <a:pPr indent="0" marL="0">
              <a:buNone/>
            </a:pPr>
            <a:r>
              <a:rPr lang="en-US" sz="1230" dirty="0">
                <a:solidFill>
                  <a:srgbClr val="222222"/>
                </a:solidFill>
                <a:latin typeface="Calibri" pitchFamily="34" charset="0"/>
                <a:ea typeface="Calibri" pitchFamily="34" charset="-122"/>
                <a:cs typeface="Calibri" pitchFamily="34" charset="-120"/>
              </a:rPr>
              <a:t>Welcome back, Lesson 12 recap</a:t>
            </a:r>
            <a:endParaRPr lang="en-US" sz="1230" dirty="0"/>
          </a:p>
        </p:txBody>
      </p:sp>
      <p:sp>
        <p:nvSpPr>
          <p:cNvPr id="8" name="Shape 4"/>
          <p:cNvSpPr/>
          <p:nvPr/>
        </p:nvSpPr>
        <p:spPr>
          <a:xfrm>
            <a:off x="548640" y="1883664"/>
            <a:ext cx="11064240" cy="512064"/>
          </a:xfrm>
          <a:prstGeom prst="roundRect">
            <a:avLst>
              <a:gd name="adj" fmla="val 14286"/>
            </a:avLst>
          </a:prstGeom>
          <a:solidFill>
            <a:srgbClr val="FFFFFF"/>
          </a:solidFill>
          <a:ln w="12700">
            <a:solidFill>
              <a:srgbClr val="DCE3EC"/>
            </a:solidFill>
            <a:prstDash val="solid"/>
          </a:ln>
        </p:spPr>
      </p:sp>
      <p:sp>
        <p:nvSpPr>
          <p:cNvPr id="9" name="Text 5"/>
          <p:cNvSpPr/>
          <p:nvPr/>
        </p:nvSpPr>
        <p:spPr>
          <a:xfrm>
            <a:off x="822960" y="1883664"/>
            <a:ext cx="2103120" cy="512064"/>
          </a:xfrm>
          <a:prstGeom prst="rect">
            <a:avLst/>
          </a:prstGeom>
          <a:noFill/>
          <a:ln/>
        </p:spPr>
        <p:txBody>
          <a:bodyPr wrap="square" lIns="0" tIns="0" rIns="0" bIns="0" rtlCol="0" anchor="ctr"/>
          <a:lstStyle/>
          <a:p>
            <a:pPr indent="0" marL="0">
              <a:buNone/>
            </a:pPr>
            <a:r>
              <a:rPr lang="en-US" sz="1300" b="1" dirty="0">
                <a:solidFill>
                  <a:srgbClr val="1C4A86"/>
                </a:solidFill>
                <a:latin typeface="Calibri" pitchFamily="34" charset="0"/>
                <a:ea typeface="Calibri" pitchFamily="34" charset="-122"/>
                <a:cs typeface="Calibri" pitchFamily="34" charset="-120"/>
              </a:rPr>
              <a:t>0:05 - 0:15</a:t>
            </a:r>
            <a:endParaRPr lang="en-US" sz="1300" dirty="0"/>
          </a:p>
        </p:txBody>
      </p:sp>
      <p:sp>
        <p:nvSpPr>
          <p:cNvPr id="10" name="Text 6"/>
          <p:cNvSpPr/>
          <p:nvPr/>
        </p:nvSpPr>
        <p:spPr>
          <a:xfrm>
            <a:off x="3017520" y="1883664"/>
            <a:ext cx="8412480" cy="512064"/>
          </a:xfrm>
          <a:prstGeom prst="rect">
            <a:avLst/>
          </a:prstGeom>
          <a:noFill/>
          <a:ln/>
        </p:spPr>
        <p:txBody>
          <a:bodyPr wrap="square" lIns="0" tIns="0" rIns="0" bIns="0" rtlCol="0" anchor="ctr"/>
          <a:lstStyle/>
          <a:p>
            <a:pPr indent="0" marL="0">
              <a:buNone/>
            </a:pPr>
            <a:r>
              <a:rPr lang="en-US" sz="1230" dirty="0">
                <a:solidFill>
                  <a:srgbClr val="222222"/>
                </a:solidFill>
                <a:latin typeface="Calibri" pitchFamily="34" charset="0"/>
                <a:ea typeface="Calibri" pitchFamily="34" charset="-122"/>
                <a:cs typeface="Calibri" pitchFamily="34" charset="-120"/>
              </a:rPr>
              <a:t>A Hit That Reacts: Two New Visual Touches</a:t>
            </a:r>
            <a:endParaRPr lang="en-US" sz="1230" dirty="0"/>
          </a:p>
        </p:txBody>
      </p:sp>
      <p:sp>
        <p:nvSpPr>
          <p:cNvPr id="11" name="Shape 7"/>
          <p:cNvSpPr/>
          <p:nvPr/>
        </p:nvSpPr>
        <p:spPr>
          <a:xfrm>
            <a:off x="548640" y="2487168"/>
            <a:ext cx="11064240" cy="512064"/>
          </a:xfrm>
          <a:prstGeom prst="roundRect">
            <a:avLst>
              <a:gd name="adj" fmla="val 14286"/>
            </a:avLst>
          </a:prstGeom>
          <a:solidFill>
            <a:srgbClr val="FFFFFF"/>
          </a:solidFill>
          <a:ln w="12700">
            <a:solidFill>
              <a:srgbClr val="DCE3EC"/>
            </a:solidFill>
            <a:prstDash val="solid"/>
          </a:ln>
        </p:spPr>
      </p:sp>
      <p:sp>
        <p:nvSpPr>
          <p:cNvPr id="12" name="Text 8"/>
          <p:cNvSpPr/>
          <p:nvPr/>
        </p:nvSpPr>
        <p:spPr>
          <a:xfrm>
            <a:off x="822960" y="2487168"/>
            <a:ext cx="2103120" cy="512064"/>
          </a:xfrm>
          <a:prstGeom prst="rect">
            <a:avLst/>
          </a:prstGeom>
          <a:noFill/>
          <a:ln/>
        </p:spPr>
        <p:txBody>
          <a:bodyPr wrap="square" lIns="0" tIns="0" rIns="0" bIns="0" rtlCol="0" anchor="ctr"/>
          <a:lstStyle/>
          <a:p>
            <a:pPr indent="0" marL="0">
              <a:buNone/>
            </a:pPr>
            <a:r>
              <a:rPr lang="en-US" sz="1300" b="1" dirty="0">
                <a:solidFill>
                  <a:srgbClr val="1C4A86"/>
                </a:solidFill>
                <a:latin typeface="Calibri" pitchFamily="34" charset="0"/>
                <a:ea typeface="Calibri" pitchFamily="34" charset="-122"/>
                <a:cs typeface="Calibri" pitchFamily="34" charset="-120"/>
              </a:rPr>
              <a:t>0:15 - 0:40</a:t>
            </a:r>
            <a:endParaRPr lang="en-US" sz="1300" dirty="0"/>
          </a:p>
        </p:txBody>
      </p:sp>
      <p:sp>
        <p:nvSpPr>
          <p:cNvPr id="13" name="Text 9"/>
          <p:cNvSpPr/>
          <p:nvPr/>
        </p:nvSpPr>
        <p:spPr>
          <a:xfrm>
            <a:off x="3017520" y="2487168"/>
            <a:ext cx="8412480" cy="512064"/>
          </a:xfrm>
          <a:prstGeom prst="rect">
            <a:avLst/>
          </a:prstGeom>
          <a:noFill/>
          <a:ln/>
        </p:spPr>
        <p:txBody>
          <a:bodyPr wrap="square" lIns="0" tIns="0" rIns="0" bIns="0" rtlCol="0" anchor="ctr"/>
          <a:lstStyle/>
          <a:p>
            <a:pPr indent="0" marL="0">
              <a:buNone/>
            </a:pPr>
            <a:r>
              <a:rPr lang="en-US" sz="1230" dirty="0">
                <a:solidFill>
                  <a:srgbClr val="222222"/>
                </a:solidFill>
                <a:latin typeface="Calibri" pitchFamily="34" charset="0"/>
                <a:ea typeface="Calibri" pitchFamily="34" charset="-122"/>
                <a:cs typeface="Calibri" pitchFamily="34" charset="-120"/>
              </a:rPr>
              <a:t>Pausing Mid-Script: Three Engine Families, Three Solutions</a:t>
            </a:r>
            <a:endParaRPr lang="en-US" sz="1230" dirty="0"/>
          </a:p>
        </p:txBody>
      </p:sp>
      <p:sp>
        <p:nvSpPr>
          <p:cNvPr id="14" name="Shape 10"/>
          <p:cNvSpPr/>
          <p:nvPr/>
        </p:nvSpPr>
        <p:spPr>
          <a:xfrm>
            <a:off x="548640" y="3090672"/>
            <a:ext cx="11064240" cy="512064"/>
          </a:xfrm>
          <a:prstGeom prst="roundRect">
            <a:avLst>
              <a:gd name="adj" fmla="val 14286"/>
            </a:avLst>
          </a:prstGeom>
          <a:solidFill>
            <a:srgbClr val="FFFFFF"/>
          </a:solidFill>
          <a:ln w="12700">
            <a:solidFill>
              <a:srgbClr val="DCE3EC"/>
            </a:solidFill>
            <a:prstDash val="solid"/>
          </a:ln>
        </p:spPr>
      </p:sp>
      <p:sp>
        <p:nvSpPr>
          <p:cNvPr id="15" name="Text 11"/>
          <p:cNvSpPr/>
          <p:nvPr/>
        </p:nvSpPr>
        <p:spPr>
          <a:xfrm>
            <a:off x="822960" y="3090672"/>
            <a:ext cx="2103120" cy="512064"/>
          </a:xfrm>
          <a:prstGeom prst="rect">
            <a:avLst/>
          </a:prstGeom>
          <a:noFill/>
          <a:ln/>
        </p:spPr>
        <p:txBody>
          <a:bodyPr wrap="square" lIns="0" tIns="0" rIns="0" bIns="0" rtlCol="0" anchor="ctr"/>
          <a:lstStyle/>
          <a:p>
            <a:pPr indent="0" marL="0">
              <a:buNone/>
            </a:pPr>
            <a:r>
              <a:rPr lang="en-US" sz="1300" b="1" dirty="0">
                <a:solidFill>
                  <a:srgbClr val="1C4A86"/>
                </a:solidFill>
                <a:latin typeface="Calibri" pitchFamily="34" charset="0"/>
                <a:ea typeface="Calibri" pitchFamily="34" charset="-122"/>
                <a:cs typeface="Calibri" pitchFamily="34" charset="-120"/>
              </a:rPr>
              <a:t>0:40 - 0:50</a:t>
            </a:r>
            <a:endParaRPr lang="en-US" sz="1300" dirty="0"/>
          </a:p>
        </p:txBody>
      </p:sp>
      <p:sp>
        <p:nvSpPr>
          <p:cNvPr id="16" name="Text 12"/>
          <p:cNvSpPr/>
          <p:nvPr/>
        </p:nvSpPr>
        <p:spPr>
          <a:xfrm>
            <a:off x="3017520" y="3090672"/>
            <a:ext cx="8412480" cy="512064"/>
          </a:xfrm>
          <a:prstGeom prst="rect">
            <a:avLst/>
          </a:prstGeom>
          <a:noFill/>
          <a:ln/>
        </p:spPr>
        <p:txBody>
          <a:bodyPr wrap="square" lIns="0" tIns="0" rIns="0" bIns="0" rtlCol="0" anchor="ctr"/>
          <a:lstStyle/>
          <a:p>
            <a:pPr indent="0" marL="0">
              <a:buNone/>
            </a:pPr>
            <a:r>
              <a:rPr lang="en-US" sz="1230" dirty="0">
                <a:solidFill>
                  <a:srgbClr val="222222"/>
                </a:solidFill>
                <a:latin typeface="Calibri" pitchFamily="34" charset="0"/>
                <a:ea typeface="Calibri" pitchFamily="34" charset="-122"/>
                <a:cs typeface="Calibri" pitchFamily="34" charset="-120"/>
              </a:rPr>
              <a:t>An Explosion That Minds Its Own Business</a:t>
            </a:r>
            <a:endParaRPr lang="en-US" sz="1230" dirty="0"/>
          </a:p>
        </p:txBody>
      </p:sp>
      <p:sp>
        <p:nvSpPr>
          <p:cNvPr id="17" name="Shape 13"/>
          <p:cNvSpPr/>
          <p:nvPr/>
        </p:nvSpPr>
        <p:spPr>
          <a:xfrm>
            <a:off x="548640" y="3694176"/>
            <a:ext cx="11064240" cy="512064"/>
          </a:xfrm>
          <a:prstGeom prst="roundRect">
            <a:avLst>
              <a:gd name="adj" fmla="val 14286"/>
            </a:avLst>
          </a:prstGeom>
          <a:solidFill>
            <a:srgbClr val="FFFFFF"/>
          </a:solidFill>
          <a:ln w="12700">
            <a:solidFill>
              <a:srgbClr val="DCE3EC"/>
            </a:solidFill>
            <a:prstDash val="solid"/>
          </a:ln>
        </p:spPr>
      </p:sp>
      <p:sp>
        <p:nvSpPr>
          <p:cNvPr id="18" name="Text 14"/>
          <p:cNvSpPr/>
          <p:nvPr/>
        </p:nvSpPr>
        <p:spPr>
          <a:xfrm>
            <a:off x="822960" y="3694176"/>
            <a:ext cx="2103120" cy="512064"/>
          </a:xfrm>
          <a:prstGeom prst="rect">
            <a:avLst/>
          </a:prstGeom>
          <a:noFill/>
          <a:ln/>
        </p:spPr>
        <p:txBody>
          <a:bodyPr wrap="square" lIns="0" tIns="0" rIns="0" bIns="0" rtlCol="0" anchor="ctr"/>
          <a:lstStyle/>
          <a:p>
            <a:pPr indent="0" marL="0">
              <a:buNone/>
            </a:pPr>
            <a:r>
              <a:rPr lang="en-US" sz="1300" b="1" dirty="0">
                <a:solidFill>
                  <a:srgbClr val="1C4A86"/>
                </a:solidFill>
                <a:latin typeface="Calibri" pitchFamily="34" charset="0"/>
                <a:ea typeface="Calibri" pitchFamily="34" charset="-122"/>
                <a:cs typeface="Calibri" pitchFamily="34" charset="-120"/>
              </a:rPr>
              <a:t>0:50 - 0:55</a:t>
            </a:r>
            <a:endParaRPr lang="en-US" sz="1300" dirty="0"/>
          </a:p>
        </p:txBody>
      </p:sp>
      <p:sp>
        <p:nvSpPr>
          <p:cNvPr id="19" name="Text 15"/>
          <p:cNvSpPr/>
          <p:nvPr/>
        </p:nvSpPr>
        <p:spPr>
          <a:xfrm>
            <a:off x="3017520" y="3694176"/>
            <a:ext cx="8412480" cy="512064"/>
          </a:xfrm>
          <a:prstGeom prst="rect">
            <a:avLst/>
          </a:prstGeom>
          <a:noFill/>
          <a:ln/>
        </p:spPr>
        <p:txBody>
          <a:bodyPr wrap="square" lIns="0" tIns="0" rIns="0" bIns="0" rtlCol="0" anchor="ctr"/>
          <a:lstStyle/>
          <a:p>
            <a:pPr indent="0" marL="0">
              <a:buNone/>
            </a:pPr>
            <a:r>
              <a:rPr lang="en-US" sz="1230" dirty="0">
                <a:solidFill>
                  <a:srgbClr val="222222"/>
                </a:solidFill>
                <a:latin typeface="Calibri" pitchFamily="34" charset="0"/>
                <a:ea typeface="Calibri" pitchFamily="34" charset="-122"/>
                <a:cs typeface="Calibri" pitchFamily="34" charset="-120"/>
              </a:rPr>
              <a:t>Introduce lab exercise, hand out engine-specific handouts</a:t>
            </a:r>
            <a:endParaRPr lang="en-US" sz="1230" dirty="0"/>
          </a:p>
        </p:txBody>
      </p:sp>
      <p:sp>
        <p:nvSpPr>
          <p:cNvPr id="20" name="Shape 16"/>
          <p:cNvSpPr/>
          <p:nvPr/>
        </p:nvSpPr>
        <p:spPr>
          <a:xfrm>
            <a:off x="548640" y="4297680"/>
            <a:ext cx="11064240" cy="420624"/>
          </a:xfrm>
          <a:prstGeom prst="roundRect">
            <a:avLst>
              <a:gd name="adj" fmla="val 17391"/>
            </a:avLst>
          </a:prstGeom>
          <a:solidFill>
            <a:srgbClr val="C99A2E"/>
          </a:solidFill>
          <a:ln w="12700">
            <a:solidFill>
              <a:srgbClr val="DCE3EC"/>
            </a:solidFill>
            <a:prstDash val="solid"/>
          </a:ln>
        </p:spPr>
      </p:sp>
      <p:sp>
        <p:nvSpPr>
          <p:cNvPr id="21" name="Text 17"/>
          <p:cNvSpPr/>
          <p:nvPr/>
        </p:nvSpPr>
        <p:spPr>
          <a:xfrm>
            <a:off x="822960" y="4297680"/>
            <a:ext cx="2103120" cy="420624"/>
          </a:xfrm>
          <a:prstGeom prst="rect">
            <a:avLst/>
          </a:prstGeom>
          <a:noFill/>
          <a:ln/>
        </p:spPr>
        <p:txBody>
          <a:bodyPr wrap="square" lIns="0" tIns="0" rIns="0" bIns="0" rtlCol="0" anchor="ctr"/>
          <a:lstStyle/>
          <a:p>
            <a:pPr indent="0" marL="0">
              <a:buNone/>
            </a:pPr>
            <a:r>
              <a:rPr lang="en-US" sz="1250" b="1" dirty="0">
                <a:solidFill>
                  <a:srgbClr val="16305C"/>
                </a:solidFill>
                <a:latin typeface="Calibri" pitchFamily="34" charset="0"/>
                <a:ea typeface="Calibri" pitchFamily="34" charset="-122"/>
                <a:cs typeface="Calibri" pitchFamily="34" charset="-120"/>
              </a:rPr>
              <a:t>LAB TIME</a:t>
            </a:r>
            <a:endParaRPr lang="en-US" sz="1250" dirty="0"/>
          </a:p>
        </p:txBody>
      </p:sp>
      <p:sp>
        <p:nvSpPr>
          <p:cNvPr id="22" name="Text 18"/>
          <p:cNvSpPr/>
          <p:nvPr/>
        </p:nvSpPr>
        <p:spPr>
          <a:xfrm>
            <a:off x="3017520" y="4297680"/>
            <a:ext cx="8412480" cy="420624"/>
          </a:xfrm>
          <a:prstGeom prst="rect">
            <a:avLst/>
          </a:prstGeom>
          <a:noFill/>
          <a:ln/>
        </p:spPr>
        <p:txBody>
          <a:bodyPr wrap="square" lIns="0" tIns="0" rIns="0" bIns="0" rtlCol="0" anchor="ctr"/>
          <a:lstStyle/>
          <a:p>
            <a:pPr indent="0" marL="0">
              <a:buNone/>
            </a:pPr>
            <a:r>
              <a:rPr lang="en-US" sz="1250" b="1" i="1" dirty="0">
                <a:solidFill>
                  <a:srgbClr val="16305C"/>
                </a:solidFill>
                <a:latin typeface="Calibri" pitchFamily="34" charset="0"/>
                <a:ea typeface="Calibri" pitchFamily="34" charset="-122"/>
                <a:cs typeface="Calibri" pitchFamily="34" charset="-120"/>
              </a:rPr>
              <a:t>— A Hit That Reacts —</a:t>
            </a:r>
            <a:endParaRPr lang="en-US" sz="1250" dirty="0"/>
          </a:p>
        </p:txBody>
      </p:sp>
      <p:sp>
        <p:nvSpPr>
          <p:cNvPr id="23" name="Shape 19"/>
          <p:cNvSpPr/>
          <p:nvPr/>
        </p:nvSpPr>
        <p:spPr>
          <a:xfrm>
            <a:off x="548640" y="4809744"/>
            <a:ext cx="11064240" cy="512064"/>
          </a:xfrm>
          <a:prstGeom prst="roundRect">
            <a:avLst>
              <a:gd name="adj" fmla="val 14286"/>
            </a:avLst>
          </a:prstGeom>
          <a:solidFill>
            <a:srgbClr val="FFFFFF"/>
          </a:solidFill>
          <a:ln w="12700">
            <a:solidFill>
              <a:srgbClr val="DCE3EC"/>
            </a:solidFill>
            <a:prstDash val="solid"/>
          </a:ln>
        </p:spPr>
      </p:sp>
      <p:sp>
        <p:nvSpPr>
          <p:cNvPr id="24" name="Text 20"/>
          <p:cNvSpPr/>
          <p:nvPr/>
        </p:nvSpPr>
        <p:spPr>
          <a:xfrm>
            <a:off x="822960" y="4809744"/>
            <a:ext cx="2103120" cy="512064"/>
          </a:xfrm>
          <a:prstGeom prst="rect">
            <a:avLst/>
          </a:prstGeom>
          <a:noFill/>
          <a:ln/>
        </p:spPr>
        <p:txBody>
          <a:bodyPr wrap="square" lIns="0" tIns="0" rIns="0" bIns="0" rtlCol="0" anchor="ctr"/>
          <a:lstStyle/>
          <a:p>
            <a:pPr indent="0" marL="0">
              <a:buNone/>
            </a:pPr>
            <a:r>
              <a:rPr lang="en-US" sz="1300" b="1" dirty="0">
                <a:solidFill>
                  <a:srgbClr val="1C4A86"/>
                </a:solidFill>
                <a:latin typeface="Calibri" pitchFamily="34" charset="0"/>
                <a:ea typeface="Calibri" pitchFamily="34" charset="-122"/>
                <a:cs typeface="Calibri" pitchFamily="34" charset="-120"/>
              </a:rPr>
              <a:t>0:55 - 1:50</a:t>
            </a:r>
            <a:endParaRPr lang="en-US" sz="1300" dirty="0"/>
          </a:p>
        </p:txBody>
      </p:sp>
      <p:sp>
        <p:nvSpPr>
          <p:cNvPr id="25" name="Text 21"/>
          <p:cNvSpPr/>
          <p:nvPr/>
        </p:nvSpPr>
        <p:spPr>
          <a:xfrm>
            <a:off x="3017520" y="4809744"/>
            <a:ext cx="8412480" cy="512064"/>
          </a:xfrm>
          <a:prstGeom prst="rect">
            <a:avLst/>
          </a:prstGeom>
          <a:noFill/>
          <a:ln/>
        </p:spPr>
        <p:txBody>
          <a:bodyPr wrap="square" lIns="0" tIns="0" rIns="0" bIns="0" rtlCol="0" anchor="ctr"/>
          <a:lstStyle/>
          <a:p>
            <a:pPr indent="0" marL="0">
              <a:buNone/>
            </a:pPr>
            <a:r>
              <a:rPr lang="en-US" sz="1230" dirty="0">
                <a:solidFill>
                  <a:srgbClr val="222222"/>
                </a:solidFill>
                <a:latin typeface="Calibri" pitchFamily="34" charset="0"/>
                <a:ea typeface="Calibri" pitchFamily="34" charset="-122"/>
                <a:cs typeface="Calibri" pitchFamily="34" charset="-120"/>
              </a:rPr>
              <a:t>Wire up the flash and explosion, verify game logic unchanged</a:t>
            </a:r>
            <a:endParaRPr lang="en-US" sz="1230" dirty="0"/>
          </a:p>
        </p:txBody>
      </p:sp>
      <p:sp>
        <p:nvSpPr>
          <p:cNvPr id="26" name="Shape 22"/>
          <p:cNvSpPr/>
          <p:nvPr/>
        </p:nvSpPr>
        <p:spPr>
          <a:xfrm>
            <a:off x="548640" y="5413248"/>
            <a:ext cx="11064240" cy="512064"/>
          </a:xfrm>
          <a:prstGeom prst="roundRect">
            <a:avLst>
              <a:gd name="adj" fmla="val 14286"/>
            </a:avLst>
          </a:prstGeom>
          <a:solidFill>
            <a:srgbClr val="FFFFFF"/>
          </a:solidFill>
          <a:ln w="12700">
            <a:solidFill>
              <a:srgbClr val="DCE3EC"/>
            </a:solidFill>
            <a:prstDash val="solid"/>
          </a:ln>
        </p:spPr>
      </p:sp>
      <p:sp>
        <p:nvSpPr>
          <p:cNvPr id="27" name="Text 23"/>
          <p:cNvSpPr/>
          <p:nvPr/>
        </p:nvSpPr>
        <p:spPr>
          <a:xfrm>
            <a:off x="822960" y="5413248"/>
            <a:ext cx="2103120" cy="512064"/>
          </a:xfrm>
          <a:prstGeom prst="rect">
            <a:avLst/>
          </a:prstGeom>
          <a:noFill/>
          <a:ln/>
        </p:spPr>
        <p:txBody>
          <a:bodyPr wrap="square" lIns="0" tIns="0" rIns="0" bIns="0" rtlCol="0" anchor="ctr"/>
          <a:lstStyle/>
          <a:p>
            <a:pPr indent="0" marL="0">
              <a:buNone/>
            </a:pPr>
            <a:r>
              <a:rPr lang="en-US" sz="1300" b="1" dirty="0">
                <a:solidFill>
                  <a:srgbClr val="1C4A86"/>
                </a:solidFill>
                <a:latin typeface="Calibri" pitchFamily="34" charset="0"/>
                <a:ea typeface="Calibri" pitchFamily="34" charset="-122"/>
                <a:cs typeface="Calibri" pitchFamily="34" charset="-120"/>
              </a:rPr>
              <a:t>1:50 - 2:00</a:t>
            </a:r>
            <a:endParaRPr lang="en-US" sz="1300" dirty="0"/>
          </a:p>
        </p:txBody>
      </p:sp>
      <p:sp>
        <p:nvSpPr>
          <p:cNvPr id="28" name="Text 24"/>
          <p:cNvSpPr/>
          <p:nvPr/>
        </p:nvSpPr>
        <p:spPr>
          <a:xfrm>
            <a:off x="3017520" y="5413248"/>
            <a:ext cx="8412480" cy="512064"/>
          </a:xfrm>
          <a:prstGeom prst="rect">
            <a:avLst/>
          </a:prstGeom>
          <a:noFill/>
          <a:ln/>
        </p:spPr>
        <p:txBody>
          <a:bodyPr wrap="square" lIns="0" tIns="0" rIns="0" bIns="0" rtlCol="0" anchor="ctr"/>
          <a:lstStyle/>
          <a:p>
            <a:pPr indent="0" marL="0">
              <a:buNone/>
            </a:pPr>
            <a:r>
              <a:rPr lang="en-US" sz="1230" dirty="0">
                <a:solidFill>
                  <a:srgbClr val="222222"/>
                </a:solidFill>
                <a:latin typeface="Calibri" pitchFamily="34" charset="0"/>
                <a:ea typeface="Calibri" pitchFamily="34" charset="-122"/>
                <a:cs typeface="Calibri" pitchFamily="34" charset="-120"/>
              </a:rPr>
              <a:t>Exit check: best explosion wins bragging rights</a:t>
            </a:r>
            <a:endParaRPr lang="en-US" sz="1230" dirty="0"/>
          </a:p>
        </p:txBody>
      </p:sp>
      <p:sp>
        <p:nvSpPr>
          <p:cNvPr id="29" name="Text 25"/>
          <p:cNvSpPr/>
          <p:nvPr/>
        </p:nvSpPr>
        <p:spPr>
          <a:xfrm>
            <a:off x="457200" y="6528816"/>
            <a:ext cx="4572000" cy="274320"/>
          </a:xfrm>
          <a:prstGeom prst="rect">
            <a:avLst/>
          </a:prstGeom>
          <a:noFill/>
          <a:ln/>
        </p:spPr>
        <p:txBody>
          <a:bodyPr wrap="square" lIns="0" tIns="0" rIns="0" bIns="0" rtlCol="0" anchor="ctr"/>
          <a:lstStyle/>
          <a:p>
            <a:pPr indent="0" marL="0">
              <a:buNone/>
            </a:pPr>
            <a:r>
              <a:rPr lang="en-US" sz="1000" b="1" spc="200" kern="0" dirty="0">
                <a:solidFill>
                  <a:srgbClr val="5A6472"/>
                </a:solidFill>
                <a:latin typeface="Calibri" pitchFamily="34" charset="0"/>
                <a:ea typeface="Calibri" pitchFamily="34" charset="-122"/>
                <a:cs typeface="Calibri" pitchFamily="34" charset="-120"/>
              </a:rPr>
              <a:t>VIDEO GAME CREATION</a:t>
            </a:r>
            <a:endParaRPr lang="en-US" sz="1000" dirty="0"/>
          </a:p>
        </p:txBody>
      </p:sp>
      <p:sp>
        <p:nvSpPr>
          <p:cNvPr id="30" name="Text 26"/>
          <p:cNvSpPr/>
          <p:nvPr/>
        </p:nvSpPr>
        <p:spPr>
          <a:xfrm>
            <a:off x="10088575" y="6528816"/>
            <a:ext cx="1371600" cy="274320"/>
          </a:xfrm>
          <a:prstGeom prst="rect">
            <a:avLst/>
          </a:prstGeom>
          <a:noFill/>
          <a:ln/>
        </p:spPr>
        <p:txBody>
          <a:bodyPr wrap="square" lIns="0" tIns="0" rIns="0" bIns="0" rtlCol="0" anchor="ctr"/>
          <a:lstStyle/>
          <a:p>
            <a:pPr algn="r" indent="0" marL="0">
              <a:buNone/>
            </a:pPr>
            <a:r>
              <a:rPr lang="en-US" sz="1000" dirty="0">
                <a:solidFill>
                  <a:srgbClr val="5A6472"/>
                </a:solidFill>
                <a:latin typeface="Calibri" pitchFamily="34" charset="0"/>
                <a:ea typeface="Calibri" pitchFamily="34" charset="-122"/>
                <a:cs typeface="Calibri" pitchFamily="34" charset="-120"/>
              </a:rPr>
              <a:t>Lesson 13</a:t>
            </a:r>
            <a:endParaRPr lang="en-US" sz="1000" dirty="0"/>
          </a:p>
        </p:txBody>
      </p:sp>
      <p:sp>
        <p:nvSpPr>
          <p:cNvPr id="31" name="Text 27"/>
          <p:cNvSpPr/>
          <p:nvPr/>
        </p:nvSpPr>
        <p:spPr>
          <a:xfrm>
            <a:off x="11505895" y="6528816"/>
            <a:ext cx="411480" cy="274320"/>
          </a:xfrm>
          <a:prstGeom prst="rect">
            <a:avLst/>
          </a:prstGeom>
          <a:noFill/>
          <a:ln/>
        </p:spPr>
        <p:txBody>
          <a:bodyPr wrap="square" lIns="0" tIns="0" rIns="0" bIns="0" rtlCol="0" anchor="ctr"/>
          <a:lstStyle/>
          <a:p>
            <a:pPr algn="r" indent="0" marL="0">
              <a:buNone/>
            </a:pPr>
            <a:r>
              <a:rPr lang="en-US" sz="1000" dirty="0">
                <a:solidFill>
                  <a:srgbClr val="5A6472"/>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bg_title_book.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2834640" y="2377440"/>
            <a:ext cx="8412480" cy="914400"/>
          </a:xfrm>
          <a:prstGeom prst="rect">
            <a:avLst/>
          </a:prstGeom>
          <a:noFill/>
          <a:ln/>
        </p:spPr>
        <p:txBody>
          <a:bodyPr wrap="square" lIns="0" tIns="0" rIns="0" bIns="0" rtlCol="0" anchor="ctr"/>
          <a:lstStyle/>
          <a:p>
            <a:pPr indent="0" marL="0">
              <a:buNone/>
            </a:pPr>
            <a:r>
              <a:rPr lang="en-US" sz="4000" b="1" dirty="0">
                <a:solidFill>
                  <a:srgbClr val="E8C25A"/>
                </a:solidFill>
                <a:latin typeface="Cambria" pitchFamily="34" charset="0"/>
                <a:ea typeface="Cambria" pitchFamily="34" charset="-122"/>
                <a:cs typeface="Cambria" pitchFamily="34" charset="-120"/>
              </a:rPr>
              <a:t>Welcome Back</a:t>
            </a:r>
            <a:endParaRPr lang="en-US" sz="4000" dirty="0"/>
          </a:p>
        </p:txBody>
      </p:sp>
      <p:sp>
        <p:nvSpPr>
          <p:cNvPr id="4" name="Text 1"/>
          <p:cNvSpPr/>
          <p:nvPr/>
        </p:nvSpPr>
        <p:spPr>
          <a:xfrm>
            <a:off x="2880360" y="3337560"/>
            <a:ext cx="8229600" cy="640080"/>
          </a:xfrm>
          <a:prstGeom prst="rect">
            <a:avLst/>
          </a:prstGeom>
          <a:noFill/>
          <a:ln/>
        </p:spPr>
        <p:txBody>
          <a:bodyPr wrap="square" lIns="0" tIns="0" rIns="0" bIns="0" rtlCol="0" anchor="ctr"/>
          <a:lstStyle/>
          <a:p>
            <a:pPr indent="0" marL="0">
              <a:buNone/>
            </a:pPr>
            <a:r>
              <a:rPr lang="en-US" sz="1600" dirty="0">
                <a:solidFill>
                  <a:srgbClr val="F4F0E6"/>
                </a:solidFill>
                <a:latin typeface="Calibri" pitchFamily="34" charset="0"/>
                <a:ea typeface="Calibri" pitchFamily="34" charset="-122"/>
                <a:cs typeface="Calibri" pitchFamily="34" charset="-120"/>
              </a:rPr>
              <a:t>Your game has a voice. Now it gets a body.</a:t>
            </a:r>
            <a:endParaRPr lang="en-US" sz="1600" dirty="0"/>
          </a:p>
        </p:txBody>
      </p:sp>
      <p:sp>
        <p:nvSpPr>
          <p:cNvPr id="5" name="Shape 2"/>
          <p:cNvSpPr/>
          <p:nvPr/>
        </p:nvSpPr>
        <p:spPr>
          <a:xfrm>
            <a:off x="2880360" y="3977640"/>
            <a:ext cx="1371600" cy="347472"/>
          </a:xfrm>
          <a:prstGeom prst="roundRect">
            <a:avLst>
              <a:gd name="adj" fmla="val 50000"/>
            </a:avLst>
          </a:prstGeom>
          <a:solidFill>
            <a:srgbClr val="0F2C52"/>
          </a:solidFill>
          <a:ln w="12700">
            <a:solidFill>
              <a:srgbClr val="C99A2E"/>
            </a:solidFill>
            <a:prstDash val="solid"/>
          </a:ln>
        </p:spPr>
      </p:sp>
      <p:sp>
        <p:nvSpPr>
          <p:cNvPr id="6" name="Text 3"/>
          <p:cNvSpPr/>
          <p:nvPr/>
        </p:nvSpPr>
        <p:spPr>
          <a:xfrm>
            <a:off x="2880360" y="3977640"/>
            <a:ext cx="1371600" cy="347472"/>
          </a:xfrm>
          <a:prstGeom prst="rect">
            <a:avLst/>
          </a:prstGeom>
          <a:noFill/>
          <a:ln/>
        </p:spPr>
        <p:txBody>
          <a:bodyPr wrap="square" lIns="0" tIns="0" rIns="0" bIns="0" rtlCol="0" anchor="ctr"/>
          <a:lstStyle/>
          <a:p>
            <a:pPr algn="ctr" indent="0" marL="0">
              <a:buNone/>
            </a:pPr>
            <a:r>
              <a:rPr lang="en-US" sz="1200" b="1" dirty="0">
                <a:solidFill>
                  <a:srgbClr val="E8C25A"/>
                </a:solidFill>
                <a:latin typeface="Calibri" pitchFamily="34" charset="0"/>
                <a:ea typeface="Calibri" pitchFamily="34" charset="-122"/>
                <a:cs typeface="Calibri" pitchFamily="34" charset="-120"/>
              </a:rPr>
              <a:t>5 min</a:t>
            </a:r>
            <a:endParaRPr lang="en-US" sz="1200" dirty="0"/>
          </a:p>
        </p:txBody>
      </p:sp>
      <p:sp>
        <p:nvSpPr>
          <p:cNvPr id="7" name="Text 4"/>
          <p:cNvSpPr/>
          <p:nvPr/>
        </p:nvSpPr>
        <p:spPr>
          <a:xfrm>
            <a:off x="457200" y="6528816"/>
            <a:ext cx="4572000" cy="274320"/>
          </a:xfrm>
          <a:prstGeom prst="rect">
            <a:avLst/>
          </a:prstGeom>
          <a:noFill/>
          <a:ln/>
        </p:spPr>
        <p:txBody>
          <a:bodyPr wrap="square" lIns="0" tIns="0" rIns="0" bIns="0" rtlCol="0" anchor="ctr"/>
          <a:lstStyle/>
          <a:p>
            <a:pPr indent="0" marL="0">
              <a:buNone/>
            </a:pPr>
            <a:r>
              <a:rPr lang="en-US" sz="1000" b="1" spc="200" kern="0" dirty="0">
                <a:solidFill>
                  <a:srgbClr val="E8C25A"/>
                </a:solidFill>
                <a:latin typeface="Calibri" pitchFamily="34" charset="0"/>
                <a:ea typeface="Calibri" pitchFamily="34" charset="-122"/>
                <a:cs typeface="Calibri" pitchFamily="34" charset="-120"/>
              </a:rPr>
              <a:t>VIDEO GAME CREATION</a:t>
            </a:r>
            <a:endParaRPr lang="en-US" sz="1000" dirty="0"/>
          </a:p>
        </p:txBody>
      </p:sp>
      <p:sp>
        <p:nvSpPr>
          <p:cNvPr id="8" name="Text 5"/>
          <p:cNvSpPr/>
          <p:nvPr/>
        </p:nvSpPr>
        <p:spPr>
          <a:xfrm>
            <a:off x="10088575" y="6528816"/>
            <a:ext cx="1371600" cy="274320"/>
          </a:xfrm>
          <a:prstGeom prst="rect">
            <a:avLst/>
          </a:prstGeom>
          <a:noFill/>
          <a:ln/>
        </p:spPr>
        <p:txBody>
          <a:bodyPr wrap="square" lIns="0" tIns="0" rIns="0" bIns="0" rtlCol="0" anchor="ctr"/>
          <a:lstStyle/>
          <a:p>
            <a:pPr algn="r" indent="0" marL="0">
              <a:buNone/>
            </a:pPr>
            <a:r>
              <a:rPr lang="en-US" sz="1000" dirty="0">
                <a:solidFill>
                  <a:srgbClr val="E8C25A"/>
                </a:solidFill>
                <a:latin typeface="Calibri" pitchFamily="34" charset="0"/>
                <a:ea typeface="Calibri" pitchFamily="34" charset="-122"/>
                <a:cs typeface="Calibri" pitchFamily="34" charset="-120"/>
              </a:rPr>
              <a:t>Lesson 13</a:t>
            </a:r>
            <a:endParaRPr lang="en-US" sz="1000" dirty="0"/>
          </a:p>
        </p:txBody>
      </p:sp>
      <p:sp>
        <p:nvSpPr>
          <p:cNvPr id="9" name="Text 6"/>
          <p:cNvSpPr/>
          <p:nvPr/>
        </p:nvSpPr>
        <p:spPr>
          <a:xfrm>
            <a:off x="11505895" y="6528816"/>
            <a:ext cx="411480" cy="274320"/>
          </a:xfrm>
          <a:prstGeom prst="rect">
            <a:avLst/>
          </a:prstGeom>
          <a:noFill/>
          <a:ln/>
        </p:spPr>
        <p:txBody>
          <a:bodyPr wrap="square" lIns="0" tIns="0" rIns="0" bIns="0" rtlCol="0" anchor="ctr"/>
          <a:lstStyle/>
          <a:p>
            <a:pPr algn="r" indent="0" marL="0">
              <a:buNone/>
            </a:pPr>
            <a:r>
              <a:rPr lang="en-US" sz="1000" dirty="0">
                <a:solidFill>
                  <a:srgbClr val="E8C25A"/>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bg_content.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 y="411480"/>
            <a:ext cx="8686800" cy="640080"/>
          </a:xfrm>
          <a:prstGeom prst="rect">
            <a:avLst/>
          </a:prstGeom>
          <a:noFill/>
          <a:ln/>
        </p:spPr>
        <p:txBody>
          <a:bodyPr wrap="square" lIns="0" tIns="0" rIns="0" bIns="0" rtlCol="0" anchor="ctr"/>
          <a:lstStyle/>
          <a:p>
            <a:pPr indent="0" marL="0">
              <a:buNone/>
            </a:pPr>
            <a:r>
              <a:rPr lang="en-US" sz="3400" b="1" dirty="0">
                <a:solidFill>
                  <a:srgbClr val="1C4A86"/>
                </a:solidFill>
                <a:latin typeface="Cambria" pitchFamily="34" charset="0"/>
                <a:ea typeface="Cambria" pitchFamily="34" charset="-122"/>
                <a:cs typeface="Cambria" pitchFamily="34" charset="-120"/>
              </a:rPr>
              <a:t>Welcome Back</a:t>
            </a:r>
            <a:endParaRPr lang="en-US" sz="3400" dirty="0"/>
          </a:p>
        </p:txBody>
      </p:sp>
      <p:sp>
        <p:nvSpPr>
          <p:cNvPr id="4" name="Shape 1"/>
          <p:cNvSpPr/>
          <p:nvPr/>
        </p:nvSpPr>
        <p:spPr>
          <a:xfrm>
            <a:off x="10424160" y="457200"/>
            <a:ext cx="1188720" cy="347472"/>
          </a:xfrm>
          <a:prstGeom prst="roundRect">
            <a:avLst>
              <a:gd name="adj" fmla="val 50000"/>
            </a:avLst>
          </a:prstGeom>
          <a:solidFill>
            <a:srgbClr val="F4F0E6"/>
          </a:solidFill>
          <a:ln w="12700">
            <a:solidFill>
              <a:srgbClr val="C99A2E"/>
            </a:solidFill>
            <a:prstDash val="solid"/>
          </a:ln>
        </p:spPr>
      </p:sp>
      <p:sp>
        <p:nvSpPr>
          <p:cNvPr id="5" name="Text 2"/>
          <p:cNvSpPr/>
          <p:nvPr/>
        </p:nvSpPr>
        <p:spPr>
          <a:xfrm>
            <a:off x="10424160" y="457200"/>
            <a:ext cx="1188720" cy="347472"/>
          </a:xfrm>
          <a:prstGeom prst="rect">
            <a:avLst/>
          </a:prstGeom>
          <a:noFill/>
          <a:ln/>
        </p:spPr>
        <p:txBody>
          <a:bodyPr wrap="square" lIns="0" tIns="0" rIns="0" bIns="0" rtlCol="0" anchor="ctr"/>
          <a:lstStyle/>
          <a:p>
            <a:pPr algn="ctr" indent="0" marL="0">
              <a:buNone/>
            </a:pPr>
            <a:r>
              <a:rPr lang="en-US" sz="1200" b="1" dirty="0">
                <a:solidFill>
                  <a:srgbClr val="1C4A86"/>
                </a:solidFill>
                <a:latin typeface="Calibri" pitchFamily="34" charset="0"/>
                <a:ea typeface="Calibri" pitchFamily="34" charset="-122"/>
                <a:cs typeface="Calibri" pitchFamily="34" charset="-120"/>
              </a:rPr>
              <a:t>5 min</a:t>
            </a:r>
            <a:endParaRPr lang="en-US" sz="1200" dirty="0"/>
          </a:p>
        </p:txBody>
      </p:sp>
      <p:sp>
        <p:nvSpPr>
          <p:cNvPr id="6" name="Text 3"/>
          <p:cNvSpPr/>
          <p:nvPr/>
        </p:nvSpPr>
        <p:spPr>
          <a:xfrm>
            <a:off x="548640" y="1371600"/>
            <a:ext cx="10515600" cy="365760"/>
          </a:xfrm>
          <a:prstGeom prst="rect">
            <a:avLst/>
          </a:prstGeom>
          <a:noFill/>
          <a:ln/>
        </p:spPr>
        <p:txBody>
          <a:bodyPr wrap="square" lIns="0" tIns="0" rIns="0" bIns="0" rtlCol="0" anchor="ctr"/>
          <a:lstStyle/>
          <a:p>
            <a:pPr indent="0" marL="0">
              <a:buNone/>
            </a:pPr>
            <a:r>
              <a:rPr lang="en-US" sz="1600" b="1" dirty="0">
                <a:solidFill>
                  <a:srgbClr val="1C4A86"/>
                </a:solidFill>
                <a:latin typeface="Calibri" pitchFamily="34" charset="0"/>
                <a:ea typeface="Calibri" pitchFamily="34" charset="-122"/>
                <a:cs typeface="Calibri" pitchFamily="34" charset="-120"/>
              </a:rPr>
              <a:t>Quick recap of Lesson 12:</a:t>
            </a:r>
            <a:endParaRPr lang="en-US" sz="1600" dirty="0"/>
          </a:p>
        </p:txBody>
      </p:sp>
      <p:pic>
        <p:nvPicPr>
          <p:cNvPr id="7" name="Image 1" descr="icons/check.png">    </p:cNvPr>
          <p:cNvPicPr>
            <a:picLocks noChangeAspect="1"/>
          </p:cNvPicPr>
          <p:nvPr/>
        </p:nvPicPr>
        <p:blipFill>
          <a:blip r:embed="rId2"/>
          <a:stretch>
            <a:fillRect/>
          </a:stretch>
        </p:blipFill>
        <p:spPr>
          <a:xfrm>
            <a:off x="548640" y="1828800"/>
            <a:ext cx="365760" cy="365760"/>
          </a:xfrm>
          <a:prstGeom prst="rect">
            <a:avLst/>
          </a:prstGeom>
        </p:spPr>
      </p:pic>
      <p:sp>
        <p:nvSpPr>
          <p:cNvPr id="8" name="Text 4"/>
          <p:cNvSpPr/>
          <p:nvPr/>
        </p:nvSpPr>
        <p:spPr>
          <a:xfrm>
            <a:off x="1051560" y="1755648"/>
            <a:ext cx="10332720" cy="685800"/>
          </a:xfrm>
          <a:prstGeom prst="rect">
            <a:avLst/>
          </a:prstGeom>
          <a:noFill/>
          <a:ln/>
        </p:spPr>
        <p:txBody>
          <a:bodyPr wrap="square" lIns="0" tIns="0" rIns="0" bIns="0" rtlCol="0" anchor="ctr"/>
          <a:lstStyle/>
          <a:p>
            <a:pPr indent="0" marL="0">
              <a:buNone/>
            </a:pPr>
            <a:r>
              <a:rPr lang="en-US" sz="1500" dirty="0">
                <a:solidFill>
                  <a:srgbClr val="222222"/>
                </a:solidFill>
                <a:latin typeface="Calibri" pitchFamily="34" charset="0"/>
                <a:ea typeface="Calibri" pitchFamily="34" charset="-122"/>
                <a:cs typeface="Calibri" pitchFamily="34" charset="-120"/>
              </a:rPr>
              <a:t>Four sounds wired into their exact matching events</a:t>
            </a:r>
            <a:endParaRPr lang="en-US" sz="1500" dirty="0"/>
          </a:p>
        </p:txBody>
      </p:sp>
      <p:pic>
        <p:nvPicPr>
          <p:cNvPr id="9" name="Image 2" descr="icons/check.png">    </p:cNvPr>
          <p:cNvPicPr>
            <a:picLocks noChangeAspect="1"/>
          </p:cNvPicPr>
          <p:nvPr/>
        </p:nvPicPr>
        <p:blipFill>
          <a:blip r:embed="rId3"/>
          <a:stretch>
            <a:fillRect/>
          </a:stretch>
        </p:blipFill>
        <p:spPr>
          <a:xfrm>
            <a:off x="548640" y="2606040"/>
            <a:ext cx="365760" cy="365760"/>
          </a:xfrm>
          <a:prstGeom prst="rect">
            <a:avLst/>
          </a:prstGeom>
        </p:spPr>
      </p:pic>
      <p:sp>
        <p:nvSpPr>
          <p:cNvPr id="10" name="Text 5"/>
          <p:cNvSpPr/>
          <p:nvPr/>
        </p:nvSpPr>
        <p:spPr>
          <a:xfrm>
            <a:off x="1051560" y="2532888"/>
            <a:ext cx="10332720" cy="685800"/>
          </a:xfrm>
          <a:prstGeom prst="rect">
            <a:avLst/>
          </a:prstGeom>
          <a:noFill/>
          <a:ln/>
        </p:spPr>
        <p:txBody>
          <a:bodyPr wrap="square" lIns="0" tIns="0" rIns="0" bIns="0" rtlCol="0" anchor="ctr"/>
          <a:lstStyle/>
          <a:p>
            <a:pPr indent="0" marL="0">
              <a:buNone/>
            </a:pPr>
            <a:r>
              <a:rPr lang="en-US" sz="1500" dirty="0">
                <a:solidFill>
                  <a:srgbClr val="222222"/>
                </a:solidFill>
                <a:latin typeface="Calibri" pitchFamily="34" charset="0"/>
                <a:ea typeface="Calibri" pitchFamily="34" charset="-122"/>
                <a:cs typeface="Calibri" pitchFamily="34" charset="-120"/>
              </a:rPr>
              <a:t>Since Lesson 4, a hit just vanishes - functional, not satisfying</a:t>
            </a:r>
            <a:endParaRPr lang="en-US" sz="1500" dirty="0"/>
          </a:p>
        </p:txBody>
      </p:sp>
      <p:pic>
        <p:nvPicPr>
          <p:cNvPr id="11" name="Image 3" descr="icons/check.png">    </p:cNvPr>
          <p:cNvPicPr>
            <a:picLocks noChangeAspect="1"/>
          </p:cNvPicPr>
          <p:nvPr/>
        </p:nvPicPr>
        <p:blipFill>
          <a:blip r:embed="rId4"/>
          <a:stretch>
            <a:fillRect/>
          </a:stretch>
        </p:blipFill>
        <p:spPr>
          <a:xfrm>
            <a:off x="548640" y="3383280"/>
            <a:ext cx="365760" cy="365760"/>
          </a:xfrm>
          <a:prstGeom prst="rect">
            <a:avLst/>
          </a:prstGeom>
        </p:spPr>
      </p:pic>
      <p:sp>
        <p:nvSpPr>
          <p:cNvPr id="12" name="Text 6"/>
          <p:cNvSpPr/>
          <p:nvPr/>
        </p:nvSpPr>
        <p:spPr>
          <a:xfrm>
            <a:off x="1051560" y="3310128"/>
            <a:ext cx="10332720" cy="685800"/>
          </a:xfrm>
          <a:prstGeom prst="rect">
            <a:avLst/>
          </a:prstGeom>
          <a:noFill/>
          <a:ln/>
        </p:spPr>
        <p:txBody>
          <a:bodyPr wrap="square" lIns="0" tIns="0" rIns="0" bIns="0" rtlCol="0" anchor="ctr"/>
          <a:lstStyle/>
          <a:p>
            <a:pPr indent="0" marL="0">
              <a:buNone/>
            </a:pPr>
            <a:r>
              <a:rPr lang="en-US" sz="1500" dirty="0">
                <a:solidFill>
                  <a:srgbClr val="222222"/>
                </a:solidFill>
                <a:latin typeface="Calibri" pitchFamily="34" charset="0"/>
                <a:ea typeface="Calibri" pitchFamily="34" charset="-122"/>
                <a:cs typeface="Calibri" pitchFamily="34" charset="-120"/>
              </a:rPr>
              <a:t>Today: a brief flash, then a small explosion, before it disappears</a:t>
            </a:r>
            <a:endParaRPr lang="en-US" sz="1500" dirty="0"/>
          </a:p>
        </p:txBody>
      </p:sp>
      <p:sp>
        <p:nvSpPr>
          <p:cNvPr id="13" name="Shape 7"/>
          <p:cNvSpPr/>
          <p:nvPr/>
        </p:nvSpPr>
        <p:spPr>
          <a:xfrm>
            <a:off x="548640" y="4343400"/>
            <a:ext cx="11064240" cy="1371600"/>
          </a:xfrm>
          <a:prstGeom prst="roundRect">
            <a:avLst>
              <a:gd name="adj" fmla="val 8000"/>
            </a:avLst>
          </a:prstGeom>
          <a:solidFill>
            <a:srgbClr val="EDF2F8"/>
          </a:solidFill>
          <a:ln/>
        </p:spPr>
      </p:sp>
      <p:pic>
        <p:nvPicPr>
          <p:cNvPr id="14" name="Image 4" descr="icons/design.png">    </p:cNvPr>
          <p:cNvPicPr>
            <a:picLocks noChangeAspect="1"/>
          </p:cNvPicPr>
          <p:nvPr/>
        </p:nvPicPr>
        <p:blipFill>
          <a:blip r:embed="rId5"/>
          <a:stretch>
            <a:fillRect/>
          </a:stretch>
        </p:blipFill>
        <p:spPr>
          <a:xfrm>
            <a:off x="777240" y="4572000"/>
            <a:ext cx="548640" cy="548640"/>
          </a:xfrm>
          <a:prstGeom prst="rect">
            <a:avLst/>
          </a:prstGeom>
        </p:spPr>
      </p:pic>
      <p:sp>
        <p:nvSpPr>
          <p:cNvPr id="15" name="Text 8"/>
          <p:cNvSpPr/>
          <p:nvPr/>
        </p:nvSpPr>
        <p:spPr>
          <a:xfrm>
            <a:off x="1508760" y="4526280"/>
            <a:ext cx="9875520" cy="960120"/>
          </a:xfrm>
          <a:prstGeom prst="rect">
            <a:avLst/>
          </a:prstGeom>
          <a:noFill/>
          <a:ln/>
        </p:spPr>
        <p:txBody>
          <a:bodyPr wrap="square" lIns="0" tIns="0" rIns="0" bIns="0" rtlCol="0" anchor="ctr"/>
          <a:lstStyle/>
          <a:p>
            <a:pPr indent="0" marL="0">
              <a:buNone/>
            </a:pPr>
            <a:r>
              <a:rPr lang="en-US" sz="1400" dirty="0">
                <a:solidFill>
                  <a:srgbClr val="222222"/>
                </a:solidFill>
                <a:latin typeface="Calibri" pitchFamily="34" charset="0"/>
                <a:ea typeface="Calibri" pitchFamily="34" charset="-122"/>
                <a:cs typeface="Calibri" pitchFamily="34" charset="-120"/>
              </a:rPr>
              <a:t>Open your own project from last week today, not a new one. One new image is provided (explosion_placeholder.png) - Unreal students reuse existing shapes, TIC-80 students draw their own.</a:t>
            </a:r>
            <a:endParaRPr lang="en-US" sz="1400" dirty="0"/>
          </a:p>
        </p:txBody>
      </p:sp>
      <p:sp>
        <p:nvSpPr>
          <p:cNvPr id="17" name="Text 9"/>
          <p:cNvSpPr/>
          <p:nvPr/>
        </p:nvSpPr>
        <p:spPr>
          <a:xfrm>
            <a:off x="457200" y="6528816"/>
            <a:ext cx="4572000" cy="274320"/>
          </a:xfrm>
          <a:prstGeom prst="rect">
            <a:avLst/>
          </a:prstGeom>
          <a:noFill/>
          <a:ln/>
        </p:spPr>
        <p:txBody>
          <a:bodyPr wrap="square" lIns="0" tIns="0" rIns="0" bIns="0" rtlCol="0" anchor="ctr"/>
          <a:lstStyle/>
          <a:p>
            <a:pPr indent="0" marL="0">
              <a:buNone/>
            </a:pPr>
            <a:r>
              <a:rPr lang="en-US" sz="1000" b="1" spc="200" kern="0" dirty="0">
                <a:solidFill>
                  <a:srgbClr val="5A6472"/>
                </a:solidFill>
                <a:latin typeface="Calibri" pitchFamily="34" charset="0"/>
                <a:ea typeface="Calibri" pitchFamily="34" charset="-122"/>
                <a:cs typeface="Calibri" pitchFamily="34" charset="-120"/>
              </a:rPr>
              <a:t>VIDEO GAME CREATION</a:t>
            </a:r>
            <a:endParaRPr lang="en-US" sz="1000" dirty="0"/>
          </a:p>
        </p:txBody>
      </p:sp>
      <p:sp>
        <p:nvSpPr>
          <p:cNvPr id="18" name="Text 10"/>
          <p:cNvSpPr/>
          <p:nvPr/>
        </p:nvSpPr>
        <p:spPr>
          <a:xfrm>
            <a:off x="10088575" y="6528816"/>
            <a:ext cx="1371600" cy="274320"/>
          </a:xfrm>
          <a:prstGeom prst="rect">
            <a:avLst/>
          </a:prstGeom>
          <a:noFill/>
          <a:ln/>
        </p:spPr>
        <p:txBody>
          <a:bodyPr wrap="square" lIns="0" tIns="0" rIns="0" bIns="0" rtlCol="0" anchor="ctr"/>
          <a:lstStyle/>
          <a:p>
            <a:pPr algn="r" indent="0" marL="0">
              <a:buNone/>
            </a:pPr>
            <a:r>
              <a:rPr lang="en-US" sz="1000" dirty="0">
                <a:solidFill>
                  <a:srgbClr val="5A6472"/>
                </a:solidFill>
                <a:latin typeface="Calibri" pitchFamily="34" charset="0"/>
                <a:ea typeface="Calibri" pitchFamily="34" charset="-122"/>
                <a:cs typeface="Calibri" pitchFamily="34" charset="-120"/>
              </a:rPr>
              <a:t>Lesson 13</a:t>
            </a:r>
            <a:endParaRPr lang="en-US" sz="1000" dirty="0"/>
          </a:p>
        </p:txBody>
      </p:sp>
      <p:sp>
        <p:nvSpPr>
          <p:cNvPr id="19" name="Text 11"/>
          <p:cNvSpPr/>
          <p:nvPr/>
        </p:nvSpPr>
        <p:spPr>
          <a:xfrm>
            <a:off x="11505895" y="6528816"/>
            <a:ext cx="411480" cy="274320"/>
          </a:xfrm>
          <a:prstGeom prst="rect">
            <a:avLst/>
          </a:prstGeom>
          <a:noFill/>
          <a:ln/>
        </p:spPr>
        <p:txBody>
          <a:bodyPr wrap="square" lIns="0" tIns="0" rIns="0" bIns="0" rtlCol="0" anchor="ctr"/>
          <a:lstStyle/>
          <a:p>
            <a:pPr algn="r" indent="0" marL="0">
              <a:buNone/>
            </a:pPr>
            <a:r>
              <a:rPr lang="en-US" sz="1000" dirty="0">
                <a:solidFill>
                  <a:srgbClr val="5A6472"/>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bg_title_design.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2834640" y="2377440"/>
            <a:ext cx="8412480" cy="914400"/>
          </a:xfrm>
          <a:prstGeom prst="rect">
            <a:avLst/>
          </a:prstGeom>
          <a:noFill/>
          <a:ln/>
        </p:spPr>
        <p:txBody>
          <a:bodyPr wrap="square" lIns="0" tIns="0" rIns="0" bIns="0" rtlCol="0" anchor="ctr"/>
          <a:lstStyle/>
          <a:p>
            <a:pPr indent="0" marL="0">
              <a:buNone/>
            </a:pPr>
            <a:r>
              <a:rPr lang="en-US" sz="4000" b="1" dirty="0">
                <a:solidFill>
                  <a:srgbClr val="E8C25A"/>
                </a:solidFill>
                <a:latin typeface="Cambria" pitchFamily="34" charset="0"/>
                <a:ea typeface="Cambria" pitchFamily="34" charset="-122"/>
                <a:cs typeface="Cambria" pitchFamily="34" charset="-120"/>
              </a:rPr>
              <a:t>A Hit That Reacts</a:t>
            </a:r>
            <a:endParaRPr lang="en-US" sz="4000" dirty="0"/>
          </a:p>
        </p:txBody>
      </p:sp>
      <p:sp>
        <p:nvSpPr>
          <p:cNvPr id="4" name="Text 1"/>
          <p:cNvSpPr/>
          <p:nvPr/>
        </p:nvSpPr>
        <p:spPr>
          <a:xfrm>
            <a:off x="2880360" y="3337560"/>
            <a:ext cx="8229600" cy="640080"/>
          </a:xfrm>
          <a:prstGeom prst="rect">
            <a:avLst/>
          </a:prstGeom>
          <a:noFill/>
          <a:ln/>
        </p:spPr>
        <p:txBody>
          <a:bodyPr wrap="square" lIns="0" tIns="0" rIns="0" bIns="0" rtlCol="0" anchor="ctr"/>
          <a:lstStyle/>
          <a:p>
            <a:pPr indent="0" marL="0">
              <a:buNone/>
            </a:pPr>
            <a:r>
              <a:rPr lang="en-US" sz="1600" dirty="0">
                <a:solidFill>
                  <a:srgbClr val="F4F0E6"/>
                </a:solidFill>
                <a:latin typeface="Calibri" pitchFamily="34" charset="0"/>
                <a:ea typeface="Calibri" pitchFamily="34" charset="-122"/>
                <a:cs typeface="Calibri" pitchFamily="34" charset="-120"/>
              </a:rPr>
              <a:t>Two new visual touches - and one strict rule.</a:t>
            </a:r>
            <a:endParaRPr lang="en-US" sz="1600" dirty="0"/>
          </a:p>
        </p:txBody>
      </p:sp>
      <p:sp>
        <p:nvSpPr>
          <p:cNvPr id="5" name="Shape 2"/>
          <p:cNvSpPr/>
          <p:nvPr/>
        </p:nvSpPr>
        <p:spPr>
          <a:xfrm>
            <a:off x="2880360" y="3977640"/>
            <a:ext cx="1371600" cy="347472"/>
          </a:xfrm>
          <a:prstGeom prst="roundRect">
            <a:avLst>
              <a:gd name="adj" fmla="val 50000"/>
            </a:avLst>
          </a:prstGeom>
          <a:solidFill>
            <a:srgbClr val="0F2C52"/>
          </a:solidFill>
          <a:ln w="12700">
            <a:solidFill>
              <a:srgbClr val="C99A2E"/>
            </a:solidFill>
            <a:prstDash val="solid"/>
          </a:ln>
        </p:spPr>
      </p:sp>
      <p:sp>
        <p:nvSpPr>
          <p:cNvPr id="6" name="Text 3"/>
          <p:cNvSpPr/>
          <p:nvPr/>
        </p:nvSpPr>
        <p:spPr>
          <a:xfrm>
            <a:off x="2880360" y="3977640"/>
            <a:ext cx="1371600" cy="347472"/>
          </a:xfrm>
          <a:prstGeom prst="rect">
            <a:avLst/>
          </a:prstGeom>
          <a:noFill/>
          <a:ln/>
        </p:spPr>
        <p:txBody>
          <a:bodyPr wrap="square" lIns="0" tIns="0" rIns="0" bIns="0" rtlCol="0" anchor="ctr"/>
          <a:lstStyle/>
          <a:p>
            <a:pPr algn="ctr" indent="0" marL="0">
              <a:buNone/>
            </a:pPr>
            <a:r>
              <a:rPr lang="en-US" sz="1200" b="1" dirty="0">
                <a:solidFill>
                  <a:srgbClr val="E8C25A"/>
                </a:solidFill>
                <a:latin typeface="Calibri" pitchFamily="34" charset="0"/>
                <a:ea typeface="Calibri" pitchFamily="34" charset="-122"/>
                <a:cs typeface="Calibri" pitchFamily="34" charset="-120"/>
              </a:rPr>
              <a:t>10 min</a:t>
            </a:r>
            <a:endParaRPr lang="en-US" sz="1200" dirty="0"/>
          </a:p>
        </p:txBody>
      </p:sp>
      <p:sp>
        <p:nvSpPr>
          <p:cNvPr id="7" name="Text 4"/>
          <p:cNvSpPr/>
          <p:nvPr/>
        </p:nvSpPr>
        <p:spPr>
          <a:xfrm>
            <a:off x="457200" y="6528816"/>
            <a:ext cx="4572000" cy="274320"/>
          </a:xfrm>
          <a:prstGeom prst="rect">
            <a:avLst/>
          </a:prstGeom>
          <a:noFill/>
          <a:ln/>
        </p:spPr>
        <p:txBody>
          <a:bodyPr wrap="square" lIns="0" tIns="0" rIns="0" bIns="0" rtlCol="0" anchor="ctr"/>
          <a:lstStyle/>
          <a:p>
            <a:pPr indent="0" marL="0">
              <a:buNone/>
            </a:pPr>
            <a:r>
              <a:rPr lang="en-US" sz="1000" b="1" spc="200" kern="0" dirty="0">
                <a:solidFill>
                  <a:srgbClr val="E8C25A"/>
                </a:solidFill>
                <a:latin typeface="Calibri" pitchFamily="34" charset="0"/>
                <a:ea typeface="Calibri" pitchFamily="34" charset="-122"/>
                <a:cs typeface="Calibri" pitchFamily="34" charset="-120"/>
              </a:rPr>
              <a:t>VIDEO GAME CREATION</a:t>
            </a:r>
            <a:endParaRPr lang="en-US" sz="1000" dirty="0"/>
          </a:p>
        </p:txBody>
      </p:sp>
      <p:sp>
        <p:nvSpPr>
          <p:cNvPr id="8" name="Text 5"/>
          <p:cNvSpPr/>
          <p:nvPr/>
        </p:nvSpPr>
        <p:spPr>
          <a:xfrm>
            <a:off x="10088575" y="6528816"/>
            <a:ext cx="1371600" cy="274320"/>
          </a:xfrm>
          <a:prstGeom prst="rect">
            <a:avLst/>
          </a:prstGeom>
          <a:noFill/>
          <a:ln/>
        </p:spPr>
        <p:txBody>
          <a:bodyPr wrap="square" lIns="0" tIns="0" rIns="0" bIns="0" rtlCol="0" anchor="ctr"/>
          <a:lstStyle/>
          <a:p>
            <a:pPr algn="r" indent="0" marL="0">
              <a:buNone/>
            </a:pPr>
            <a:r>
              <a:rPr lang="en-US" sz="1000" dirty="0">
                <a:solidFill>
                  <a:srgbClr val="E8C25A"/>
                </a:solidFill>
                <a:latin typeface="Calibri" pitchFamily="34" charset="0"/>
                <a:ea typeface="Calibri" pitchFamily="34" charset="-122"/>
                <a:cs typeface="Calibri" pitchFamily="34" charset="-120"/>
              </a:rPr>
              <a:t>Lesson 13</a:t>
            </a:r>
            <a:endParaRPr lang="en-US" sz="1000" dirty="0"/>
          </a:p>
        </p:txBody>
      </p:sp>
      <p:sp>
        <p:nvSpPr>
          <p:cNvPr id="9" name="Text 6"/>
          <p:cNvSpPr/>
          <p:nvPr/>
        </p:nvSpPr>
        <p:spPr>
          <a:xfrm>
            <a:off x="11505895" y="6528816"/>
            <a:ext cx="411480" cy="274320"/>
          </a:xfrm>
          <a:prstGeom prst="rect">
            <a:avLst/>
          </a:prstGeom>
          <a:noFill/>
          <a:ln/>
        </p:spPr>
        <p:txBody>
          <a:bodyPr wrap="square" lIns="0" tIns="0" rIns="0" bIns="0" rtlCol="0" anchor="ctr"/>
          <a:lstStyle/>
          <a:p>
            <a:pPr algn="r" indent="0" marL="0">
              <a:buNone/>
            </a:pPr>
            <a:r>
              <a:rPr lang="en-US" sz="1000" dirty="0">
                <a:solidFill>
                  <a:srgbClr val="E8C25A"/>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bg_content.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 y="411480"/>
            <a:ext cx="9601200" cy="640080"/>
          </a:xfrm>
          <a:prstGeom prst="rect">
            <a:avLst/>
          </a:prstGeom>
          <a:noFill/>
          <a:ln/>
        </p:spPr>
        <p:txBody>
          <a:bodyPr wrap="square" lIns="0" tIns="0" rIns="0" bIns="0" rtlCol="0" anchor="ctr"/>
          <a:lstStyle/>
          <a:p>
            <a:pPr indent="0" marL="0">
              <a:buNone/>
            </a:pPr>
            <a:r>
              <a:rPr lang="en-US" sz="3200" b="1" dirty="0">
                <a:solidFill>
                  <a:srgbClr val="1C4A86"/>
                </a:solidFill>
                <a:latin typeface="Cambria" pitchFamily="34" charset="0"/>
                <a:ea typeface="Cambria" pitchFamily="34" charset="-122"/>
                <a:cs typeface="Cambria" pitchFamily="34" charset="-120"/>
              </a:rPr>
              <a:t>Two New Visual Touches</a:t>
            </a:r>
            <a:endParaRPr lang="en-US" sz="3200" dirty="0"/>
          </a:p>
        </p:txBody>
      </p:sp>
      <p:sp>
        <p:nvSpPr>
          <p:cNvPr id="4" name="Shape 1"/>
          <p:cNvSpPr/>
          <p:nvPr/>
        </p:nvSpPr>
        <p:spPr>
          <a:xfrm>
            <a:off x="10424160" y="457200"/>
            <a:ext cx="1188720" cy="347472"/>
          </a:xfrm>
          <a:prstGeom prst="roundRect">
            <a:avLst>
              <a:gd name="adj" fmla="val 50000"/>
            </a:avLst>
          </a:prstGeom>
          <a:solidFill>
            <a:srgbClr val="F4F0E6"/>
          </a:solidFill>
          <a:ln w="12700">
            <a:solidFill>
              <a:srgbClr val="C99A2E"/>
            </a:solidFill>
            <a:prstDash val="solid"/>
          </a:ln>
        </p:spPr>
      </p:sp>
      <p:sp>
        <p:nvSpPr>
          <p:cNvPr id="5" name="Text 2"/>
          <p:cNvSpPr/>
          <p:nvPr/>
        </p:nvSpPr>
        <p:spPr>
          <a:xfrm>
            <a:off x="10424160" y="457200"/>
            <a:ext cx="1188720" cy="347472"/>
          </a:xfrm>
          <a:prstGeom prst="rect">
            <a:avLst/>
          </a:prstGeom>
          <a:noFill/>
          <a:ln/>
        </p:spPr>
        <p:txBody>
          <a:bodyPr wrap="square" lIns="0" tIns="0" rIns="0" bIns="0" rtlCol="0" anchor="ctr"/>
          <a:lstStyle/>
          <a:p>
            <a:pPr algn="ctr" indent="0" marL="0">
              <a:buNone/>
            </a:pPr>
            <a:r>
              <a:rPr lang="en-US" sz="1200" b="1" dirty="0">
                <a:solidFill>
                  <a:srgbClr val="1C4A86"/>
                </a:solidFill>
                <a:latin typeface="Calibri" pitchFamily="34" charset="0"/>
                <a:ea typeface="Calibri" pitchFamily="34" charset="-122"/>
                <a:cs typeface="Calibri" pitchFamily="34" charset="-120"/>
              </a:rPr>
              <a:t>10 min</a:t>
            </a:r>
            <a:endParaRPr lang="en-US" sz="1200" dirty="0"/>
          </a:p>
        </p:txBody>
      </p:sp>
      <p:sp>
        <p:nvSpPr>
          <p:cNvPr id="6" name="Shape 3"/>
          <p:cNvSpPr/>
          <p:nvPr/>
        </p:nvSpPr>
        <p:spPr>
          <a:xfrm>
            <a:off x="548640" y="1371600"/>
            <a:ext cx="11064240" cy="1554480"/>
          </a:xfrm>
          <a:prstGeom prst="roundRect">
            <a:avLst>
              <a:gd name="adj" fmla="val 7059"/>
            </a:avLst>
          </a:prstGeom>
          <a:solidFill>
            <a:srgbClr val="EDF2F8"/>
          </a:solidFill>
          <a:ln/>
        </p:spPr>
      </p:sp>
      <p:pic>
        <p:nvPicPr>
          <p:cNvPr id="7" name="Image 1" descr="icons/design.png">    </p:cNvPr>
          <p:cNvPicPr>
            <a:picLocks noChangeAspect="1"/>
          </p:cNvPicPr>
          <p:nvPr/>
        </p:nvPicPr>
        <p:blipFill>
          <a:blip r:embed="rId2"/>
          <a:stretch>
            <a:fillRect/>
          </a:stretch>
        </p:blipFill>
        <p:spPr>
          <a:xfrm>
            <a:off x="777240" y="1600200"/>
            <a:ext cx="502920" cy="502920"/>
          </a:xfrm>
          <a:prstGeom prst="rect">
            <a:avLst/>
          </a:prstGeom>
        </p:spPr>
      </p:pic>
      <p:sp>
        <p:nvSpPr>
          <p:cNvPr id="8" name="Text 4"/>
          <p:cNvSpPr/>
          <p:nvPr/>
        </p:nvSpPr>
        <p:spPr>
          <a:xfrm>
            <a:off x="1463040" y="1508760"/>
            <a:ext cx="9966960" cy="1280160"/>
          </a:xfrm>
          <a:prstGeom prst="rect">
            <a:avLst/>
          </a:prstGeom>
          <a:noFill/>
          <a:ln/>
        </p:spPr>
        <p:txBody>
          <a:bodyPr wrap="square" lIns="0" tIns="0" rIns="0" bIns="0" rtlCol="0" anchor="ctr"/>
          <a:lstStyle/>
          <a:p>
            <a:pPr indent="0" marL="0">
              <a:buNone/>
            </a:pPr>
            <a:r>
              <a:rPr lang="en-US" sz="1400" dirty="0">
                <a:solidFill>
                  <a:srgbClr val="222222"/>
                </a:solidFill>
                <a:latin typeface="Calibri" pitchFamily="34" charset="0"/>
                <a:ea typeface="Calibri" pitchFamily="34" charset="-122"/>
                <a:cs typeface="Calibri" pitchFamily="34" charset="-120"/>
              </a:rPr>
              <a:t>First: the enemy itself briefly flashes - a reaction ON the thing that got hit. Second: a completely separate explosion effect appears at that spot and plays itself out - independent of the enemy entirely.</a:t>
            </a:r>
            <a:endParaRPr lang="en-US" sz="1400" dirty="0"/>
          </a:p>
        </p:txBody>
      </p:sp>
      <p:sp>
        <p:nvSpPr>
          <p:cNvPr id="9" name="Shape 5"/>
          <p:cNvSpPr/>
          <p:nvPr/>
        </p:nvSpPr>
        <p:spPr>
          <a:xfrm>
            <a:off x="548640" y="3108960"/>
            <a:ext cx="11064240" cy="1691640"/>
          </a:xfrm>
          <a:prstGeom prst="roundRect">
            <a:avLst>
              <a:gd name="adj" fmla="val 6486"/>
            </a:avLst>
          </a:prstGeom>
          <a:solidFill>
            <a:srgbClr val="0F2C52"/>
          </a:solidFill>
          <a:ln w="12700">
            <a:solidFill>
              <a:srgbClr val="C99A2E"/>
            </a:solidFill>
            <a:prstDash val="solid"/>
          </a:ln>
        </p:spPr>
      </p:sp>
      <p:sp>
        <p:nvSpPr>
          <p:cNvPr id="10" name="Text 6"/>
          <p:cNvSpPr/>
          <p:nvPr/>
        </p:nvSpPr>
        <p:spPr>
          <a:xfrm>
            <a:off x="822960" y="3291840"/>
            <a:ext cx="10515600" cy="1371600"/>
          </a:xfrm>
          <a:prstGeom prst="rect">
            <a:avLst/>
          </a:prstGeom>
          <a:noFill/>
          <a:ln/>
        </p:spPr>
        <p:txBody>
          <a:bodyPr wrap="square" lIns="0" tIns="0" rIns="0" bIns="0" rtlCol="0" anchor="ctr"/>
          <a:lstStyle/>
          <a:p>
            <a:pPr indent="0" marL="0">
              <a:buNone/>
            </a:pPr>
            <a:r>
              <a:rPr lang="en-US" sz="1600" b="1" dirty="0">
                <a:solidFill>
                  <a:srgbClr val="E8C25A"/>
                </a:solidFill>
                <a:latin typeface="Calibri" pitchFamily="34" charset="0"/>
                <a:ea typeface="Calibri" pitchFamily="34" charset="-122"/>
                <a:cs typeface="Calibri" pitchFamily="34" charset="-120"/>
              </a:rPr>
              <a:t>The rule for today: score, lives, wave, and win/lose logic don't change WHEN they happen. Only how the enemy's removal LOOKS is changing.</a:t>
            </a:r>
            <a:endParaRPr lang="en-US" sz="1600" dirty="0"/>
          </a:p>
        </p:txBody>
      </p:sp>
      <p:sp>
        <p:nvSpPr>
          <p:cNvPr id="11" name="Text 7"/>
          <p:cNvSpPr/>
          <p:nvPr/>
        </p:nvSpPr>
        <p:spPr>
          <a:xfrm>
            <a:off x="548640" y="5029200"/>
            <a:ext cx="11064240" cy="457200"/>
          </a:xfrm>
          <a:prstGeom prst="rect">
            <a:avLst/>
          </a:prstGeom>
          <a:noFill/>
          <a:ln/>
        </p:spPr>
        <p:txBody>
          <a:bodyPr wrap="square" lIns="0" tIns="0" rIns="0" bIns="0" rtlCol="0" anchor="ctr"/>
          <a:lstStyle/>
          <a:p>
            <a:pPr indent="0" marL="0">
              <a:buNone/>
            </a:pPr>
            <a:r>
              <a:rPr lang="en-US" sz="1300" i="1" dirty="0">
                <a:solidFill>
                  <a:srgbClr val="5A6472"/>
                </a:solidFill>
                <a:latin typeface="Calibri" pitchFamily="34" charset="0"/>
                <a:ea typeface="Calibri" pitchFamily="34" charset="-122"/>
                <a:cs typeface="Calibri" pitchFamily="34" charset="-120"/>
              </a:rPr>
              <a:t>If you find yourself moving scoring code around this week, stop and re-check the Handout.</a:t>
            </a:r>
            <a:endParaRPr lang="en-US" sz="1300" dirty="0"/>
          </a:p>
        </p:txBody>
      </p:sp>
      <p:sp>
        <p:nvSpPr>
          <p:cNvPr id="13" name="Text 8"/>
          <p:cNvSpPr/>
          <p:nvPr/>
        </p:nvSpPr>
        <p:spPr>
          <a:xfrm>
            <a:off x="457200" y="6528816"/>
            <a:ext cx="4572000" cy="274320"/>
          </a:xfrm>
          <a:prstGeom prst="rect">
            <a:avLst/>
          </a:prstGeom>
          <a:noFill/>
          <a:ln/>
        </p:spPr>
        <p:txBody>
          <a:bodyPr wrap="square" lIns="0" tIns="0" rIns="0" bIns="0" rtlCol="0" anchor="ctr"/>
          <a:lstStyle/>
          <a:p>
            <a:pPr indent="0" marL="0">
              <a:buNone/>
            </a:pPr>
            <a:r>
              <a:rPr lang="en-US" sz="1000" b="1" spc="200" kern="0" dirty="0">
                <a:solidFill>
                  <a:srgbClr val="5A6472"/>
                </a:solidFill>
                <a:latin typeface="Calibri" pitchFamily="34" charset="0"/>
                <a:ea typeface="Calibri" pitchFamily="34" charset="-122"/>
                <a:cs typeface="Calibri" pitchFamily="34" charset="-120"/>
              </a:rPr>
              <a:t>VIDEO GAME CREATION</a:t>
            </a:r>
            <a:endParaRPr lang="en-US" sz="1000" dirty="0"/>
          </a:p>
        </p:txBody>
      </p:sp>
      <p:sp>
        <p:nvSpPr>
          <p:cNvPr id="14" name="Text 9"/>
          <p:cNvSpPr/>
          <p:nvPr/>
        </p:nvSpPr>
        <p:spPr>
          <a:xfrm>
            <a:off x="10088575" y="6528816"/>
            <a:ext cx="1371600" cy="274320"/>
          </a:xfrm>
          <a:prstGeom prst="rect">
            <a:avLst/>
          </a:prstGeom>
          <a:noFill/>
          <a:ln/>
        </p:spPr>
        <p:txBody>
          <a:bodyPr wrap="square" lIns="0" tIns="0" rIns="0" bIns="0" rtlCol="0" anchor="ctr"/>
          <a:lstStyle/>
          <a:p>
            <a:pPr algn="r" indent="0" marL="0">
              <a:buNone/>
            </a:pPr>
            <a:r>
              <a:rPr lang="en-US" sz="1000" dirty="0">
                <a:solidFill>
                  <a:srgbClr val="5A6472"/>
                </a:solidFill>
                <a:latin typeface="Calibri" pitchFamily="34" charset="0"/>
                <a:ea typeface="Calibri" pitchFamily="34" charset="-122"/>
                <a:cs typeface="Calibri" pitchFamily="34" charset="-120"/>
              </a:rPr>
              <a:t>Lesson 13</a:t>
            </a:r>
            <a:endParaRPr lang="en-US" sz="1000" dirty="0"/>
          </a:p>
        </p:txBody>
      </p:sp>
      <p:sp>
        <p:nvSpPr>
          <p:cNvPr id="15" name="Text 10"/>
          <p:cNvSpPr/>
          <p:nvPr/>
        </p:nvSpPr>
        <p:spPr>
          <a:xfrm>
            <a:off x="11505895" y="6528816"/>
            <a:ext cx="411480" cy="274320"/>
          </a:xfrm>
          <a:prstGeom prst="rect">
            <a:avLst/>
          </a:prstGeom>
          <a:noFill/>
          <a:ln/>
        </p:spPr>
        <p:txBody>
          <a:bodyPr wrap="square" lIns="0" tIns="0" rIns="0" bIns="0" rtlCol="0" anchor="ctr"/>
          <a:lstStyle/>
          <a:p>
            <a:pPr algn="r" indent="0" marL="0">
              <a:buNone/>
            </a:pPr>
            <a:r>
              <a:rPr lang="en-US" sz="1000" dirty="0">
                <a:solidFill>
                  <a:srgbClr val="5A6472"/>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bg_title_programming.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2834640" y="2377440"/>
            <a:ext cx="8412480" cy="914400"/>
          </a:xfrm>
          <a:prstGeom prst="rect">
            <a:avLst/>
          </a:prstGeom>
          <a:noFill/>
          <a:ln/>
        </p:spPr>
        <p:txBody>
          <a:bodyPr wrap="square" lIns="0" tIns="0" rIns="0" bIns="0" rtlCol="0" anchor="ctr"/>
          <a:lstStyle/>
          <a:p>
            <a:pPr indent="0" marL="0">
              <a:buNone/>
            </a:pPr>
            <a:r>
              <a:rPr lang="en-US" sz="4000" b="1" dirty="0">
                <a:solidFill>
                  <a:srgbClr val="E8C25A"/>
                </a:solidFill>
                <a:latin typeface="Cambria" pitchFamily="34" charset="0"/>
                <a:ea typeface="Cambria" pitchFamily="34" charset="-122"/>
                <a:cs typeface="Cambria" pitchFamily="34" charset="-120"/>
              </a:rPr>
              <a:t>Pausing Mid-Script</a:t>
            </a:r>
            <a:endParaRPr lang="en-US" sz="4000" dirty="0"/>
          </a:p>
        </p:txBody>
      </p:sp>
      <p:sp>
        <p:nvSpPr>
          <p:cNvPr id="4" name="Text 1"/>
          <p:cNvSpPr/>
          <p:nvPr/>
        </p:nvSpPr>
        <p:spPr>
          <a:xfrm>
            <a:off x="2880360" y="3337560"/>
            <a:ext cx="8229600" cy="640080"/>
          </a:xfrm>
          <a:prstGeom prst="rect">
            <a:avLst/>
          </a:prstGeom>
          <a:noFill/>
          <a:ln/>
        </p:spPr>
        <p:txBody>
          <a:bodyPr wrap="square" lIns="0" tIns="0" rIns="0" bIns="0" rtlCol="0" anchor="ctr"/>
          <a:lstStyle/>
          <a:p>
            <a:pPr indent="0" marL="0">
              <a:buNone/>
            </a:pPr>
            <a:r>
              <a:rPr lang="en-US" sz="1600" dirty="0">
                <a:solidFill>
                  <a:srgbClr val="F4F0E6"/>
                </a:solidFill>
                <a:latin typeface="Calibri" pitchFamily="34" charset="0"/>
                <a:ea typeface="Calibri" pitchFamily="34" charset="-122"/>
                <a:cs typeface="Calibri" pitchFamily="34" charset="-120"/>
              </a:rPr>
              <a:t>Three engine families, three genuinely different solutions.</a:t>
            </a:r>
            <a:endParaRPr lang="en-US" sz="1600" dirty="0"/>
          </a:p>
        </p:txBody>
      </p:sp>
      <p:sp>
        <p:nvSpPr>
          <p:cNvPr id="5" name="Shape 2"/>
          <p:cNvSpPr/>
          <p:nvPr/>
        </p:nvSpPr>
        <p:spPr>
          <a:xfrm>
            <a:off x="2880360" y="3977640"/>
            <a:ext cx="1371600" cy="347472"/>
          </a:xfrm>
          <a:prstGeom prst="roundRect">
            <a:avLst>
              <a:gd name="adj" fmla="val 50000"/>
            </a:avLst>
          </a:prstGeom>
          <a:solidFill>
            <a:srgbClr val="0F2C52"/>
          </a:solidFill>
          <a:ln w="12700">
            <a:solidFill>
              <a:srgbClr val="C99A2E"/>
            </a:solidFill>
            <a:prstDash val="solid"/>
          </a:ln>
        </p:spPr>
      </p:sp>
      <p:sp>
        <p:nvSpPr>
          <p:cNvPr id="6" name="Text 3"/>
          <p:cNvSpPr/>
          <p:nvPr/>
        </p:nvSpPr>
        <p:spPr>
          <a:xfrm>
            <a:off x="2880360" y="3977640"/>
            <a:ext cx="1371600" cy="347472"/>
          </a:xfrm>
          <a:prstGeom prst="rect">
            <a:avLst/>
          </a:prstGeom>
          <a:noFill/>
          <a:ln/>
        </p:spPr>
        <p:txBody>
          <a:bodyPr wrap="square" lIns="0" tIns="0" rIns="0" bIns="0" rtlCol="0" anchor="ctr"/>
          <a:lstStyle/>
          <a:p>
            <a:pPr algn="ctr" indent="0" marL="0">
              <a:buNone/>
            </a:pPr>
            <a:r>
              <a:rPr lang="en-US" sz="1200" b="1" dirty="0">
                <a:solidFill>
                  <a:srgbClr val="E8C25A"/>
                </a:solidFill>
                <a:latin typeface="Calibri" pitchFamily="34" charset="0"/>
                <a:ea typeface="Calibri" pitchFamily="34" charset="-122"/>
                <a:cs typeface="Calibri" pitchFamily="34" charset="-120"/>
              </a:rPr>
              <a:t>25 min</a:t>
            </a:r>
            <a:endParaRPr lang="en-US" sz="1200" dirty="0"/>
          </a:p>
        </p:txBody>
      </p:sp>
      <p:sp>
        <p:nvSpPr>
          <p:cNvPr id="7" name="Text 4"/>
          <p:cNvSpPr/>
          <p:nvPr/>
        </p:nvSpPr>
        <p:spPr>
          <a:xfrm>
            <a:off x="457200" y="6528816"/>
            <a:ext cx="4572000" cy="274320"/>
          </a:xfrm>
          <a:prstGeom prst="rect">
            <a:avLst/>
          </a:prstGeom>
          <a:noFill/>
          <a:ln/>
        </p:spPr>
        <p:txBody>
          <a:bodyPr wrap="square" lIns="0" tIns="0" rIns="0" bIns="0" rtlCol="0" anchor="ctr"/>
          <a:lstStyle/>
          <a:p>
            <a:pPr indent="0" marL="0">
              <a:buNone/>
            </a:pPr>
            <a:r>
              <a:rPr lang="en-US" sz="1000" b="1" spc="200" kern="0" dirty="0">
                <a:solidFill>
                  <a:srgbClr val="E8C25A"/>
                </a:solidFill>
                <a:latin typeface="Calibri" pitchFamily="34" charset="0"/>
                <a:ea typeface="Calibri" pitchFamily="34" charset="-122"/>
                <a:cs typeface="Calibri" pitchFamily="34" charset="-120"/>
              </a:rPr>
              <a:t>VIDEO GAME CREATION</a:t>
            </a:r>
            <a:endParaRPr lang="en-US" sz="1000" dirty="0"/>
          </a:p>
        </p:txBody>
      </p:sp>
      <p:sp>
        <p:nvSpPr>
          <p:cNvPr id="8" name="Text 5"/>
          <p:cNvSpPr/>
          <p:nvPr/>
        </p:nvSpPr>
        <p:spPr>
          <a:xfrm>
            <a:off x="10088575" y="6528816"/>
            <a:ext cx="1371600" cy="274320"/>
          </a:xfrm>
          <a:prstGeom prst="rect">
            <a:avLst/>
          </a:prstGeom>
          <a:noFill/>
          <a:ln/>
        </p:spPr>
        <p:txBody>
          <a:bodyPr wrap="square" lIns="0" tIns="0" rIns="0" bIns="0" rtlCol="0" anchor="ctr"/>
          <a:lstStyle/>
          <a:p>
            <a:pPr algn="r" indent="0" marL="0">
              <a:buNone/>
            </a:pPr>
            <a:r>
              <a:rPr lang="en-US" sz="1000" dirty="0">
                <a:solidFill>
                  <a:srgbClr val="E8C25A"/>
                </a:solidFill>
                <a:latin typeface="Calibri" pitchFamily="34" charset="0"/>
                <a:ea typeface="Calibri" pitchFamily="34" charset="-122"/>
                <a:cs typeface="Calibri" pitchFamily="34" charset="-120"/>
              </a:rPr>
              <a:t>Lesson 13</a:t>
            </a:r>
            <a:endParaRPr lang="en-US" sz="1000" dirty="0"/>
          </a:p>
        </p:txBody>
      </p:sp>
      <p:sp>
        <p:nvSpPr>
          <p:cNvPr id="9" name="Text 6"/>
          <p:cNvSpPr/>
          <p:nvPr/>
        </p:nvSpPr>
        <p:spPr>
          <a:xfrm>
            <a:off x="11505895" y="6528816"/>
            <a:ext cx="411480" cy="274320"/>
          </a:xfrm>
          <a:prstGeom prst="rect">
            <a:avLst/>
          </a:prstGeom>
          <a:noFill/>
          <a:ln/>
        </p:spPr>
        <p:txBody>
          <a:bodyPr wrap="square" lIns="0" tIns="0" rIns="0" bIns="0" rtlCol="0" anchor="ctr"/>
          <a:lstStyle/>
          <a:p>
            <a:pPr algn="r" indent="0" marL="0">
              <a:buNone/>
            </a:pPr>
            <a:r>
              <a:rPr lang="en-US" sz="1000" dirty="0">
                <a:solidFill>
                  <a:srgbClr val="E8C25A"/>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bg_content.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 y="411480"/>
            <a:ext cx="9875520" cy="640080"/>
          </a:xfrm>
          <a:prstGeom prst="rect">
            <a:avLst/>
          </a:prstGeom>
          <a:noFill/>
          <a:ln/>
        </p:spPr>
        <p:txBody>
          <a:bodyPr wrap="square" lIns="0" tIns="0" rIns="0" bIns="0" rtlCol="0" anchor="ctr"/>
          <a:lstStyle/>
          <a:p>
            <a:pPr indent="0" marL="0">
              <a:buNone/>
            </a:pPr>
            <a:r>
              <a:rPr lang="en-US" sz="3000" b="1" dirty="0">
                <a:solidFill>
                  <a:srgbClr val="1C4A86"/>
                </a:solidFill>
                <a:latin typeface="Cambria" pitchFamily="34" charset="0"/>
                <a:ea typeface="Cambria" pitchFamily="34" charset="-122"/>
                <a:cs typeface="Cambria" pitchFamily="34" charset="-120"/>
              </a:rPr>
              <a:t>Three Solutions, One Problem</a:t>
            </a:r>
            <a:endParaRPr lang="en-US" sz="3000" dirty="0"/>
          </a:p>
        </p:txBody>
      </p:sp>
      <p:sp>
        <p:nvSpPr>
          <p:cNvPr id="4" name="Shape 1"/>
          <p:cNvSpPr/>
          <p:nvPr/>
        </p:nvSpPr>
        <p:spPr>
          <a:xfrm>
            <a:off x="10424160" y="457200"/>
            <a:ext cx="1188720" cy="347472"/>
          </a:xfrm>
          <a:prstGeom prst="roundRect">
            <a:avLst>
              <a:gd name="adj" fmla="val 50000"/>
            </a:avLst>
          </a:prstGeom>
          <a:solidFill>
            <a:srgbClr val="F4F0E6"/>
          </a:solidFill>
          <a:ln w="12700">
            <a:solidFill>
              <a:srgbClr val="C99A2E"/>
            </a:solidFill>
            <a:prstDash val="solid"/>
          </a:ln>
        </p:spPr>
      </p:sp>
      <p:sp>
        <p:nvSpPr>
          <p:cNvPr id="5" name="Text 2"/>
          <p:cNvSpPr/>
          <p:nvPr/>
        </p:nvSpPr>
        <p:spPr>
          <a:xfrm>
            <a:off x="10424160" y="457200"/>
            <a:ext cx="1188720" cy="347472"/>
          </a:xfrm>
          <a:prstGeom prst="rect">
            <a:avLst/>
          </a:prstGeom>
          <a:noFill/>
          <a:ln/>
        </p:spPr>
        <p:txBody>
          <a:bodyPr wrap="square" lIns="0" tIns="0" rIns="0" bIns="0" rtlCol="0" anchor="ctr"/>
          <a:lstStyle/>
          <a:p>
            <a:pPr algn="ctr" indent="0" marL="0">
              <a:buNone/>
            </a:pPr>
            <a:r>
              <a:rPr lang="en-US" sz="1200" b="1" dirty="0">
                <a:solidFill>
                  <a:srgbClr val="1C4A86"/>
                </a:solidFill>
                <a:latin typeface="Calibri" pitchFamily="34" charset="0"/>
                <a:ea typeface="Calibri" pitchFamily="34" charset="-122"/>
                <a:cs typeface="Calibri" pitchFamily="34" charset="-120"/>
              </a:rPr>
              <a:t>25 min</a:t>
            </a:r>
            <a:endParaRPr lang="en-US" sz="1200" dirty="0"/>
          </a:p>
        </p:txBody>
      </p:sp>
      <p:sp>
        <p:nvSpPr>
          <p:cNvPr id="6" name="Text 3"/>
          <p:cNvSpPr/>
          <p:nvPr/>
        </p:nvSpPr>
        <p:spPr>
          <a:xfrm>
            <a:off x="548640" y="1280160"/>
            <a:ext cx="10881360" cy="777240"/>
          </a:xfrm>
          <a:prstGeom prst="rect">
            <a:avLst/>
          </a:prstGeom>
          <a:noFill/>
          <a:ln/>
        </p:spPr>
        <p:txBody>
          <a:bodyPr wrap="square" lIns="0" tIns="0" rIns="0" bIns="0" rtlCol="0" anchor="ctr"/>
          <a:lstStyle/>
          <a:p>
            <a:pPr indent="0" marL="0">
              <a:buNone/>
            </a:pPr>
            <a:r>
              <a:rPr lang="en-US" sz="1450" b="1" dirty="0">
                <a:solidFill>
                  <a:srgbClr val="1C4A86"/>
                </a:solidFill>
                <a:latin typeface="Calibri" pitchFamily="34" charset="0"/>
                <a:ea typeface="Calibri" pitchFamily="34" charset="-122"/>
                <a:cs typeface="Calibri" pitchFamily="34" charset="-120"/>
              </a:rPr>
              <a:t>To see a flash, the enemy must stick around a moment after being hit - something in our code needs to pause, without freezing the whole game.</a:t>
            </a:r>
            <a:endParaRPr lang="en-US" sz="1450" dirty="0"/>
          </a:p>
        </p:txBody>
      </p:sp>
      <p:sp>
        <p:nvSpPr>
          <p:cNvPr id="7" name="Shape 4"/>
          <p:cNvSpPr/>
          <p:nvPr/>
        </p:nvSpPr>
        <p:spPr>
          <a:xfrm>
            <a:off x="548640" y="2240280"/>
            <a:ext cx="11064240" cy="960120"/>
          </a:xfrm>
          <a:prstGeom prst="roundRect">
            <a:avLst>
              <a:gd name="adj" fmla="val 9524"/>
            </a:avLst>
          </a:prstGeom>
          <a:solidFill>
            <a:srgbClr val="EDF2F8"/>
          </a:solidFill>
          <a:ln w="12700">
            <a:solidFill>
              <a:srgbClr val="DCE3EC"/>
            </a:solidFill>
            <a:prstDash val="solid"/>
          </a:ln>
        </p:spPr>
      </p:sp>
      <p:sp>
        <p:nvSpPr>
          <p:cNvPr id="8" name="Text 5"/>
          <p:cNvSpPr/>
          <p:nvPr/>
        </p:nvSpPr>
        <p:spPr>
          <a:xfrm>
            <a:off x="822960" y="2350008"/>
            <a:ext cx="3017520" cy="731520"/>
          </a:xfrm>
          <a:prstGeom prst="rect">
            <a:avLst/>
          </a:prstGeom>
          <a:noFill/>
          <a:ln/>
        </p:spPr>
        <p:txBody>
          <a:bodyPr wrap="square" lIns="0" tIns="0" rIns="0" bIns="0" rtlCol="0" anchor="ctr"/>
          <a:lstStyle/>
          <a:p>
            <a:pPr indent="0" marL="0">
              <a:buNone/>
            </a:pPr>
            <a:r>
              <a:rPr lang="en-US" sz="1450" b="1" dirty="0">
                <a:solidFill>
                  <a:srgbClr val="1C4A86"/>
                </a:solidFill>
                <a:latin typeface="Calibri" pitchFamily="34" charset="0"/>
                <a:ea typeface="Calibri" pitchFamily="34" charset="-122"/>
                <a:cs typeface="Calibri" pitchFamily="34" charset="-120"/>
              </a:rPr>
              <a:t>Godot &amp; Unity</a:t>
            </a:r>
            <a:endParaRPr lang="en-US" sz="1450" dirty="0"/>
          </a:p>
        </p:txBody>
      </p:sp>
      <p:sp>
        <p:nvSpPr>
          <p:cNvPr id="9" name="Text 6"/>
          <p:cNvSpPr/>
          <p:nvPr/>
        </p:nvSpPr>
        <p:spPr>
          <a:xfrm>
            <a:off x="3931920" y="2350008"/>
            <a:ext cx="7498080" cy="731520"/>
          </a:xfrm>
          <a:prstGeom prst="rect">
            <a:avLst/>
          </a:prstGeom>
          <a:noFill/>
          <a:ln/>
        </p:spPr>
        <p:txBody>
          <a:bodyPr wrap="square" lIns="0" tIns="0" rIns="0" bIns="0" rtlCol="0" anchor="ctr"/>
          <a:lstStyle/>
          <a:p>
            <a:pPr indent="0" marL="0">
              <a:buNone/>
            </a:pPr>
            <a:r>
              <a:rPr lang="en-US" sz="1300" dirty="0">
                <a:solidFill>
                  <a:srgbClr val="222222"/>
                </a:solidFill>
                <a:latin typeface="Calibri" pitchFamily="34" charset="0"/>
                <a:ea typeface="Calibri" pitchFamily="34" charset="-122"/>
                <a:cs typeface="Calibri" pitchFamily="34" charset="-120"/>
              </a:rPr>
              <a:t>await / Coroutine - the language itself can pause mid-function.</a:t>
            </a:r>
            <a:endParaRPr lang="en-US" sz="1300" dirty="0"/>
          </a:p>
        </p:txBody>
      </p:sp>
      <p:sp>
        <p:nvSpPr>
          <p:cNvPr id="10" name="Shape 7"/>
          <p:cNvSpPr/>
          <p:nvPr/>
        </p:nvSpPr>
        <p:spPr>
          <a:xfrm>
            <a:off x="548640" y="3337560"/>
            <a:ext cx="11064240" cy="960120"/>
          </a:xfrm>
          <a:prstGeom prst="roundRect">
            <a:avLst>
              <a:gd name="adj" fmla="val 9524"/>
            </a:avLst>
          </a:prstGeom>
          <a:solidFill>
            <a:srgbClr val="EDF2F8"/>
          </a:solidFill>
          <a:ln w="12700">
            <a:solidFill>
              <a:srgbClr val="DCE3EC"/>
            </a:solidFill>
            <a:prstDash val="solid"/>
          </a:ln>
        </p:spPr>
      </p:sp>
      <p:sp>
        <p:nvSpPr>
          <p:cNvPr id="11" name="Text 8"/>
          <p:cNvSpPr/>
          <p:nvPr/>
        </p:nvSpPr>
        <p:spPr>
          <a:xfrm>
            <a:off x="822960" y="3447288"/>
            <a:ext cx="3017520" cy="731520"/>
          </a:xfrm>
          <a:prstGeom prst="rect">
            <a:avLst/>
          </a:prstGeom>
          <a:noFill/>
          <a:ln/>
        </p:spPr>
        <p:txBody>
          <a:bodyPr wrap="square" lIns="0" tIns="0" rIns="0" bIns="0" rtlCol="0" anchor="ctr"/>
          <a:lstStyle/>
          <a:p>
            <a:pPr indent="0" marL="0">
              <a:buNone/>
            </a:pPr>
            <a:r>
              <a:rPr lang="en-US" sz="1450" b="1" dirty="0">
                <a:solidFill>
                  <a:srgbClr val="1C4A86"/>
                </a:solidFill>
                <a:latin typeface="Calibri" pitchFamily="34" charset="0"/>
                <a:ea typeface="Calibri" pitchFamily="34" charset="-122"/>
                <a:cs typeface="Calibri" pitchFamily="34" charset="-120"/>
              </a:rPr>
              <a:t>GameMaker &amp; TIC-80</a:t>
            </a:r>
            <a:endParaRPr lang="en-US" sz="1450" dirty="0"/>
          </a:p>
        </p:txBody>
      </p:sp>
      <p:sp>
        <p:nvSpPr>
          <p:cNvPr id="12" name="Text 9"/>
          <p:cNvSpPr/>
          <p:nvPr/>
        </p:nvSpPr>
        <p:spPr>
          <a:xfrm>
            <a:off x="3931920" y="3447288"/>
            <a:ext cx="7498080" cy="731520"/>
          </a:xfrm>
          <a:prstGeom prst="rect">
            <a:avLst/>
          </a:prstGeom>
          <a:noFill/>
          <a:ln/>
        </p:spPr>
        <p:txBody>
          <a:bodyPr wrap="square" lIns="0" tIns="0" rIns="0" bIns="0" rtlCol="0" anchor="ctr"/>
          <a:lstStyle/>
          <a:p>
            <a:pPr indent="0" marL="0">
              <a:buNone/>
            </a:pPr>
            <a:r>
              <a:rPr lang="en-US" sz="1300" dirty="0">
                <a:solidFill>
                  <a:srgbClr val="222222"/>
                </a:solidFill>
                <a:latin typeface="Calibri" pitchFamily="34" charset="0"/>
                <a:ea typeface="Calibri" pitchFamily="34" charset="-122"/>
                <a:cs typeface="Calibri" pitchFamily="34" charset="-120"/>
              </a:rPr>
              <a:t>No blocking wait - split into "trigger" and "finish" via an Alarm or a countdown.</a:t>
            </a:r>
            <a:endParaRPr lang="en-US" sz="1300" dirty="0"/>
          </a:p>
        </p:txBody>
      </p:sp>
      <p:sp>
        <p:nvSpPr>
          <p:cNvPr id="13" name="Shape 10"/>
          <p:cNvSpPr/>
          <p:nvPr/>
        </p:nvSpPr>
        <p:spPr>
          <a:xfrm>
            <a:off x="548640" y="4434840"/>
            <a:ext cx="11064240" cy="960120"/>
          </a:xfrm>
          <a:prstGeom prst="roundRect">
            <a:avLst>
              <a:gd name="adj" fmla="val 9524"/>
            </a:avLst>
          </a:prstGeom>
          <a:solidFill>
            <a:srgbClr val="EDF2F8"/>
          </a:solidFill>
          <a:ln w="12700">
            <a:solidFill>
              <a:srgbClr val="DCE3EC"/>
            </a:solidFill>
            <a:prstDash val="solid"/>
          </a:ln>
        </p:spPr>
      </p:sp>
      <p:sp>
        <p:nvSpPr>
          <p:cNvPr id="14" name="Text 11"/>
          <p:cNvSpPr/>
          <p:nvPr/>
        </p:nvSpPr>
        <p:spPr>
          <a:xfrm>
            <a:off x="822960" y="4544568"/>
            <a:ext cx="3017520" cy="731520"/>
          </a:xfrm>
          <a:prstGeom prst="rect">
            <a:avLst/>
          </a:prstGeom>
          <a:noFill/>
          <a:ln/>
        </p:spPr>
        <p:txBody>
          <a:bodyPr wrap="square" lIns="0" tIns="0" rIns="0" bIns="0" rtlCol="0" anchor="ctr"/>
          <a:lstStyle/>
          <a:p>
            <a:pPr indent="0" marL="0">
              <a:buNone/>
            </a:pPr>
            <a:r>
              <a:rPr lang="en-US" sz="1450" b="1" dirty="0">
                <a:solidFill>
                  <a:srgbClr val="1C4A86"/>
                </a:solidFill>
                <a:latin typeface="Calibri" pitchFamily="34" charset="0"/>
                <a:ea typeface="Calibri" pitchFamily="34" charset="-122"/>
                <a:cs typeface="Calibri" pitchFamily="34" charset="-120"/>
              </a:rPr>
              <a:t>Unreal &amp; 001GC</a:t>
            </a:r>
            <a:endParaRPr lang="en-US" sz="1450" dirty="0"/>
          </a:p>
        </p:txBody>
      </p:sp>
      <p:sp>
        <p:nvSpPr>
          <p:cNvPr id="15" name="Text 12"/>
          <p:cNvSpPr/>
          <p:nvPr/>
        </p:nvSpPr>
        <p:spPr>
          <a:xfrm>
            <a:off x="3931920" y="4544568"/>
            <a:ext cx="7498080" cy="731520"/>
          </a:xfrm>
          <a:prstGeom prst="rect">
            <a:avLst/>
          </a:prstGeom>
          <a:noFill/>
          <a:ln/>
        </p:spPr>
        <p:txBody>
          <a:bodyPr wrap="square" lIns="0" tIns="0" rIns="0" bIns="0" rtlCol="0" anchor="ctr"/>
          <a:lstStyle/>
          <a:p>
            <a:pPr indent="0" marL="0">
              <a:buNone/>
            </a:pPr>
            <a:r>
              <a:rPr lang="en-US" sz="1300" dirty="0">
                <a:solidFill>
                  <a:srgbClr val="222222"/>
                </a:solidFill>
                <a:latin typeface="Calibri" pitchFamily="34" charset="0"/>
                <a:ea typeface="Calibri" pitchFamily="34" charset="-122"/>
                <a:cs typeface="Calibri" pitchFamily="34" charset="-120"/>
              </a:rPr>
              <a:t>Delay node pauses a Blueprint wire; 001GC's Flash manages its own timing.</a:t>
            </a:r>
            <a:endParaRPr lang="en-US" sz="1300" dirty="0"/>
          </a:p>
        </p:txBody>
      </p:sp>
      <p:sp>
        <p:nvSpPr>
          <p:cNvPr id="17" name="Text 13"/>
          <p:cNvSpPr/>
          <p:nvPr/>
        </p:nvSpPr>
        <p:spPr>
          <a:xfrm>
            <a:off x="457200" y="6528816"/>
            <a:ext cx="4572000" cy="274320"/>
          </a:xfrm>
          <a:prstGeom prst="rect">
            <a:avLst/>
          </a:prstGeom>
          <a:noFill/>
          <a:ln/>
        </p:spPr>
        <p:txBody>
          <a:bodyPr wrap="square" lIns="0" tIns="0" rIns="0" bIns="0" rtlCol="0" anchor="ctr"/>
          <a:lstStyle/>
          <a:p>
            <a:pPr indent="0" marL="0">
              <a:buNone/>
            </a:pPr>
            <a:r>
              <a:rPr lang="en-US" sz="1000" b="1" spc="200" kern="0" dirty="0">
                <a:solidFill>
                  <a:srgbClr val="5A6472"/>
                </a:solidFill>
                <a:latin typeface="Calibri" pitchFamily="34" charset="0"/>
                <a:ea typeface="Calibri" pitchFamily="34" charset="-122"/>
                <a:cs typeface="Calibri" pitchFamily="34" charset="-120"/>
              </a:rPr>
              <a:t>VIDEO GAME CREATION</a:t>
            </a:r>
            <a:endParaRPr lang="en-US" sz="1000" dirty="0"/>
          </a:p>
        </p:txBody>
      </p:sp>
      <p:sp>
        <p:nvSpPr>
          <p:cNvPr id="18" name="Text 14"/>
          <p:cNvSpPr/>
          <p:nvPr/>
        </p:nvSpPr>
        <p:spPr>
          <a:xfrm>
            <a:off x="10088575" y="6528816"/>
            <a:ext cx="1371600" cy="274320"/>
          </a:xfrm>
          <a:prstGeom prst="rect">
            <a:avLst/>
          </a:prstGeom>
          <a:noFill/>
          <a:ln/>
        </p:spPr>
        <p:txBody>
          <a:bodyPr wrap="square" lIns="0" tIns="0" rIns="0" bIns="0" rtlCol="0" anchor="ctr"/>
          <a:lstStyle/>
          <a:p>
            <a:pPr algn="r" indent="0" marL="0">
              <a:buNone/>
            </a:pPr>
            <a:r>
              <a:rPr lang="en-US" sz="1000" dirty="0">
                <a:solidFill>
                  <a:srgbClr val="5A6472"/>
                </a:solidFill>
                <a:latin typeface="Calibri" pitchFamily="34" charset="0"/>
                <a:ea typeface="Calibri" pitchFamily="34" charset="-122"/>
                <a:cs typeface="Calibri" pitchFamily="34" charset="-120"/>
              </a:rPr>
              <a:t>Lesson 13</a:t>
            </a:r>
            <a:endParaRPr lang="en-US" sz="1000" dirty="0"/>
          </a:p>
        </p:txBody>
      </p:sp>
      <p:sp>
        <p:nvSpPr>
          <p:cNvPr id="19" name="Text 15"/>
          <p:cNvSpPr/>
          <p:nvPr/>
        </p:nvSpPr>
        <p:spPr>
          <a:xfrm>
            <a:off x="11505895" y="6528816"/>
            <a:ext cx="411480" cy="274320"/>
          </a:xfrm>
          <a:prstGeom prst="rect">
            <a:avLst/>
          </a:prstGeom>
          <a:noFill/>
          <a:ln/>
        </p:spPr>
        <p:txBody>
          <a:bodyPr wrap="square" lIns="0" tIns="0" rIns="0" bIns="0" rtlCol="0" anchor="ctr"/>
          <a:lstStyle/>
          <a:p>
            <a:pPr algn="r" indent="0" marL="0">
              <a:buNone/>
            </a:pPr>
            <a:r>
              <a:rPr lang="en-US" sz="1000" dirty="0">
                <a:solidFill>
                  <a:srgbClr val="5A6472"/>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bg_title_wrench.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2834640" y="2377440"/>
            <a:ext cx="8412480" cy="914400"/>
          </a:xfrm>
          <a:prstGeom prst="rect">
            <a:avLst/>
          </a:prstGeom>
          <a:noFill/>
          <a:ln/>
        </p:spPr>
        <p:txBody>
          <a:bodyPr wrap="square" lIns="0" tIns="0" rIns="0" bIns="0" rtlCol="0" anchor="ctr"/>
          <a:lstStyle/>
          <a:p>
            <a:pPr indent="0" marL="0">
              <a:buNone/>
            </a:pPr>
            <a:r>
              <a:rPr lang="en-US" sz="4000" b="1" dirty="0">
                <a:solidFill>
                  <a:srgbClr val="E8C25A"/>
                </a:solidFill>
                <a:latin typeface="Cambria" pitchFamily="34" charset="0"/>
                <a:ea typeface="Cambria" pitchFamily="34" charset="-122"/>
                <a:cs typeface="Cambria" pitchFamily="34" charset="-120"/>
              </a:rPr>
              <a:t>Minds Its Own Business</a:t>
            </a:r>
            <a:endParaRPr lang="en-US" sz="4000" dirty="0"/>
          </a:p>
        </p:txBody>
      </p:sp>
      <p:sp>
        <p:nvSpPr>
          <p:cNvPr id="4" name="Text 1"/>
          <p:cNvSpPr/>
          <p:nvPr/>
        </p:nvSpPr>
        <p:spPr>
          <a:xfrm>
            <a:off x="2880360" y="3337560"/>
            <a:ext cx="8229600" cy="640080"/>
          </a:xfrm>
          <a:prstGeom prst="rect">
            <a:avLst/>
          </a:prstGeom>
          <a:noFill/>
          <a:ln/>
        </p:spPr>
        <p:txBody>
          <a:bodyPr wrap="square" lIns="0" tIns="0" rIns="0" bIns="0" rtlCol="0" anchor="ctr"/>
          <a:lstStyle/>
          <a:p>
            <a:pPr indent="0" marL="0">
              <a:buNone/>
            </a:pPr>
            <a:r>
              <a:rPr lang="en-US" sz="1600" dirty="0">
                <a:solidFill>
                  <a:srgbClr val="F4F0E6"/>
                </a:solidFill>
                <a:latin typeface="Calibri" pitchFamily="34" charset="0"/>
                <a:ea typeface="Calibri" pitchFamily="34" charset="-122"/>
                <a:cs typeface="Calibri" pitchFamily="34" charset="-120"/>
              </a:rPr>
              <a:t>One object, one job, cleans up after itself.</a:t>
            </a:r>
            <a:endParaRPr lang="en-US" sz="1600" dirty="0"/>
          </a:p>
        </p:txBody>
      </p:sp>
      <p:sp>
        <p:nvSpPr>
          <p:cNvPr id="5" name="Shape 2"/>
          <p:cNvSpPr/>
          <p:nvPr/>
        </p:nvSpPr>
        <p:spPr>
          <a:xfrm>
            <a:off x="2880360" y="3977640"/>
            <a:ext cx="1371600" cy="347472"/>
          </a:xfrm>
          <a:prstGeom prst="roundRect">
            <a:avLst>
              <a:gd name="adj" fmla="val 50000"/>
            </a:avLst>
          </a:prstGeom>
          <a:solidFill>
            <a:srgbClr val="0F2C52"/>
          </a:solidFill>
          <a:ln w="12700">
            <a:solidFill>
              <a:srgbClr val="C99A2E"/>
            </a:solidFill>
            <a:prstDash val="solid"/>
          </a:ln>
        </p:spPr>
      </p:sp>
      <p:sp>
        <p:nvSpPr>
          <p:cNvPr id="6" name="Text 3"/>
          <p:cNvSpPr/>
          <p:nvPr/>
        </p:nvSpPr>
        <p:spPr>
          <a:xfrm>
            <a:off x="2880360" y="3977640"/>
            <a:ext cx="1371600" cy="347472"/>
          </a:xfrm>
          <a:prstGeom prst="rect">
            <a:avLst/>
          </a:prstGeom>
          <a:noFill/>
          <a:ln/>
        </p:spPr>
        <p:txBody>
          <a:bodyPr wrap="square" lIns="0" tIns="0" rIns="0" bIns="0" rtlCol="0" anchor="ctr"/>
          <a:lstStyle/>
          <a:p>
            <a:pPr algn="ctr" indent="0" marL="0">
              <a:buNone/>
            </a:pPr>
            <a:r>
              <a:rPr lang="en-US" sz="1200" b="1" dirty="0">
                <a:solidFill>
                  <a:srgbClr val="E8C25A"/>
                </a:solidFill>
                <a:latin typeface="Calibri" pitchFamily="34" charset="0"/>
                <a:ea typeface="Calibri" pitchFamily="34" charset="-122"/>
                <a:cs typeface="Calibri" pitchFamily="34" charset="-120"/>
              </a:rPr>
              <a:t>10 min</a:t>
            </a:r>
            <a:endParaRPr lang="en-US" sz="1200" dirty="0"/>
          </a:p>
        </p:txBody>
      </p:sp>
      <p:sp>
        <p:nvSpPr>
          <p:cNvPr id="7" name="Text 4"/>
          <p:cNvSpPr/>
          <p:nvPr/>
        </p:nvSpPr>
        <p:spPr>
          <a:xfrm>
            <a:off x="457200" y="6528816"/>
            <a:ext cx="4572000" cy="274320"/>
          </a:xfrm>
          <a:prstGeom prst="rect">
            <a:avLst/>
          </a:prstGeom>
          <a:noFill/>
          <a:ln/>
        </p:spPr>
        <p:txBody>
          <a:bodyPr wrap="square" lIns="0" tIns="0" rIns="0" bIns="0" rtlCol="0" anchor="ctr"/>
          <a:lstStyle/>
          <a:p>
            <a:pPr indent="0" marL="0">
              <a:buNone/>
            </a:pPr>
            <a:r>
              <a:rPr lang="en-US" sz="1000" b="1" spc="200" kern="0" dirty="0">
                <a:solidFill>
                  <a:srgbClr val="E8C25A"/>
                </a:solidFill>
                <a:latin typeface="Calibri" pitchFamily="34" charset="0"/>
                <a:ea typeface="Calibri" pitchFamily="34" charset="-122"/>
                <a:cs typeface="Calibri" pitchFamily="34" charset="-120"/>
              </a:rPr>
              <a:t>VIDEO GAME CREATION</a:t>
            </a:r>
            <a:endParaRPr lang="en-US" sz="1000" dirty="0"/>
          </a:p>
        </p:txBody>
      </p:sp>
      <p:sp>
        <p:nvSpPr>
          <p:cNvPr id="8" name="Text 5"/>
          <p:cNvSpPr/>
          <p:nvPr/>
        </p:nvSpPr>
        <p:spPr>
          <a:xfrm>
            <a:off x="10088575" y="6528816"/>
            <a:ext cx="1371600" cy="274320"/>
          </a:xfrm>
          <a:prstGeom prst="rect">
            <a:avLst/>
          </a:prstGeom>
          <a:noFill/>
          <a:ln/>
        </p:spPr>
        <p:txBody>
          <a:bodyPr wrap="square" lIns="0" tIns="0" rIns="0" bIns="0" rtlCol="0" anchor="ctr"/>
          <a:lstStyle/>
          <a:p>
            <a:pPr algn="r" indent="0" marL="0">
              <a:buNone/>
            </a:pPr>
            <a:r>
              <a:rPr lang="en-US" sz="1000" dirty="0">
                <a:solidFill>
                  <a:srgbClr val="E8C25A"/>
                </a:solidFill>
                <a:latin typeface="Calibri" pitchFamily="34" charset="0"/>
                <a:ea typeface="Calibri" pitchFamily="34" charset="-122"/>
                <a:cs typeface="Calibri" pitchFamily="34" charset="-120"/>
              </a:rPr>
              <a:t>Lesson 13</a:t>
            </a:r>
            <a:endParaRPr lang="en-US" sz="1000" dirty="0"/>
          </a:p>
        </p:txBody>
      </p:sp>
      <p:sp>
        <p:nvSpPr>
          <p:cNvPr id="9" name="Text 6"/>
          <p:cNvSpPr/>
          <p:nvPr/>
        </p:nvSpPr>
        <p:spPr>
          <a:xfrm>
            <a:off x="11505895" y="6528816"/>
            <a:ext cx="411480" cy="274320"/>
          </a:xfrm>
          <a:prstGeom prst="rect">
            <a:avLst/>
          </a:prstGeom>
          <a:noFill/>
          <a:ln/>
        </p:spPr>
        <p:txBody>
          <a:bodyPr wrap="square" lIns="0" tIns="0" rIns="0" bIns="0" rtlCol="0" anchor="ctr"/>
          <a:lstStyle/>
          <a:p>
            <a:pPr algn="r" indent="0" marL="0">
              <a:buNone/>
            </a:pPr>
            <a:r>
              <a:rPr lang="en-US" sz="1000" dirty="0">
                <a:solidFill>
                  <a:srgbClr val="E8C25A"/>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bg_content.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2800" b="1" dirty="0">
                <a:solidFill>
                  <a:srgbClr val="1C4A86"/>
                </a:solidFill>
                <a:latin typeface="Cambria" pitchFamily="34" charset="0"/>
                <a:ea typeface="Cambria" pitchFamily="34" charset="-122"/>
                <a:cs typeface="Cambria" pitchFamily="34" charset="-120"/>
              </a:rPr>
              <a:t>An Explosion That Minds Its Own Business</a:t>
            </a:r>
            <a:endParaRPr lang="en-US" sz="2800" dirty="0"/>
          </a:p>
        </p:txBody>
      </p:sp>
      <p:sp>
        <p:nvSpPr>
          <p:cNvPr id="4" name="Shape 1"/>
          <p:cNvSpPr/>
          <p:nvPr/>
        </p:nvSpPr>
        <p:spPr>
          <a:xfrm>
            <a:off x="10424160" y="457200"/>
            <a:ext cx="1188720" cy="347472"/>
          </a:xfrm>
          <a:prstGeom prst="roundRect">
            <a:avLst>
              <a:gd name="adj" fmla="val 50000"/>
            </a:avLst>
          </a:prstGeom>
          <a:solidFill>
            <a:srgbClr val="F4F0E6"/>
          </a:solidFill>
          <a:ln w="12700">
            <a:solidFill>
              <a:srgbClr val="C99A2E"/>
            </a:solidFill>
            <a:prstDash val="solid"/>
          </a:ln>
        </p:spPr>
      </p:sp>
      <p:sp>
        <p:nvSpPr>
          <p:cNvPr id="5" name="Text 2"/>
          <p:cNvSpPr/>
          <p:nvPr/>
        </p:nvSpPr>
        <p:spPr>
          <a:xfrm>
            <a:off x="10424160" y="457200"/>
            <a:ext cx="1188720" cy="347472"/>
          </a:xfrm>
          <a:prstGeom prst="rect">
            <a:avLst/>
          </a:prstGeom>
          <a:noFill/>
          <a:ln/>
        </p:spPr>
        <p:txBody>
          <a:bodyPr wrap="square" lIns="0" tIns="0" rIns="0" bIns="0" rtlCol="0" anchor="ctr"/>
          <a:lstStyle/>
          <a:p>
            <a:pPr algn="ctr" indent="0" marL="0">
              <a:buNone/>
            </a:pPr>
            <a:r>
              <a:rPr lang="en-US" sz="1200" b="1" dirty="0">
                <a:solidFill>
                  <a:srgbClr val="1C4A86"/>
                </a:solidFill>
                <a:latin typeface="Calibri" pitchFamily="34" charset="0"/>
                <a:ea typeface="Calibri" pitchFamily="34" charset="-122"/>
                <a:cs typeface="Calibri" pitchFamily="34" charset="-120"/>
              </a:rPr>
              <a:t>10 min</a:t>
            </a:r>
            <a:endParaRPr lang="en-US" sz="1200" dirty="0"/>
          </a:p>
        </p:txBody>
      </p:sp>
      <p:sp>
        <p:nvSpPr>
          <p:cNvPr id="6" name="Shape 3"/>
          <p:cNvSpPr/>
          <p:nvPr/>
        </p:nvSpPr>
        <p:spPr>
          <a:xfrm>
            <a:off x="548640" y="1371600"/>
            <a:ext cx="11064240" cy="1554480"/>
          </a:xfrm>
          <a:prstGeom prst="roundRect">
            <a:avLst>
              <a:gd name="adj" fmla="val 7059"/>
            </a:avLst>
          </a:prstGeom>
          <a:solidFill>
            <a:srgbClr val="EDF2F8"/>
          </a:solidFill>
          <a:ln/>
        </p:spPr>
      </p:sp>
      <p:pic>
        <p:nvPicPr>
          <p:cNvPr id="7" name="Image 1" descr="icons/wrench.png">    </p:cNvPr>
          <p:cNvPicPr>
            <a:picLocks noChangeAspect="1"/>
          </p:cNvPicPr>
          <p:nvPr/>
        </p:nvPicPr>
        <p:blipFill>
          <a:blip r:embed="rId2"/>
          <a:stretch>
            <a:fillRect/>
          </a:stretch>
        </p:blipFill>
        <p:spPr>
          <a:xfrm>
            <a:off x="777240" y="1600200"/>
            <a:ext cx="502920" cy="502920"/>
          </a:xfrm>
          <a:prstGeom prst="rect">
            <a:avLst/>
          </a:prstGeom>
        </p:spPr>
      </p:pic>
      <p:sp>
        <p:nvSpPr>
          <p:cNvPr id="8" name="Text 4"/>
          <p:cNvSpPr/>
          <p:nvPr/>
        </p:nvSpPr>
        <p:spPr>
          <a:xfrm>
            <a:off x="1463040" y="1508760"/>
            <a:ext cx="9966960" cy="1280160"/>
          </a:xfrm>
          <a:prstGeom prst="rect">
            <a:avLst/>
          </a:prstGeom>
          <a:noFill/>
          <a:ln/>
        </p:spPr>
        <p:txBody>
          <a:bodyPr wrap="square" lIns="0" tIns="0" rIns="0" bIns="0" rtlCol="0" anchor="ctr"/>
          <a:lstStyle/>
          <a:p>
            <a:pPr indent="0" marL="0">
              <a:buNone/>
            </a:pPr>
            <a:r>
              <a:rPr lang="en-US" sz="1400" dirty="0">
                <a:solidFill>
                  <a:srgbClr val="222222"/>
                </a:solidFill>
                <a:latin typeface="Calibri" pitchFamily="34" charset="0"/>
                <a:ea typeface="Calibri" pitchFamily="34" charset="-122"/>
                <a:cs typeface="Calibri" pitchFamily="34" charset="-120"/>
              </a:rPr>
              <a:t>The explosion spawns at the hit location and immediately forgets everything else - no score, no wave, not even which enemy made it. It plays itself out and cleans itself up, on its own.</a:t>
            </a:r>
            <a:endParaRPr lang="en-US" sz="1400" dirty="0"/>
          </a:p>
        </p:txBody>
      </p:sp>
      <p:sp>
        <p:nvSpPr>
          <p:cNvPr id="9" name="Shape 5"/>
          <p:cNvSpPr/>
          <p:nvPr/>
        </p:nvSpPr>
        <p:spPr>
          <a:xfrm>
            <a:off x="548640" y="3108960"/>
            <a:ext cx="11064240" cy="1417320"/>
          </a:xfrm>
          <a:prstGeom prst="roundRect">
            <a:avLst>
              <a:gd name="adj" fmla="val 7742"/>
            </a:avLst>
          </a:prstGeom>
          <a:solidFill>
            <a:srgbClr val="0F2C52"/>
          </a:solidFill>
          <a:ln w="12700">
            <a:solidFill>
              <a:srgbClr val="C99A2E"/>
            </a:solidFill>
            <a:prstDash val="solid"/>
          </a:ln>
        </p:spPr>
      </p:sp>
      <p:sp>
        <p:nvSpPr>
          <p:cNvPr id="10" name="Text 6"/>
          <p:cNvSpPr/>
          <p:nvPr/>
        </p:nvSpPr>
        <p:spPr>
          <a:xfrm>
            <a:off x="822960" y="3291840"/>
            <a:ext cx="10515600" cy="1097280"/>
          </a:xfrm>
          <a:prstGeom prst="rect">
            <a:avLst/>
          </a:prstGeom>
          <a:noFill/>
          <a:ln/>
        </p:spPr>
        <p:txBody>
          <a:bodyPr wrap="square" lIns="0" tIns="0" rIns="0" bIns="0" rtlCol="0" anchor="ctr"/>
          <a:lstStyle/>
          <a:p>
            <a:pPr indent="0" marL="0">
              <a:buNone/>
            </a:pPr>
            <a:r>
              <a:rPr lang="en-US" sz="1400" i="1" dirty="0">
                <a:solidFill>
                  <a:srgbClr val="F4F0E6"/>
                </a:solidFill>
                <a:latin typeface="Calibri" pitchFamily="34" charset="0"/>
                <a:ea typeface="Calibri" pitchFamily="34" charset="-122"/>
                <a:cs typeface="Calibri" pitchFamily="34" charset="-120"/>
              </a:rPr>
              <a:t>This is the exact same discipline your bullets have followed since Lesson 3, and your enemies since Lesson 5. Every object, one job, cleans up after itself. The explosion is just the newest member of that club.</a:t>
            </a:r>
            <a:endParaRPr lang="en-US" sz="1400" dirty="0"/>
          </a:p>
        </p:txBody>
      </p:sp>
      <p:sp>
        <p:nvSpPr>
          <p:cNvPr id="12" name="Text 7"/>
          <p:cNvSpPr/>
          <p:nvPr/>
        </p:nvSpPr>
        <p:spPr>
          <a:xfrm>
            <a:off x="457200" y="6528816"/>
            <a:ext cx="4572000" cy="274320"/>
          </a:xfrm>
          <a:prstGeom prst="rect">
            <a:avLst/>
          </a:prstGeom>
          <a:noFill/>
          <a:ln/>
        </p:spPr>
        <p:txBody>
          <a:bodyPr wrap="square" lIns="0" tIns="0" rIns="0" bIns="0" rtlCol="0" anchor="ctr"/>
          <a:lstStyle/>
          <a:p>
            <a:pPr indent="0" marL="0">
              <a:buNone/>
            </a:pPr>
            <a:r>
              <a:rPr lang="en-US" sz="1000" b="1" spc="200" kern="0" dirty="0">
                <a:solidFill>
                  <a:srgbClr val="5A6472"/>
                </a:solidFill>
                <a:latin typeface="Calibri" pitchFamily="34" charset="0"/>
                <a:ea typeface="Calibri" pitchFamily="34" charset="-122"/>
                <a:cs typeface="Calibri" pitchFamily="34" charset="-120"/>
              </a:rPr>
              <a:t>VIDEO GAME CREATION</a:t>
            </a:r>
            <a:endParaRPr lang="en-US" sz="1000" dirty="0"/>
          </a:p>
        </p:txBody>
      </p:sp>
      <p:sp>
        <p:nvSpPr>
          <p:cNvPr id="13" name="Text 8"/>
          <p:cNvSpPr/>
          <p:nvPr/>
        </p:nvSpPr>
        <p:spPr>
          <a:xfrm>
            <a:off x="10088575" y="6528816"/>
            <a:ext cx="1371600" cy="274320"/>
          </a:xfrm>
          <a:prstGeom prst="rect">
            <a:avLst/>
          </a:prstGeom>
          <a:noFill/>
          <a:ln/>
        </p:spPr>
        <p:txBody>
          <a:bodyPr wrap="square" lIns="0" tIns="0" rIns="0" bIns="0" rtlCol="0" anchor="ctr"/>
          <a:lstStyle/>
          <a:p>
            <a:pPr algn="r" indent="0" marL="0">
              <a:buNone/>
            </a:pPr>
            <a:r>
              <a:rPr lang="en-US" sz="1000" dirty="0">
                <a:solidFill>
                  <a:srgbClr val="5A6472"/>
                </a:solidFill>
                <a:latin typeface="Calibri" pitchFamily="34" charset="0"/>
                <a:ea typeface="Calibri" pitchFamily="34" charset="-122"/>
                <a:cs typeface="Calibri" pitchFamily="34" charset="-120"/>
              </a:rPr>
              <a:t>Lesson 13</a:t>
            </a:r>
            <a:endParaRPr lang="en-US" sz="1000" dirty="0"/>
          </a:p>
        </p:txBody>
      </p:sp>
      <p:sp>
        <p:nvSpPr>
          <p:cNvPr id="14" name="Text 9"/>
          <p:cNvSpPr/>
          <p:nvPr/>
        </p:nvSpPr>
        <p:spPr>
          <a:xfrm>
            <a:off x="11505895" y="6528816"/>
            <a:ext cx="411480" cy="274320"/>
          </a:xfrm>
          <a:prstGeom prst="rect">
            <a:avLst/>
          </a:prstGeom>
          <a:noFill/>
          <a:ln/>
        </p:spPr>
        <p:txBody>
          <a:bodyPr wrap="square" lIns="0" tIns="0" rIns="0" bIns="0" rtlCol="0" anchor="ctr"/>
          <a:lstStyle/>
          <a:p>
            <a:pPr algn="r" indent="0" marL="0">
              <a:buNone/>
            </a:pPr>
            <a:r>
              <a:rPr lang="en-US" sz="1000" dirty="0">
                <a:solidFill>
                  <a:srgbClr val="5A6472"/>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bg_title_production.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2834640" y="2377440"/>
            <a:ext cx="8412480" cy="914400"/>
          </a:xfrm>
          <a:prstGeom prst="rect">
            <a:avLst/>
          </a:prstGeom>
          <a:noFill/>
          <a:ln/>
        </p:spPr>
        <p:txBody>
          <a:bodyPr wrap="square" lIns="0" tIns="0" rIns="0" bIns="0" rtlCol="0" anchor="ctr"/>
          <a:lstStyle/>
          <a:p>
            <a:pPr indent="0" marL="0">
              <a:buNone/>
            </a:pPr>
            <a:r>
              <a:rPr lang="en-US" sz="4000" b="1" dirty="0">
                <a:solidFill>
                  <a:srgbClr val="E8C25A"/>
                </a:solidFill>
                <a:latin typeface="Cambria" pitchFamily="34" charset="0"/>
                <a:ea typeface="Cambria" pitchFamily="34" charset="-122"/>
                <a:cs typeface="Cambria" pitchFamily="34" charset="-120"/>
              </a:rPr>
              <a:t>Today's Exercise &amp; Lab</a:t>
            </a:r>
            <a:endParaRPr lang="en-US" sz="4000" dirty="0"/>
          </a:p>
        </p:txBody>
      </p:sp>
      <p:sp>
        <p:nvSpPr>
          <p:cNvPr id="4" name="Text 1"/>
          <p:cNvSpPr/>
          <p:nvPr/>
        </p:nvSpPr>
        <p:spPr>
          <a:xfrm>
            <a:off x="2880360" y="3337560"/>
            <a:ext cx="8229600" cy="640080"/>
          </a:xfrm>
          <a:prstGeom prst="rect">
            <a:avLst/>
          </a:prstGeom>
          <a:noFill/>
          <a:ln/>
        </p:spPr>
        <p:txBody>
          <a:bodyPr wrap="square" lIns="0" tIns="0" rIns="0" bIns="0" rtlCol="0" anchor="ctr"/>
          <a:lstStyle/>
          <a:p>
            <a:pPr indent="0" marL="0">
              <a:buNone/>
            </a:pPr>
            <a:r>
              <a:rPr lang="en-US" sz="1600" dirty="0">
                <a:solidFill>
                  <a:srgbClr val="F4F0E6"/>
                </a:solidFill>
                <a:latin typeface="Calibri" pitchFamily="34" charset="0"/>
                <a:ea typeface="Calibri" pitchFamily="34" charset="-122"/>
                <a:cs typeface="Calibri" pitchFamily="34" charset="-120"/>
              </a:rPr>
              <a:t>A Hit That Reacts - building the feedback loop.</a:t>
            </a:r>
            <a:endParaRPr lang="en-US" sz="1600" dirty="0"/>
          </a:p>
        </p:txBody>
      </p:sp>
      <p:sp>
        <p:nvSpPr>
          <p:cNvPr id="5" name="Shape 2"/>
          <p:cNvSpPr/>
          <p:nvPr/>
        </p:nvSpPr>
        <p:spPr>
          <a:xfrm>
            <a:off x="2880360" y="3977640"/>
            <a:ext cx="1371600" cy="347472"/>
          </a:xfrm>
          <a:prstGeom prst="roundRect">
            <a:avLst>
              <a:gd name="adj" fmla="val 50000"/>
            </a:avLst>
          </a:prstGeom>
          <a:solidFill>
            <a:srgbClr val="0F2C52"/>
          </a:solidFill>
          <a:ln w="12700">
            <a:solidFill>
              <a:srgbClr val="C99A2E"/>
            </a:solidFill>
            <a:prstDash val="solid"/>
          </a:ln>
        </p:spPr>
      </p:sp>
      <p:sp>
        <p:nvSpPr>
          <p:cNvPr id="6" name="Text 3"/>
          <p:cNvSpPr/>
          <p:nvPr/>
        </p:nvSpPr>
        <p:spPr>
          <a:xfrm>
            <a:off x="2880360" y="3977640"/>
            <a:ext cx="1371600" cy="347472"/>
          </a:xfrm>
          <a:prstGeom prst="rect">
            <a:avLst/>
          </a:prstGeom>
          <a:noFill/>
          <a:ln/>
        </p:spPr>
        <p:txBody>
          <a:bodyPr wrap="square" lIns="0" tIns="0" rIns="0" bIns="0" rtlCol="0" anchor="ctr"/>
          <a:lstStyle/>
          <a:p>
            <a:pPr algn="ctr" indent="0" marL="0">
              <a:buNone/>
            </a:pPr>
            <a:r>
              <a:rPr lang="en-US" sz="1200" b="1" dirty="0">
                <a:solidFill>
                  <a:srgbClr val="E8C25A"/>
                </a:solidFill>
                <a:latin typeface="Calibri" pitchFamily="34" charset="0"/>
                <a:ea typeface="Calibri" pitchFamily="34" charset="-122"/>
                <a:cs typeface="Calibri" pitchFamily="34" charset="-120"/>
              </a:rPr>
              <a:t>5 min</a:t>
            </a:r>
            <a:endParaRPr lang="en-US" sz="1200" dirty="0"/>
          </a:p>
        </p:txBody>
      </p:sp>
      <p:sp>
        <p:nvSpPr>
          <p:cNvPr id="7" name="Text 4"/>
          <p:cNvSpPr/>
          <p:nvPr/>
        </p:nvSpPr>
        <p:spPr>
          <a:xfrm>
            <a:off x="457200" y="6528816"/>
            <a:ext cx="4572000" cy="274320"/>
          </a:xfrm>
          <a:prstGeom prst="rect">
            <a:avLst/>
          </a:prstGeom>
          <a:noFill/>
          <a:ln/>
        </p:spPr>
        <p:txBody>
          <a:bodyPr wrap="square" lIns="0" tIns="0" rIns="0" bIns="0" rtlCol="0" anchor="ctr"/>
          <a:lstStyle/>
          <a:p>
            <a:pPr indent="0" marL="0">
              <a:buNone/>
            </a:pPr>
            <a:r>
              <a:rPr lang="en-US" sz="1000" b="1" spc="200" kern="0" dirty="0">
                <a:solidFill>
                  <a:srgbClr val="E8C25A"/>
                </a:solidFill>
                <a:latin typeface="Calibri" pitchFamily="34" charset="0"/>
                <a:ea typeface="Calibri" pitchFamily="34" charset="-122"/>
                <a:cs typeface="Calibri" pitchFamily="34" charset="-120"/>
              </a:rPr>
              <a:t>VIDEO GAME CREATION</a:t>
            </a:r>
            <a:endParaRPr lang="en-US" sz="1000" dirty="0"/>
          </a:p>
        </p:txBody>
      </p:sp>
      <p:sp>
        <p:nvSpPr>
          <p:cNvPr id="8" name="Text 5"/>
          <p:cNvSpPr/>
          <p:nvPr/>
        </p:nvSpPr>
        <p:spPr>
          <a:xfrm>
            <a:off x="10088575" y="6528816"/>
            <a:ext cx="1371600" cy="274320"/>
          </a:xfrm>
          <a:prstGeom prst="rect">
            <a:avLst/>
          </a:prstGeom>
          <a:noFill/>
          <a:ln/>
        </p:spPr>
        <p:txBody>
          <a:bodyPr wrap="square" lIns="0" tIns="0" rIns="0" bIns="0" rtlCol="0" anchor="ctr"/>
          <a:lstStyle/>
          <a:p>
            <a:pPr algn="r" indent="0" marL="0">
              <a:buNone/>
            </a:pPr>
            <a:r>
              <a:rPr lang="en-US" sz="1000" dirty="0">
                <a:solidFill>
                  <a:srgbClr val="E8C25A"/>
                </a:solidFill>
                <a:latin typeface="Calibri" pitchFamily="34" charset="0"/>
                <a:ea typeface="Calibri" pitchFamily="34" charset="-122"/>
                <a:cs typeface="Calibri" pitchFamily="34" charset="-120"/>
              </a:rPr>
              <a:t>Lesson 13</a:t>
            </a:r>
            <a:endParaRPr lang="en-US" sz="1000" dirty="0"/>
          </a:p>
        </p:txBody>
      </p:sp>
      <p:sp>
        <p:nvSpPr>
          <p:cNvPr id="9" name="Text 6"/>
          <p:cNvSpPr/>
          <p:nvPr/>
        </p:nvSpPr>
        <p:spPr>
          <a:xfrm>
            <a:off x="11505895" y="6528816"/>
            <a:ext cx="411480" cy="274320"/>
          </a:xfrm>
          <a:prstGeom prst="rect">
            <a:avLst/>
          </a:prstGeom>
          <a:noFill/>
          <a:ln/>
        </p:spPr>
        <p:txBody>
          <a:bodyPr wrap="square" lIns="0" tIns="0" rIns="0" bIns="0" rtlCol="0" anchor="ctr"/>
          <a:lstStyle/>
          <a:p>
            <a:pPr algn="r" indent="0" marL="0">
              <a:buNone/>
            </a:pPr>
            <a:r>
              <a:rPr lang="en-US" sz="1000" dirty="0">
                <a:solidFill>
                  <a:srgbClr val="E8C25A"/>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bg_content.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 y="411480"/>
            <a:ext cx="8686800" cy="640080"/>
          </a:xfrm>
          <a:prstGeom prst="rect">
            <a:avLst/>
          </a:prstGeom>
          <a:noFill/>
          <a:ln/>
        </p:spPr>
        <p:txBody>
          <a:bodyPr wrap="square" lIns="0" tIns="0" rIns="0" bIns="0" rtlCol="0" anchor="ctr"/>
          <a:lstStyle/>
          <a:p>
            <a:pPr indent="0" marL="0">
              <a:buNone/>
            </a:pPr>
            <a:r>
              <a:rPr lang="en-US" sz="3400" b="1" dirty="0">
                <a:solidFill>
                  <a:srgbClr val="1C4A86"/>
                </a:solidFill>
                <a:latin typeface="Cambria" pitchFamily="34" charset="0"/>
                <a:ea typeface="Cambria" pitchFamily="34" charset="-122"/>
                <a:cs typeface="Cambria" pitchFamily="34" charset="-120"/>
              </a:rPr>
              <a:t>A Hit That Reacts</a:t>
            </a:r>
            <a:endParaRPr lang="en-US" sz="3400" dirty="0"/>
          </a:p>
        </p:txBody>
      </p:sp>
      <p:sp>
        <p:nvSpPr>
          <p:cNvPr id="4" name="Shape 1"/>
          <p:cNvSpPr/>
          <p:nvPr/>
        </p:nvSpPr>
        <p:spPr>
          <a:xfrm>
            <a:off x="10424160" y="457200"/>
            <a:ext cx="1188720" cy="347472"/>
          </a:xfrm>
          <a:prstGeom prst="roundRect">
            <a:avLst>
              <a:gd name="adj" fmla="val 50000"/>
            </a:avLst>
          </a:prstGeom>
          <a:solidFill>
            <a:srgbClr val="F4F0E6"/>
          </a:solidFill>
          <a:ln w="12700">
            <a:solidFill>
              <a:srgbClr val="C99A2E"/>
            </a:solidFill>
            <a:prstDash val="solid"/>
          </a:ln>
        </p:spPr>
      </p:sp>
      <p:sp>
        <p:nvSpPr>
          <p:cNvPr id="5" name="Text 2"/>
          <p:cNvSpPr/>
          <p:nvPr/>
        </p:nvSpPr>
        <p:spPr>
          <a:xfrm>
            <a:off x="10424160" y="457200"/>
            <a:ext cx="1188720" cy="347472"/>
          </a:xfrm>
          <a:prstGeom prst="rect">
            <a:avLst/>
          </a:prstGeom>
          <a:noFill/>
          <a:ln/>
        </p:spPr>
        <p:txBody>
          <a:bodyPr wrap="square" lIns="0" tIns="0" rIns="0" bIns="0" rtlCol="0" anchor="ctr"/>
          <a:lstStyle/>
          <a:p>
            <a:pPr algn="ctr" indent="0" marL="0">
              <a:buNone/>
            </a:pPr>
            <a:r>
              <a:rPr lang="en-US" sz="1200" b="1" dirty="0">
                <a:solidFill>
                  <a:srgbClr val="1C4A86"/>
                </a:solidFill>
                <a:latin typeface="Calibri" pitchFamily="34" charset="0"/>
                <a:ea typeface="Calibri" pitchFamily="34" charset="-122"/>
                <a:cs typeface="Calibri" pitchFamily="34" charset="-120"/>
              </a:rPr>
              <a:t>5 min</a:t>
            </a:r>
            <a:endParaRPr lang="en-US" sz="1200" dirty="0"/>
          </a:p>
        </p:txBody>
      </p:sp>
      <p:sp>
        <p:nvSpPr>
          <p:cNvPr id="6" name="Text 3"/>
          <p:cNvSpPr/>
          <p:nvPr/>
        </p:nvSpPr>
        <p:spPr>
          <a:xfrm>
            <a:off x="548640" y="1280160"/>
            <a:ext cx="10881360" cy="594360"/>
          </a:xfrm>
          <a:prstGeom prst="rect">
            <a:avLst/>
          </a:prstGeom>
          <a:noFill/>
          <a:ln/>
        </p:spPr>
        <p:txBody>
          <a:bodyPr wrap="square" lIns="0" tIns="0" rIns="0" bIns="0" rtlCol="0" anchor="ctr"/>
          <a:lstStyle/>
          <a:p>
            <a:pPr indent="0" marL="0">
              <a:buNone/>
            </a:pPr>
            <a:r>
              <a:rPr lang="en-US" sz="1450" dirty="0">
                <a:solidFill>
                  <a:srgbClr val="222222"/>
                </a:solidFill>
                <a:latin typeface="Calibri" pitchFamily="34" charset="0"/>
                <a:ea typeface="Calibri" pitchFamily="34" charset="-122"/>
                <a:cs typeface="Calibri" pitchFamily="34" charset="-120"/>
              </a:rPr>
              <a:t>Add a flash and an independent explosion effect - built on top of your existing project, with zero change to game-state timing.</a:t>
            </a:r>
            <a:endParaRPr lang="en-US" sz="1450" dirty="0"/>
          </a:p>
        </p:txBody>
      </p:sp>
      <p:sp>
        <p:nvSpPr>
          <p:cNvPr id="7" name="Shape 4"/>
          <p:cNvSpPr/>
          <p:nvPr/>
        </p:nvSpPr>
        <p:spPr>
          <a:xfrm>
            <a:off x="548640" y="2103120"/>
            <a:ext cx="3566160" cy="1920240"/>
          </a:xfrm>
          <a:prstGeom prst="roundRect">
            <a:avLst>
              <a:gd name="adj" fmla="val 4762"/>
            </a:avLst>
          </a:prstGeom>
          <a:solidFill>
            <a:srgbClr val="EDF2F8"/>
          </a:solidFill>
          <a:ln w="12700">
            <a:solidFill>
              <a:srgbClr val="DCE3EC"/>
            </a:solidFill>
            <a:prstDash val="solid"/>
          </a:ln>
        </p:spPr>
      </p:sp>
      <p:sp>
        <p:nvSpPr>
          <p:cNvPr id="8" name="Text 5"/>
          <p:cNvSpPr/>
          <p:nvPr/>
        </p:nvSpPr>
        <p:spPr>
          <a:xfrm>
            <a:off x="731520" y="2240280"/>
            <a:ext cx="3200400" cy="365760"/>
          </a:xfrm>
          <a:prstGeom prst="rect">
            <a:avLst/>
          </a:prstGeom>
          <a:noFill/>
          <a:ln/>
        </p:spPr>
        <p:txBody>
          <a:bodyPr wrap="square" lIns="0" tIns="0" rIns="0" bIns="0" rtlCol="0" anchor="ctr"/>
          <a:lstStyle/>
          <a:p>
            <a:pPr indent="0" marL="0">
              <a:buNone/>
            </a:pPr>
            <a:r>
              <a:rPr lang="en-US" sz="1450" b="1" dirty="0">
                <a:solidFill>
                  <a:srgbClr val="1C4A86"/>
                </a:solidFill>
                <a:latin typeface="Calibri" pitchFamily="34" charset="0"/>
                <a:ea typeface="Calibri" pitchFamily="34" charset="-122"/>
                <a:cs typeface="Calibri" pitchFamily="34" charset="-120"/>
              </a:rPr>
              <a:t>Level 1 - Minimal</a:t>
            </a:r>
            <a:endParaRPr lang="en-US" sz="1450" dirty="0"/>
          </a:p>
        </p:txBody>
      </p:sp>
      <p:sp>
        <p:nvSpPr>
          <p:cNvPr id="9" name="Text 6"/>
          <p:cNvSpPr/>
          <p:nvPr/>
        </p:nvSpPr>
        <p:spPr>
          <a:xfrm>
            <a:off x="731520" y="2651760"/>
            <a:ext cx="3200400" cy="914400"/>
          </a:xfrm>
          <a:prstGeom prst="rect">
            <a:avLst/>
          </a:prstGeom>
          <a:noFill/>
          <a:ln/>
        </p:spPr>
        <p:txBody>
          <a:bodyPr wrap="square" lIns="0" tIns="0" rIns="0" bIns="0" rtlCol="0" anchor="ctr"/>
          <a:lstStyle/>
          <a:p>
            <a:pPr indent="0" marL="0">
              <a:buNone/>
            </a:pPr>
            <a:r>
              <a:rPr lang="en-US" sz="1200" dirty="0">
                <a:solidFill>
                  <a:srgbClr val="222222"/>
                </a:solidFill>
                <a:latin typeface="Calibri" pitchFamily="34" charset="0"/>
                <a:ea typeface="Calibri" pitchFamily="34" charset="-122"/>
                <a:cs typeface="Calibri" pitchFamily="34" charset="-120"/>
              </a:rPr>
              <a:t>Every hit flashes the enemy and spawns an explosion effect.</a:t>
            </a:r>
            <a:endParaRPr lang="en-US" sz="1200" dirty="0"/>
          </a:p>
        </p:txBody>
      </p:sp>
      <p:sp>
        <p:nvSpPr>
          <p:cNvPr id="10" name="Text 7"/>
          <p:cNvSpPr/>
          <p:nvPr/>
        </p:nvSpPr>
        <p:spPr>
          <a:xfrm>
            <a:off x="731520" y="3566160"/>
            <a:ext cx="3200400" cy="365760"/>
          </a:xfrm>
          <a:prstGeom prst="rect">
            <a:avLst/>
          </a:prstGeom>
          <a:noFill/>
          <a:ln/>
        </p:spPr>
        <p:txBody>
          <a:bodyPr wrap="square" lIns="0" tIns="0" rIns="0" bIns="0" rtlCol="0" anchor="ctr"/>
          <a:lstStyle/>
          <a:p>
            <a:pPr indent="0" marL="0">
              <a:buNone/>
            </a:pPr>
            <a:r>
              <a:rPr lang="en-US" sz="1150" i="1" dirty="0">
                <a:solidFill>
                  <a:srgbClr val="C99A2E"/>
                </a:solidFill>
                <a:latin typeface="Calibri" pitchFamily="34" charset="0"/>
                <a:ea typeface="Calibri" pitchFamily="34" charset="-122"/>
                <a:cs typeface="Calibri" pitchFamily="34" charset="-120"/>
              </a:rPr>
              <a:t>MVP - a complete finish for today.</a:t>
            </a:r>
            <a:endParaRPr lang="en-US" sz="1150" dirty="0"/>
          </a:p>
        </p:txBody>
      </p:sp>
      <p:sp>
        <p:nvSpPr>
          <p:cNvPr id="11" name="Shape 8"/>
          <p:cNvSpPr/>
          <p:nvPr/>
        </p:nvSpPr>
        <p:spPr>
          <a:xfrm>
            <a:off x="4297680" y="2103120"/>
            <a:ext cx="3566160" cy="1920240"/>
          </a:xfrm>
          <a:prstGeom prst="roundRect">
            <a:avLst>
              <a:gd name="adj" fmla="val 4762"/>
            </a:avLst>
          </a:prstGeom>
          <a:solidFill>
            <a:srgbClr val="EDF2F8"/>
          </a:solidFill>
          <a:ln w="12700">
            <a:solidFill>
              <a:srgbClr val="DCE3EC"/>
            </a:solidFill>
            <a:prstDash val="solid"/>
          </a:ln>
        </p:spPr>
      </p:sp>
      <p:sp>
        <p:nvSpPr>
          <p:cNvPr id="12" name="Text 9"/>
          <p:cNvSpPr/>
          <p:nvPr/>
        </p:nvSpPr>
        <p:spPr>
          <a:xfrm>
            <a:off x="4480560" y="2240280"/>
            <a:ext cx="3200400" cy="365760"/>
          </a:xfrm>
          <a:prstGeom prst="rect">
            <a:avLst/>
          </a:prstGeom>
          <a:noFill/>
          <a:ln/>
        </p:spPr>
        <p:txBody>
          <a:bodyPr wrap="square" lIns="0" tIns="0" rIns="0" bIns="0" rtlCol="0" anchor="ctr"/>
          <a:lstStyle/>
          <a:p>
            <a:pPr indent="0" marL="0">
              <a:buNone/>
            </a:pPr>
            <a:r>
              <a:rPr lang="en-US" sz="1450" b="1" dirty="0">
                <a:solidFill>
                  <a:srgbClr val="1C4A86"/>
                </a:solidFill>
                <a:latin typeface="Calibri" pitchFamily="34" charset="0"/>
                <a:ea typeface="Calibri" pitchFamily="34" charset="-122"/>
                <a:cs typeface="Calibri" pitchFamily="34" charset="-120"/>
              </a:rPr>
              <a:t>Level 2 - Complete</a:t>
            </a:r>
            <a:endParaRPr lang="en-US" sz="1450" dirty="0"/>
          </a:p>
        </p:txBody>
      </p:sp>
      <p:sp>
        <p:nvSpPr>
          <p:cNvPr id="13" name="Text 10"/>
          <p:cNvSpPr/>
          <p:nvPr/>
        </p:nvSpPr>
        <p:spPr>
          <a:xfrm>
            <a:off x="4480560" y="2651760"/>
            <a:ext cx="3200400" cy="914400"/>
          </a:xfrm>
          <a:prstGeom prst="rect">
            <a:avLst/>
          </a:prstGeom>
          <a:noFill/>
          <a:ln/>
        </p:spPr>
        <p:txBody>
          <a:bodyPr wrap="square" lIns="0" tIns="0" rIns="0" bIns="0" rtlCol="0" anchor="ctr"/>
          <a:lstStyle/>
          <a:p>
            <a:pPr indent="0" marL="0">
              <a:buNone/>
            </a:pPr>
            <a:r>
              <a:rPr lang="en-US" sz="1200" dirty="0">
                <a:solidFill>
                  <a:srgbClr val="222222"/>
                </a:solidFill>
                <a:latin typeface="Calibri" pitchFamily="34" charset="0"/>
                <a:ea typeface="Calibri" pitchFamily="34" charset="-122"/>
                <a:cs typeface="Calibri" pitchFamily="34" charset="-120"/>
              </a:rPr>
              <a:t>Correct on every hit, no stuck enemies, timing unaffected.</a:t>
            </a:r>
            <a:endParaRPr lang="en-US" sz="1200" dirty="0"/>
          </a:p>
        </p:txBody>
      </p:sp>
      <p:sp>
        <p:nvSpPr>
          <p:cNvPr id="14" name="Text 11"/>
          <p:cNvSpPr/>
          <p:nvPr/>
        </p:nvSpPr>
        <p:spPr>
          <a:xfrm>
            <a:off x="4480560" y="3566160"/>
            <a:ext cx="3200400" cy="365760"/>
          </a:xfrm>
          <a:prstGeom prst="rect">
            <a:avLst/>
          </a:prstGeom>
          <a:noFill/>
          <a:ln/>
        </p:spPr>
        <p:txBody>
          <a:bodyPr wrap="square" lIns="0" tIns="0" rIns="0" bIns="0" rtlCol="0" anchor="ctr"/>
          <a:lstStyle/>
          <a:p>
            <a:pPr indent="0" marL="0">
              <a:buNone/>
            </a:pPr>
            <a:r>
              <a:rPr lang="en-US" sz="1150" i="1" dirty="0">
                <a:solidFill>
                  <a:srgbClr val="C99A2E"/>
                </a:solidFill>
                <a:latin typeface="Calibri" pitchFamily="34" charset="0"/>
                <a:ea typeface="Calibri" pitchFamily="34" charset="-122"/>
                <a:cs typeface="Calibri" pitchFamily="34" charset="-120"/>
              </a:rPr>
              <a:t>Everything works end to end.</a:t>
            </a:r>
            <a:endParaRPr lang="en-US" sz="1150" dirty="0"/>
          </a:p>
        </p:txBody>
      </p:sp>
      <p:sp>
        <p:nvSpPr>
          <p:cNvPr id="15" name="Shape 12"/>
          <p:cNvSpPr/>
          <p:nvPr/>
        </p:nvSpPr>
        <p:spPr>
          <a:xfrm>
            <a:off x="8046720" y="2103120"/>
            <a:ext cx="3566160" cy="1920240"/>
          </a:xfrm>
          <a:prstGeom prst="roundRect">
            <a:avLst>
              <a:gd name="adj" fmla="val 4762"/>
            </a:avLst>
          </a:prstGeom>
          <a:solidFill>
            <a:srgbClr val="EDF2F8"/>
          </a:solidFill>
          <a:ln w="12700">
            <a:solidFill>
              <a:srgbClr val="DCE3EC"/>
            </a:solidFill>
            <a:prstDash val="solid"/>
          </a:ln>
        </p:spPr>
      </p:sp>
      <p:sp>
        <p:nvSpPr>
          <p:cNvPr id="16" name="Text 13"/>
          <p:cNvSpPr/>
          <p:nvPr/>
        </p:nvSpPr>
        <p:spPr>
          <a:xfrm>
            <a:off x="8229600" y="2240280"/>
            <a:ext cx="3200400" cy="365760"/>
          </a:xfrm>
          <a:prstGeom prst="rect">
            <a:avLst/>
          </a:prstGeom>
          <a:noFill/>
          <a:ln/>
        </p:spPr>
        <p:txBody>
          <a:bodyPr wrap="square" lIns="0" tIns="0" rIns="0" bIns="0" rtlCol="0" anchor="ctr"/>
          <a:lstStyle/>
          <a:p>
            <a:pPr indent="0" marL="0">
              <a:buNone/>
            </a:pPr>
            <a:r>
              <a:rPr lang="en-US" sz="1450" b="1" dirty="0">
                <a:solidFill>
                  <a:srgbClr val="1C4A86"/>
                </a:solidFill>
                <a:latin typeface="Calibri" pitchFamily="34" charset="0"/>
                <a:ea typeface="Calibri" pitchFamily="34" charset="-122"/>
                <a:cs typeface="Calibri" pitchFamily="34" charset="-120"/>
              </a:rPr>
              <a:t>Level 3 - Refined</a:t>
            </a:r>
            <a:endParaRPr lang="en-US" sz="1450" dirty="0"/>
          </a:p>
        </p:txBody>
      </p:sp>
      <p:sp>
        <p:nvSpPr>
          <p:cNvPr id="17" name="Text 14"/>
          <p:cNvSpPr/>
          <p:nvPr/>
        </p:nvSpPr>
        <p:spPr>
          <a:xfrm>
            <a:off x="8229600" y="2651760"/>
            <a:ext cx="3200400" cy="914400"/>
          </a:xfrm>
          <a:prstGeom prst="rect">
            <a:avLst/>
          </a:prstGeom>
          <a:noFill/>
          <a:ln/>
        </p:spPr>
        <p:txBody>
          <a:bodyPr wrap="square" lIns="0" tIns="0" rIns="0" bIns="0" rtlCol="0" anchor="ctr"/>
          <a:lstStyle/>
          <a:p>
            <a:pPr indent="0" marL="0">
              <a:buNone/>
            </a:pPr>
            <a:r>
              <a:rPr lang="en-US" sz="1200" dirty="0">
                <a:solidFill>
                  <a:srgbClr val="222222"/>
                </a:solidFill>
                <a:latin typeface="Calibri" pitchFamily="34" charset="0"/>
                <a:ea typeface="Calibri" pitchFamily="34" charset="-122"/>
                <a:cs typeface="Calibri" pitchFamily="34" charset="-120"/>
              </a:rPr>
              <a:t>Smoother fades, a scaling explosion, or a multi-frame flicker.</a:t>
            </a:r>
            <a:endParaRPr lang="en-US" sz="1200" dirty="0"/>
          </a:p>
        </p:txBody>
      </p:sp>
      <p:sp>
        <p:nvSpPr>
          <p:cNvPr id="18" name="Text 15"/>
          <p:cNvSpPr/>
          <p:nvPr/>
        </p:nvSpPr>
        <p:spPr>
          <a:xfrm>
            <a:off x="8229600" y="3566160"/>
            <a:ext cx="3200400" cy="365760"/>
          </a:xfrm>
          <a:prstGeom prst="rect">
            <a:avLst/>
          </a:prstGeom>
          <a:noFill/>
          <a:ln/>
        </p:spPr>
        <p:txBody>
          <a:bodyPr wrap="square" lIns="0" tIns="0" rIns="0" bIns="0" rtlCol="0" anchor="ctr"/>
          <a:lstStyle/>
          <a:p>
            <a:pPr indent="0" marL="0">
              <a:buNone/>
            </a:pPr>
            <a:r>
              <a:rPr lang="en-US" sz="1150" i="1" dirty="0">
                <a:solidFill>
                  <a:srgbClr val="C99A2E"/>
                </a:solidFill>
                <a:latin typeface="Calibri" pitchFamily="34" charset="0"/>
                <a:ea typeface="Calibri" pitchFamily="34" charset="-122"/>
                <a:cs typeface="Calibri" pitchFamily="34" charset="-120"/>
              </a:rPr>
              <a:t>Ready to share.</a:t>
            </a:r>
            <a:endParaRPr lang="en-US" sz="1150" dirty="0"/>
          </a:p>
        </p:txBody>
      </p:sp>
      <p:sp>
        <p:nvSpPr>
          <p:cNvPr id="19" name="Shape 16"/>
          <p:cNvSpPr/>
          <p:nvPr/>
        </p:nvSpPr>
        <p:spPr>
          <a:xfrm>
            <a:off x="548640" y="4297680"/>
            <a:ext cx="11064240" cy="1417320"/>
          </a:xfrm>
          <a:prstGeom prst="roundRect">
            <a:avLst>
              <a:gd name="adj" fmla="val 7742"/>
            </a:avLst>
          </a:prstGeom>
          <a:solidFill>
            <a:srgbClr val="0F2C52"/>
          </a:solidFill>
          <a:ln w="12700">
            <a:solidFill>
              <a:srgbClr val="C99A2E"/>
            </a:solidFill>
            <a:prstDash val="solid"/>
          </a:ln>
        </p:spPr>
      </p:sp>
      <p:pic>
        <p:nvPicPr>
          <p:cNvPr id="20" name="Image 1" descr="icons/wrench.png">    </p:cNvPr>
          <p:cNvPicPr>
            <a:picLocks noChangeAspect="1"/>
          </p:cNvPicPr>
          <p:nvPr/>
        </p:nvPicPr>
        <p:blipFill>
          <a:blip r:embed="rId2"/>
          <a:stretch>
            <a:fillRect/>
          </a:stretch>
        </p:blipFill>
        <p:spPr>
          <a:xfrm>
            <a:off x="777240" y="4498848"/>
            <a:ext cx="502920" cy="502920"/>
          </a:xfrm>
          <a:prstGeom prst="rect">
            <a:avLst/>
          </a:prstGeom>
        </p:spPr>
      </p:pic>
      <p:sp>
        <p:nvSpPr>
          <p:cNvPr id="21" name="Text 17"/>
          <p:cNvSpPr/>
          <p:nvPr/>
        </p:nvSpPr>
        <p:spPr>
          <a:xfrm>
            <a:off x="1463040" y="4407408"/>
            <a:ext cx="9966960" cy="1188720"/>
          </a:xfrm>
          <a:prstGeom prst="rect">
            <a:avLst/>
          </a:prstGeom>
          <a:noFill/>
          <a:ln/>
        </p:spPr>
        <p:txBody>
          <a:bodyPr wrap="square" lIns="0" tIns="0" rIns="0" bIns="0" rtlCol="0" anchor="ctr"/>
          <a:lstStyle/>
          <a:p>
            <a:pPr indent="0" marL="0">
              <a:buNone/>
            </a:pPr>
            <a:r>
              <a:rPr lang="en-US" sz="1250" dirty="0">
                <a:solidFill>
                  <a:srgbClr val="F4F0E6"/>
                </a:solidFill>
                <a:latin typeface="Calibri" pitchFamily="34" charset="0"/>
                <a:ea typeface="Calibri" pitchFamily="34" charset="-122"/>
                <a:cs typeface="Calibri" pitchFamily="34" charset="-120"/>
              </a:rPr>
              <a:t>Test a FULL round when you're done - shooting, a wave clear, even a loss - and confirm nothing about your SCORING changed, only the visuals.</a:t>
            </a:r>
            <a:endParaRPr lang="en-US" sz="1250" dirty="0"/>
          </a:p>
        </p:txBody>
      </p:sp>
      <p:sp>
        <p:nvSpPr>
          <p:cNvPr id="23" name="Text 18"/>
          <p:cNvSpPr/>
          <p:nvPr/>
        </p:nvSpPr>
        <p:spPr>
          <a:xfrm>
            <a:off x="457200" y="6528816"/>
            <a:ext cx="4572000" cy="274320"/>
          </a:xfrm>
          <a:prstGeom prst="rect">
            <a:avLst/>
          </a:prstGeom>
          <a:noFill/>
          <a:ln/>
        </p:spPr>
        <p:txBody>
          <a:bodyPr wrap="square" lIns="0" tIns="0" rIns="0" bIns="0" rtlCol="0" anchor="ctr"/>
          <a:lstStyle/>
          <a:p>
            <a:pPr indent="0" marL="0">
              <a:buNone/>
            </a:pPr>
            <a:r>
              <a:rPr lang="en-US" sz="1000" b="1" spc="200" kern="0" dirty="0">
                <a:solidFill>
                  <a:srgbClr val="5A6472"/>
                </a:solidFill>
                <a:latin typeface="Calibri" pitchFamily="34" charset="0"/>
                <a:ea typeface="Calibri" pitchFamily="34" charset="-122"/>
                <a:cs typeface="Calibri" pitchFamily="34" charset="-120"/>
              </a:rPr>
              <a:t>VIDEO GAME CREATION</a:t>
            </a:r>
            <a:endParaRPr lang="en-US" sz="1000" dirty="0"/>
          </a:p>
        </p:txBody>
      </p:sp>
      <p:sp>
        <p:nvSpPr>
          <p:cNvPr id="24" name="Text 19"/>
          <p:cNvSpPr/>
          <p:nvPr/>
        </p:nvSpPr>
        <p:spPr>
          <a:xfrm>
            <a:off x="10088575" y="6528816"/>
            <a:ext cx="1371600" cy="274320"/>
          </a:xfrm>
          <a:prstGeom prst="rect">
            <a:avLst/>
          </a:prstGeom>
          <a:noFill/>
          <a:ln/>
        </p:spPr>
        <p:txBody>
          <a:bodyPr wrap="square" lIns="0" tIns="0" rIns="0" bIns="0" rtlCol="0" anchor="ctr"/>
          <a:lstStyle/>
          <a:p>
            <a:pPr algn="r" indent="0" marL="0">
              <a:buNone/>
            </a:pPr>
            <a:r>
              <a:rPr lang="en-US" sz="1000" dirty="0">
                <a:solidFill>
                  <a:srgbClr val="5A6472"/>
                </a:solidFill>
                <a:latin typeface="Calibri" pitchFamily="34" charset="0"/>
                <a:ea typeface="Calibri" pitchFamily="34" charset="-122"/>
                <a:cs typeface="Calibri" pitchFamily="34" charset="-120"/>
              </a:rPr>
              <a:t>Lesson 13</a:t>
            </a:r>
            <a:endParaRPr lang="en-US" sz="1000" dirty="0"/>
          </a:p>
        </p:txBody>
      </p:sp>
      <p:sp>
        <p:nvSpPr>
          <p:cNvPr id="25" name="Text 20"/>
          <p:cNvSpPr/>
          <p:nvPr/>
        </p:nvSpPr>
        <p:spPr>
          <a:xfrm>
            <a:off x="11505895" y="6528816"/>
            <a:ext cx="411480" cy="274320"/>
          </a:xfrm>
          <a:prstGeom prst="rect">
            <a:avLst/>
          </a:prstGeom>
          <a:noFill/>
          <a:ln/>
        </p:spPr>
        <p:txBody>
          <a:bodyPr wrap="square" lIns="0" tIns="0" rIns="0" bIns="0" rtlCol="0" anchor="ctr"/>
          <a:lstStyle/>
          <a:p>
            <a:pPr algn="r" indent="0" marL="0">
              <a:buNone/>
            </a:pPr>
            <a:r>
              <a:rPr lang="en-US" sz="1000" dirty="0">
                <a:solidFill>
                  <a:srgbClr val="5A6472"/>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bg_content.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 y="411480"/>
            <a:ext cx="8686800" cy="640080"/>
          </a:xfrm>
          <a:prstGeom prst="rect">
            <a:avLst/>
          </a:prstGeom>
          <a:noFill/>
          <a:ln/>
        </p:spPr>
        <p:txBody>
          <a:bodyPr wrap="square" lIns="0" tIns="0" rIns="0" bIns="0" rtlCol="0" anchor="ctr"/>
          <a:lstStyle/>
          <a:p>
            <a:pPr indent="0" marL="0">
              <a:buNone/>
            </a:pPr>
            <a:r>
              <a:rPr lang="en-US" sz="3400" b="1" dirty="0">
                <a:solidFill>
                  <a:srgbClr val="1C4A86"/>
                </a:solidFill>
                <a:latin typeface="Cambria" pitchFamily="34" charset="0"/>
                <a:ea typeface="Cambria" pitchFamily="34" charset="-122"/>
                <a:cs typeface="Cambria" pitchFamily="34" charset="-120"/>
              </a:rPr>
              <a:t>Lab Time Notes</a:t>
            </a:r>
            <a:endParaRPr lang="en-US" sz="3400" dirty="0"/>
          </a:p>
        </p:txBody>
      </p:sp>
      <p:pic>
        <p:nvPicPr>
          <p:cNvPr id="4" name="Image 1" descr="icons/wrench.png">    </p:cNvPr>
          <p:cNvPicPr>
            <a:picLocks noChangeAspect="1"/>
          </p:cNvPicPr>
          <p:nvPr/>
        </p:nvPicPr>
        <p:blipFill>
          <a:blip r:embed="rId2"/>
          <a:stretch>
            <a:fillRect/>
          </a:stretch>
        </p:blipFill>
        <p:spPr>
          <a:xfrm>
            <a:off x="10515600" y="365760"/>
            <a:ext cx="914400" cy="914400"/>
          </a:xfrm>
          <a:prstGeom prst="rect">
            <a:avLst/>
          </a:prstGeom>
        </p:spPr>
      </p:pic>
      <p:pic>
        <p:nvPicPr>
          <p:cNvPr id="5" name="Image 2" descr="icons/check.png">    </p:cNvPr>
          <p:cNvPicPr>
            <a:picLocks noChangeAspect="1"/>
          </p:cNvPicPr>
          <p:nvPr/>
        </p:nvPicPr>
        <p:blipFill>
          <a:blip r:embed="rId3"/>
          <a:stretch>
            <a:fillRect/>
          </a:stretch>
        </p:blipFill>
        <p:spPr>
          <a:xfrm>
            <a:off x="548640" y="1600200"/>
            <a:ext cx="384048" cy="384048"/>
          </a:xfrm>
          <a:prstGeom prst="rect">
            <a:avLst/>
          </a:prstGeom>
        </p:spPr>
      </p:pic>
      <p:sp>
        <p:nvSpPr>
          <p:cNvPr id="6" name="Text 1"/>
          <p:cNvSpPr/>
          <p:nvPr/>
        </p:nvSpPr>
        <p:spPr>
          <a:xfrm>
            <a:off x="1097280" y="1463040"/>
            <a:ext cx="10332720" cy="822960"/>
          </a:xfrm>
          <a:prstGeom prst="rect">
            <a:avLst/>
          </a:prstGeom>
          <a:noFill/>
          <a:ln/>
        </p:spPr>
        <p:txBody>
          <a:bodyPr wrap="square" lIns="0" tIns="0" rIns="0" bIns="0" rtlCol="0" anchor="ctr"/>
          <a:lstStyle/>
          <a:p>
            <a:pPr indent="0" marL="0">
              <a:buNone/>
            </a:pPr>
            <a:r>
              <a:rPr lang="en-US" sz="1350" dirty="0">
                <a:solidFill>
                  <a:srgbClr val="222222"/>
                </a:solidFill>
                <a:latin typeface="Calibri" pitchFamily="34" charset="0"/>
                <a:ea typeface="Calibri" pitchFamily="34" charset="-122"/>
                <a:cs typeface="Calibri" pitchFamily="34" charset="-120"/>
              </a:rPr>
              <a:t>Watch for score/win-check logic accidentally moved along with the delay - it should stay immediate; only the enemy's final removal is delayed.</a:t>
            </a:r>
            <a:endParaRPr lang="en-US" sz="1350" dirty="0"/>
          </a:p>
        </p:txBody>
      </p:sp>
      <p:pic>
        <p:nvPicPr>
          <p:cNvPr id="7" name="Image 3" descr="icons/check.png">    </p:cNvPr>
          <p:cNvPicPr>
            <a:picLocks noChangeAspect="1"/>
          </p:cNvPicPr>
          <p:nvPr/>
        </p:nvPicPr>
        <p:blipFill>
          <a:blip r:embed="rId4"/>
          <a:stretch>
            <a:fillRect/>
          </a:stretch>
        </p:blipFill>
        <p:spPr>
          <a:xfrm>
            <a:off x="548640" y="2651760"/>
            <a:ext cx="384048" cy="384048"/>
          </a:xfrm>
          <a:prstGeom prst="rect">
            <a:avLst/>
          </a:prstGeom>
        </p:spPr>
      </p:pic>
      <p:sp>
        <p:nvSpPr>
          <p:cNvPr id="8" name="Text 2"/>
          <p:cNvSpPr/>
          <p:nvPr/>
        </p:nvSpPr>
        <p:spPr>
          <a:xfrm>
            <a:off x="1097280" y="2514600"/>
            <a:ext cx="10332720" cy="822960"/>
          </a:xfrm>
          <a:prstGeom prst="rect">
            <a:avLst/>
          </a:prstGeom>
          <a:noFill/>
          <a:ln/>
        </p:spPr>
        <p:txBody>
          <a:bodyPr wrap="square" lIns="0" tIns="0" rIns="0" bIns="0" rtlCol="0" anchor="ctr"/>
          <a:lstStyle/>
          <a:p>
            <a:pPr indent="0" marL="0">
              <a:buNone/>
            </a:pPr>
            <a:r>
              <a:rPr lang="en-US" sz="1350" dirty="0">
                <a:solidFill>
                  <a:srgbClr val="222222"/>
                </a:solidFill>
                <a:latin typeface="Calibri" pitchFamily="34" charset="0"/>
                <a:ea typeface="Calibri" pitchFamily="34" charset="-122"/>
                <a:cs typeface="Calibri" pitchFamily="34" charset="-120"/>
              </a:rPr>
              <a:t>GameMaker and TIC-80 need extra circulating time this week - splitting logic across two events/table fields is a bigger structural change than usual.</a:t>
            </a:r>
            <a:endParaRPr lang="en-US" sz="1350" dirty="0"/>
          </a:p>
        </p:txBody>
      </p:sp>
      <p:pic>
        <p:nvPicPr>
          <p:cNvPr id="9" name="Image 4" descr="icons/check.png">    </p:cNvPr>
          <p:cNvPicPr>
            <a:picLocks noChangeAspect="1"/>
          </p:cNvPicPr>
          <p:nvPr/>
        </p:nvPicPr>
        <p:blipFill>
          <a:blip r:embed="rId5"/>
          <a:stretch>
            <a:fillRect/>
          </a:stretch>
        </p:blipFill>
        <p:spPr>
          <a:xfrm>
            <a:off x="548640" y="3703320"/>
            <a:ext cx="384048" cy="384048"/>
          </a:xfrm>
          <a:prstGeom prst="rect">
            <a:avLst/>
          </a:prstGeom>
        </p:spPr>
      </p:pic>
      <p:sp>
        <p:nvSpPr>
          <p:cNvPr id="10" name="Text 3"/>
          <p:cNvSpPr/>
          <p:nvPr/>
        </p:nvSpPr>
        <p:spPr>
          <a:xfrm>
            <a:off x="1097280" y="3566160"/>
            <a:ext cx="10332720" cy="822960"/>
          </a:xfrm>
          <a:prstGeom prst="rect">
            <a:avLst/>
          </a:prstGeom>
          <a:noFill/>
          <a:ln/>
        </p:spPr>
        <p:txBody>
          <a:bodyPr wrap="square" lIns="0" tIns="0" rIns="0" bIns="0" rtlCol="0" anchor="ctr"/>
          <a:lstStyle/>
          <a:p>
            <a:pPr indent="0" marL="0">
              <a:buNone/>
            </a:pPr>
            <a:r>
              <a:rPr lang="en-US" sz="1350" dirty="0">
                <a:solidFill>
                  <a:srgbClr val="222222"/>
                </a:solidFill>
                <a:latin typeface="Calibri" pitchFamily="34" charset="0"/>
                <a:ea typeface="Calibri" pitchFamily="34" charset="-122"/>
                <a:cs typeface="Calibri" pitchFamily="34" charset="-120"/>
              </a:rPr>
              <a:t>001 Game Creator: the enemy's own flash may be brief or inconsistent - that's expected. The explosion effect is the reliable part to check first.</a:t>
            </a:r>
            <a:endParaRPr lang="en-US" sz="1350" dirty="0"/>
          </a:p>
        </p:txBody>
      </p:sp>
      <p:pic>
        <p:nvPicPr>
          <p:cNvPr id="11" name="Image 5" descr="icons/check.png">    </p:cNvPr>
          <p:cNvPicPr>
            <a:picLocks noChangeAspect="1"/>
          </p:cNvPicPr>
          <p:nvPr/>
        </p:nvPicPr>
        <p:blipFill>
          <a:blip r:embed="rId6"/>
          <a:stretch>
            <a:fillRect/>
          </a:stretch>
        </p:blipFill>
        <p:spPr>
          <a:xfrm>
            <a:off x="548640" y="4754880"/>
            <a:ext cx="384048" cy="384048"/>
          </a:xfrm>
          <a:prstGeom prst="rect">
            <a:avLst/>
          </a:prstGeom>
        </p:spPr>
      </p:pic>
      <p:sp>
        <p:nvSpPr>
          <p:cNvPr id="12" name="Text 4"/>
          <p:cNvSpPr/>
          <p:nvPr/>
        </p:nvSpPr>
        <p:spPr>
          <a:xfrm>
            <a:off x="1097280" y="4617720"/>
            <a:ext cx="10332720" cy="822960"/>
          </a:xfrm>
          <a:prstGeom prst="rect">
            <a:avLst/>
          </a:prstGeom>
          <a:noFill/>
          <a:ln/>
        </p:spPr>
        <p:txBody>
          <a:bodyPr wrap="square" lIns="0" tIns="0" rIns="0" bIns="0" rtlCol="0" anchor="ctr"/>
          <a:lstStyle/>
          <a:p>
            <a:pPr indent="0" marL="0">
              <a:buNone/>
            </a:pPr>
            <a:r>
              <a:rPr lang="en-US" sz="1350" dirty="0">
                <a:solidFill>
                  <a:srgbClr val="222222"/>
                </a:solidFill>
                <a:latin typeface="Calibri" pitchFamily="34" charset="0"/>
                <a:ea typeface="Calibri" pitchFamily="34" charset="-122"/>
                <a:cs typeface="Calibri" pitchFamily="34" charset="-120"/>
              </a:rPr>
              <a:t>This is a fun, visual week - let students actually watch a few hits happen slowly, and consider a quick show-and-tell of favorite explosion tweaks.</a:t>
            </a:r>
            <a:endParaRPr lang="en-US" sz="1350" dirty="0"/>
          </a:p>
        </p:txBody>
      </p:sp>
      <p:sp>
        <p:nvSpPr>
          <p:cNvPr id="13" name="Text 5"/>
          <p:cNvSpPr/>
          <p:nvPr/>
        </p:nvSpPr>
        <p:spPr>
          <a:xfrm>
            <a:off x="457200" y="6528816"/>
            <a:ext cx="4572000" cy="274320"/>
          </a:xfrm>
          <a:prstGeom prst="rect">
            <a:avLst/>
          </a:prstGeom>
          <a:noFill/>
          <a:ln/>
        </p:spPr>
        <p:txBody>
          <a:bodyPr wrap="square" lIns="0" tIns="0" rIns="0" bIns="0" rtlCol="0" anchor="ctr"/>
          <a:lstStyle/>
          <a:p>
            <a:pPr indent="0" marL="0">
              <a:buNone/>
            </a:pPr>
            <a:r>
              <a:rPr lang="en-US" sz="1000" b="1" spc="200" kern="0" dirty="0">
                <a:solidFill>
                  <a:srgbClr val="5A6472"/>
                </a:solidFill>
                <a:latin typeface="Calibri" pitchFamily="34" charset="0"/>
                <a:ea typeface="Calibri" pitchFamily="34" charset="-122"/>
                <a:cs typeface="Calibri" pitchFamily="34" charset="-120"/>
              </a:rPr>
              <a:t>VIDEO GAME CREATION</a:t>
            </a:r>
            <a:endParaRPr lang="en-US" sz="1000" dirty="0"/>
          </a:p>
        </p:txBody>
      </p:sp>
      <p:sp>
        <p:nvSpPr>
          <p:cNvPr id="14" name="Text 6"/>
          <p:cNvSpPr/>
          <p:nvPr/>
        </p:nvSpPr>
        <p:spPr>
          <a:xfrm>
            <a:off x="10088575" y="6528816"/>
            <a:ext cx="1371600" cy="274320"/>
          </a:xfrm>
          <a:prstGeom prst="rect">
            <a:avLst/>
          </a:prstGeom>
          <a:noFill/>
          <a:ln/>
        </p:spPr>
        <p:txBody>
          <a:bodyPr wrap="square" lIns="0" tIns="0" rIns="0" bIns="0" rtlCol="0" anchor="ctr"/>
          <a:lstStyle/>
          <a:p>
            <a:pPr algn="r" indent="0" marL="0">
              <a:buNone/>
            </a:pPr>
            <a:r>
              <a:rPr lang="en-US" sz="1000" dirty="0">
                <a:solidFill>
                  <a:srgbClr val="5A6472"/>
                </a:solidFill>
                <a:latin typeface="Calibri" pitchFamily="34" charset="0"/>
                <a:ea typeface="Calibri" pitchFamily="34" charset="-122"/>
                <a:cs typeface="Calibri" pitchFamily="34" charset="-120"/>
              </a:rPr>
              <a:t>Lesson 13</a:t>
            </a:r>
            <a:endParaRPr lang="en-US" sz="1000" dirty="0"/>
          </a:p>
        </p:txBody>
      </p:sp>
      <p:sp>
        <p:nvSpPr>
          <p:cNvPr id="15" name="Text 7"/>
          <p:cNvSpPr/>
          <p:nvPr/>
        </p:nvSpPr>
        <p:spPr>
          <a:xfrm>
            <a:off x="11505895" y="6528816"/>
            <a:ext cx="411480" cy="274320"/>
          </a:xfrm>
          <a:prstGeom prst="rect">
            <a:avLst/>
          </a:prstGeom>
          <a:noFill/>
          <a:ln/>
        </p:spPr>
        <p:txBody>
          <a:bodyPr wrap="square" lIns="0" tIns="0" rIns="0" bIns="0" rtlCol="0" anchor="ctr"/>
          <a:lstStyle/>
          <a:p>
            <a:pPr algn="r" indent="0" marL="0">
              <a:buNone/>
            </a:pPr>
            <a:r>
              <a:rPr lang="en-US" sz="1000" dirty="0">
                <a:solidFill>
                  <a:srgbClr val="5A6472"/>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bg_title_with_slhe.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0" y="2240280"/>
            <a:ext cx="12191695" cy="731520"/>
          </a:xfrm>
          <a:prstGeom prst="rect">
            <a:avLst/>
          </a:prstGeom>
          <a:noFill/>
          <a:ln/>
        </p:spPr>
        <p:txBody>
          <a:bodyPr wrap="square" lIns="0" tIns="0" rIns="0" bIns="0" rtlCol="0" anchor="ctr"/>
          <a:lstStyle/>
          <a:p>
            <a:pPr algn="ctr" indent="0" marL="0">
              <a:buNone/>
            </a:pPr>
            <a:r>
              <a:rPr lang="en-US" sz="4000" b="1" dirty="0">
                <a:solidFill>
                  <a:srgbClr val="E8C25A"/>
                </a:solidFill>
                <a:latin typeface="Cambria" pitchFamily="34" charset="0"/>
                <a:ea typeface="Cambria" pitchFamily="34" charset="-122"/>
                <a:cs typeface="Cambria" pitchFamily="34" charset="-120"/>
              </a:rPr>
              <a:t>It Reacts!</a:t>
            </a:r>
            <a:endParaRPr lang="en-US" sz="4000" dirty="0"/>
          </a:p>
        </p:txBody>
      </p:sp>
      <p:sp>
        <p:nvSpPr>
          <p:cNvPr id="4" name="Text 1"/>
          <p:cNvSpPr/>
          <p:nvPr/>
        </p:nvSpPr>
        <p:spPr>
          <a:xfrm>
            <a:off x="1371600" y="3063240"/>
            <a:ext cx="9448495" cy="548640"/>
          </a:xfrm>
          <a:prstGeom prst="rect">
            <a:avLst/>
          </a:prstGeom>
          <a:noFill/>
          <a:ln/>
        </p:spPr>
        <p:txBody>
          <a:bodyPr wrap="square" lIns="0" tIns="0" rIns="0" bIns="0" rtlCol="0" anchor="ctr"/>
          <a:lstStyle/>
          <a:p>
            <a:pPr algn="ctr" indent="0" marL="0">
              <a:buNone/>
            </a:pPr>
            <a:r>
              <a:rPr lang="en-US" sz="1600" dirty="0">
                <a:solidFill>
                  <a:srgbClr val="F4F0E6"/>
                </a:solidFill>
                <a:latin typeface="Calibri" pitchFamily="34" charset="0"/>
                <a:ea typeface="Calibri" pitchFamily="34" charset="-122"/>
                <a:cs typeface="Calibri" pitchFamily="34" charset="-120"/>
              </a:rPr>
              <a:t>A flash, a burst, then gone - getting hit finally looks like getting hit.</a:t>
            </a:r>
            <a:endParaRPr lang="en-US" sz="1600" dirty="0"/>
          </a:p>
        </p:txBody>
      </p:sp>
      <p:sp>
        <p:nvSpPr>
          <p:cNvPr id="5" name="Text 2"/>
          <p:cNvSpPr/>
          <p:nvPr/>
        </p:nvSpPr>
        <p:spPr>
          <a:xfrm>
            <a:off x="1371600" y="3657600"/>
            <a:ext cx="9448495" cy="548640"/>
          </a:xfrm>
          <a:prstGeom prst="rect">
            <a:avLst/>
          </a:prstGeom>
          <a:noFill/>
          <a:ln/>
        </p:spPr>
        <p:txBody>
          <a:bodyPr wrap="square" lIns="0" tIns="0" rIns="0" bIns="0" rtlCol="0" anchor="ctr"/>
          <a:lstStyle/>
          <a:p>
            <a:pPr algn="ctr" indent="0" marL="0">
              <a:buNone/>
            </a:pPr>
            <a:r>
              <a:rPr lang="en-US" sz="1500" dirty="0">
                <a:solidFill>
                  <a:srgbClr val="F4F0E6"/>
                </a:solidFill>
                <a:latin typeface="Calibri" pitchFamily="34" charset="0"/>
                <a:ea typeface="Calibri" pitchFamily="34" charset="-122"/>
                <a:cs typeface="Calibri" pitchFamily="34" charset="-120"/>
              </a:rPr>
              <a:t>Next week: difficulty scaling across waves, and optional stretch features.</a:t>
            </a:r>
            <a:endParaRPr lang="en-US" sz="1500" dirty="0"/>
          </a:p>
        </p:txBody>
      </p:sp>
      <p:sp>
        <p:nvSpPr>
          <p:cNvPr id="6" name="Text 3"/>
          <p:cNvSpPr/>
          <p:nvPr/>
        </p:nvSpPr>
        <p:spPr>
          <a:xfrm>
            <a:off x="1371600" y="4297680"/>
            <a:ext cx="9448495" cy="548640"/>
          </a:xfrm>
          <a:prstGeom prst="rect">
            <a:avLst/>
          </a:prstGeom>
          <a:noFill/>
          <a:ln/>
        </p:spPr>
        <p:txBody>
          <a:bodyPr wrap="square" lIns="0" tIns="0" rIns="0" bIns="0" rtlCol="0" anchor="ctr"/>
          <a:lstStyle/>
          <a:p>
            <a:pPr algn="ctr" indent="0" marL="0">
              <a:buNone/>
            </a:pPr>
            <a:r>
              <a:rPr lang="en-US" sz="1300" i="1" dirty="0">
                <a:solidFill>
                  <a:srgbClr val="9FB6D6"/>
                </a:solidFill>
                <a:latin typeface="Calibri" pitchFamily="34" charset="0"/>
                <a:ea typeface="Calibri" pitchFamily="34" charset="-122"/>
                <a:cs typeface="Calibri" pitchFamily="34" charset="-120"/>
              </a:rPr>
              <a:t>Keep playtesting a full round at home if you'd like - try a Level 3 animation idea if you haven't already.</a:t>
            </a:r>
            <a:endParaRPr lang="en-US" sz="1300" dirty="0"/>
          </a:p>
        </p:txBody>
      </p:sp>
      <p:sp>
        <p:nvSpPr>
          <p:cNvPr id="7" name="Text 4"/>
          <p:cNvSpPr/>
          <p:nvPr/>
        </p:nvSpPr>
        <p:spPr>
          <a:xfrm>
            <a:off x="457200" y="6528816"/>
            <a:ext cx="4572000" cy="274320"/>
          </a:xfrm>
          <a:prstGeom prst="rect">
            <a:avLst/>
          </a:prstGeom>
          <a:noFill/>
          <a:ln/>
        </p:spPr>
        <p:txBody>
          <a:bodyPr wrap="square" lIns="0" tIns="0" rIns="0" bIns="0" rtlCol="0" anchor="ctr"/>
          <a:lstStyle/>
          <a:p>
            <a:pPr indent="0" marL="0">
              <a:buNone/>
            </a:pPr>
            <a:r>
              <a:rPr lang="en-US" sz="1000" b="1" spc="200" kern="0" dirty="0">
                <a:solidFill>
                  <a:srgbClr val="E8C25A"/>
                </a:solidFill>
                <a:latin typeface="Calibri" pitchFamily="34" charset="0"/>
                <a:ea typeface="Calibri" pitchFamily="34" charset="-122"/>
                <a:cs typeface="Calibri" pitchFamily="34" charset="-120"/>
              </a:rPr>
              <a:t>VIDEO GAME CREATION</a:t>
            </a:r>
            <a:endParaRPr lang="en-US" sz="1000" dirty="0"/>
          </a:p>
        </p:txBody>
      </p:sp>
      <p:sp>
        <p:nvSpPr>
          <p:cNvPr id="8" name="Text 5"/>
          <p:cNvSpPr/>
          <p:nvPr/>
        </p:nvSpPr>
        <p:spPr>
          <a:xfrm>
            <a:off x="10088575" y="6528816"/>
            <a:ext cx="1371600" cy="274320"/>
          </a:xfrm>
          <a:prstGeom prst="rect">
            <a:avLst/>
          </a:prstGeom>
          <a:noFill/>
          <a:ln/>
        </p:spPr>
        <p:txBody>
          <a:bodyPr wrap="square" lIns="0" tIns="0" rIns="0" bIns="0" rtlCol="0" anchor="ctr"/>
          <a:lstStyle/>
          <a:p>
            <a:pPr algn="r" indent="0" marL="0">
              <a:buNone/>
            </a:pPr>
            <a:r>
              <a:rPr lang="en-US" sz="1000" dirty="0">
                <a:solidFill>
                  <a:srgbClr val="E8C25A"/>
                </a:solidFill>
                <a:latin typeface="Calibri" pitchFamily="34" charset="0"/>
                <a:ea typeface="Calibri" pitchFamily="34" charset="-122"/>
                <a:cs typeface="Calibri" pitchFamily="34" charset="-120"/>
              </a:rPr>
              <a:t>Lesson 13</a:t>
            </a:r>
            <a:endParaRPr lang="en-US" sz="1000" dirty="0"/>
          </a:p>
        </p:txBody>
      </p:sp>
      <p:sp>
        <p:nvSpPr>
          <p:cNvPr id="9" name="Text 6"/>
          <p:cNvSpPr/>
          <p:nvPr/>
        </p:nvSpPr>
        <p:spPr>
          <a:xfrm>
            <a:off x="11505895" y="6528816"/>
            <a:ext cx="411480" cy="274320"/>
          </a:xfrm>
          <a:prstGeom prst="rect">
            <a:avLst/>
          </a:prstGeom>
          <a:noFill/>
          <a:ln/>
        </p:spPr>
        <p:txBody>
          <a:bodyPr wrap="square" lIns="0" tIns="0" rIns="0" bIns="0" rtlCol="0" anchor="ctr"/>
          <a:lstStyle/>
          <a:p>
            <a:pPr algn="r" indent="0" marL="0">
              <a:buNone/>
            </a:pPr>
            <a:r>
              <a:rPr lang="en-US" sz="1000" dirty="0">
                <a:solidFill>
                  <a:srgbClr val="E8C25A"/>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2026-10-25T17:02:32Z</dcterms:created>
  <dcterms:modified xsi:type="dcterms:W3CDTF">2026-10-25T17:02:32Z</dcterms:modified>
</cp:coreProperties>
</file>