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Today's different from every other day this semester. There's no new code to learn. Today you finish, and today you show what you built." "Here's today's plan: about 45 minutes of polish time, using the checklist in your Handout to find and fix whatever's roughest. Then presentations - about 2 minutes each, just play a bit of your game and tell us about it. No slides, no stress."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continuously during this block - see Lab Time Notes below for what to prioritize] "Work through your Handout's checklist top to bottom. Anything unchecked is your first priority - a complete, simple game beats a broken ambitious one, every time. Only once your checklist is solid should you spend remaining time on your Lesson 14 stretch feature or any extra polish." [Timing checkpoint: give a 15-minutes-remaining warning around 0:40, and a 5-minutes-remaining warning around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second and think back to Lesson 1. You picked an engine you'd maybe never touched before. Fifteen weeks later, you have a real game - it moves, it shoots, it keeps score, it can be won and lost, it sounds and looks like something, and it gets harder the longer you survive. That's genuinely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presentations will work today: [explain your chosen format - whole-class seat-to-seat, or a running order at the front]. Each of you gets about 2 minutes. Play a short round, name your game, and point out the one feature you're proudest of." [Set the running order / sign-up now if presenting to the front of the room] "Let's go! Remember - if something breaks live, that's genuinely fine. Just say what it's supposed to do and keep going." [Hold the 2-minute limit firmly - give a 30-second warning if a student is running long, and a clear "time" cue at the limit] [Consider a brief specific, genuine comment after each presentation - naming something the student clearly worked hard on goes a long way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every one of you, with a real, finished game, in an engine you chose. However far up the Level ladder you got, you built something that works, start to finish, over fifteen weeks. That's the whole point of today - not a perfect game, a FINISHED one." "Semester 2 picks up in a very different place. A few of the big things waiting for you: state machines and simple AI for enemies (patrol, chase, flee - not just 'sit there until touched'), real physics (gravity, forces, bounces), multiple levels with actual progression, menus and save data, and eventually a much bigger capstone build for the CoOp Expo. Everything you already know - variables, conditionals, loops, events, structure - carries forward completely unchanged. You're not starting over, you're building on top of a semester's worth of real skill." "One thing that's genuinely new starting next semester: testing becomes a regular part of the process, not just something you do once at the end. You've actually been tracking this all along without necessarily noticing - every week's GDD has had a 'planned / implemented / tested' checkbox, and if you're honest, that third column has probably lagged behind the other two most weeks. That's completely normal for a first semester learning to code. Starting in Semester 2, we're going to close that gap on purpose: playing your own game with a critical eye, having classmates try it and watching where they get confused or stuck, and actually fixing what you find - on an ongoing basis, most weeks, not saved up for one big session at the end. It doesn't need to be formal or complicated. It's mostly just: try to break your own game before someone else does, and take it seriously when they find something you didn't." "That's it for Semester 1 - genuinely well done. See you in the new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3.png"/><Relationship Id="rId5" Type="http://schemas.openxmlformats.org/officeDocument/2006/relationships/image" Target="../media/image-12-3.png"/><Relationship Id="rId6" Type="http://schemas.openxmlformats.org/officeDocument/2006/relationships/image" Target="../media/image-12-3.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title_with_vgc.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502920"/>
            <a:ext cx="12191695" cy="320040"/>
          </a:xfrm>
          <a:prstGeom prst="rect">
            <a:avLst/>
          </a:prstGeom>
          <a:noFill/>
          <a:ln/>
        </p:spPr>
        <p:txBody>
          <a:bodyPr wrap="square" lIns="0" tIns="0" rIns="0" bIns="0" rtlCol="0" anchor="ctr"/>
          <a:lstStyle/>
          <a:p>
            <a:pPr algn="ctr" indent="0" marL="0">
              <a:buNone/>
            </a:pPr>
            <a:r>
              <a:rPr lang="en-US" sz="1300" spc="100" kern="0" dirty="0">
                <a:solidFill>
                  <a:srgbClr val="E8C25A"/>
                </a:solidFill>
                <a:latin typeface="Calibri" pitchFamily="34" charset="0"/>
                <a:ea typeface="Calibri" pitchFamily="34" charset="-122"/>
                <a:cs typeface="Calibri" pitchFamily="34" charset="-120"/>
              </a:rPr>
              <a:t>S O U T H   L A K E   H O M E   E D U C A T O R S</a:t>
            </a:r>
            <a:endParaRPr lang="en-US" sz="1300" dirty="0"/>
          </a:p>
        </p:txBody>
      </p:sp>
      <p:sp>
        <p:nvSpPr>
          <p:cNvPr id="4" name="Text 1"/>
          <p:cNvSpPr/>
          <p:nvPr/>
        </p:nvSpPr>
        <p:spPr>
          <a:xfrm>
            <a:off x="0" y="3383280"/>
            <a:ext cx="12191695" cy="685800"/>
          </a:xfrm>
          <a:prstGeom prst="rect">
            <a:avLst/>
          </a:prstGeom>
          <a:noFill/>
          <a:ln/>
        </p:spPr>
        <p:txBody>
          <a:bodyPr wrap="square" lIns="0" tIns="0" rIns="0" bIns="0" rtlCol="0" anchor="ctr"/>
          <a:lstStyle/>
          <a:p>
            <a:pPr algn="ctr" indent="0" marL="0">
              <a:buNone/>
            </a:pPr>
            <a:r>
              <a:rPr lang="en-US" sz="4400" b="1" dirty="0">
                <a:solidFill>
                  <a:srgbClr val="E8C25A"/>
                </a:solidFill>
                <a:latin typeface="Cambria" pitchFamily="34" charset="0"/>
                <a:ea typeface="Cambria" pitchFamily="34" charset="-122"/>
                <a:cs typeface="Cambria" pitchFamily="34" charset="-120"/>
              </a:rPr>
              <a:t>Lesson 15</a:t>
            </a:r>
            <a:endParaRPr lang="en-US" sz="4400" dirty="0"/>
          </a:p>
        </p:txBody>
      </p:sp>
      <p:sp>
        <p:nvSpPr>
          <p:cNvPr id="5" name="Text 2"/>
          <p:cNvSpPr/>
          <p:nvPr/>
        </p:nvSpPr>
        <p:spPr>
          <a:xfrm>
            <a:off x="914400" y="4114800"/>
            <a:ext cx="10362895" cy="640080"/>
          </a:xfrm>
          <a:prstGeom prst="rect">
            <a:avLst/>
          </a:prstGeom>
          <a:noFill/>
          <a:ln/>
        </p:spPr>
        <p:txBody>
          <a:bodyPr wrap="square" lIns="0" tIns="0" rIns="0" bIns="0" rtlCol="0" anchor="ctr"/>
          <a:lstStyle/>
          <a:p>
            <a:pPr algn="ctr" indent="0" marL="0">
              <a:buNone/>
            </a:pPr>
            <a:r>
              <a:rPr lang="en-US" sz="2200" dirty="0">
                <a:solidFill>
                  <a:srgbClr val="F4F0E6"/>
                </a:solidFill>
                <a:latin typeface="Calibri" pitchFamily="34" charset="0"/>
                <a:ea typeface="Calibri" pitchFamily="34" charset="-122"/>
                <a:cs typeface="Calibri" pitchFamily="34" charset="-120"/>
              </a:rPr>
              <a:t>Ready to Show</a:t>
            </a:r>
            <a:endParaRPr lang="en-US" sz="2200" dirty="0"/>
          </a:p>
        </p:txBody>
      </p:sp>
      <p:sp>
        <p:nvSpPr>
          <p:cNvPr id="6" name="Text 3"/>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400" b="1" i="1" dirty="0">
                <a:solidFill>
                  <a:srgbClr val="E8C25A"/>
                </a:solidFill>
                <a:latin typeface="Calibri" pitchFamily="34" charset="0"/>
                <a:ea typeface="Calibri" pitchFamily="34" charset="-122"/>
                <a:cs typeface="Calibri" pitchFamily="34" charset="-120"/>
              </a:rPr>
              <a:t>Semester 1, Week 15  -  Level 3 Refined Milestone - Capstone Presentation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At a Glance</a:t>
            </a:r>
            <a:endParaRPr lang="en-US" sz="3800" dirty="0"/>
          </a:p>
        </p:txBody>
      </p:sp>
      <p:sp>
        <p:nvSpPr>
          <p:cNvPr id="4" name="Text 1"/>
          <p:cNvSpPr/>
          <p:nvPr/>
        </p:nvSpPr>
        <p:spPr>
          <a:xfrm>
            <a:off x="548640" y="960120"/>
            <a:ext cx="7315200" cy="36576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Lesson 15 objectives &amp; format</a:t>
            </a:r>
            <a:endParaRPr lang="en-US" sz="1500" dirty="0"/>
          </a:p>
        </p:txBody>
      </p:sp>
      <p:sp>
        <p:nvSpPr>
          <p:cNvPr id="5" name="Text 2"/>
          <p:cNvSpPr/>
          <p:nvPr/>
        </p:nvSpPr>
        <p:spPr>
          <a:xfrm>
            <a:off x="548640" y="1508760"/>
            <a:ext cx="603504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By the end of today, students will:</a:t>
            </a:r>
            <a:endParaRPr lang="en-US" sz="1600" dirty="0"/>
          </a:p>
        </p:txBody>
      </p:sp>
      <p:pic>
        <p:nvPicPr>
          <p:cNvPr id="6" name="Image 1" descr="icons/check.png">    </p:cNvPr>
          <p:cNvPicPr>
            <a:picLocks noChangeAspect="1"/>
          </p:cNvPicPr>
          <p:nvPr/>
        </p:nvPicPr>
        <p:blipFill>
          <a:blip r:embed="rId2"/>
          <a:stretch>
            <a:fillRect/>
          </a:stretch>
        </p:blipFill>
        <p:spPr>
          <a:xfrm>
            <a:off x="548640" y="1965960"/>
            <a:ext cx="384048" cy="384048"/>
          </a:xfrm>
          <a:prstGeom prst="rect">
            <a:avLst/>
          </a:prstGeom>
        </p:spPr>
      </p:pic>
      <p:sp>
        <p:nvSpPr>
          <p:cNvPr id="7" name="Text 3"/>
          <p:cNvSpPr/>
          <p:nvPr/>
        </p:nvSpPr>
        <p:spPr>
          <a:xfrm>
            <a:off x="1051560" y="1938528"/>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Self-assess against the full capstone checklist</a:t>
            </a:r>
            <a:endParaRPr lang="en-US" sz="1450" dirty="0"/>
          </a:p>
        </p:txBody>
      </p:sp>
      <p:pic>
        <p:nvPicPr>
          <p:cNvPr id="8" name="Image 2" descr="icons/check.png">    </p:cNvPr>
          <p:cNvPicPr>
            <a:picLocks noChangeAspect="1"/>
          </p:cNvPicPr>
          <p:nvPr/>
        </p:nvPicPr>
        <p:blipFill>
          <a:blip r:embed="rId3"/>
          <a:stretch>
            <a:fillRect/>
          </a:stretch>
        </p:blipFill>
        <p:spPr>
          <a:xfrm>
            <a:off x="548640" y="2532888"/>
            <a:ext cx="384048" cy="384048"/>
          </a:xfrm>
          <a:prstGeom prst="rect">
            <a:avLst/>
          </a:prstGeom>
        </p:spPr>
      </p:pic>
      <p:sp>
        <p:nvSpPr>
          <p:cNvPr id="9" name="Text 4"/>
          <p:cNvSpPr/>
          <p:nvPr/>
        </p:nvSpPr>
        <p:spPr>
          <a:xfrm>
            <a:off x="1051560" y="2505456"/>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Complete a final, prioritized polish pass</a:t>
            </a:r>
            <a:endParaRPr lang="en-US" sz="1450" dirty="0"/>
          </a:p>
        </p:txBody>
      </p:sp>
      <p:pic>
        <p:nvPicPr>
          <p:cNvPr id="10" name="Image 3" descr="icons/check.png">    </p:cNvPr>
          <p:cNvPicPr>
            <a:picLocks noChangeAspect="1"/>
          </p:cNvPicPr>
          <p:nvPr/>
        </p:nvPicPr>
        <p:blipFill>
          <a:blip r:embed="rId4"/>
          <a:stretch>
            <a:fillRect/>
          </a:stretch>
        </p:blipFill>
        <p:spPr>
          <a:xfrm>
            <a:off x="548640" y="3099816"/>
            <a:ext cx="384048" cy="384048"/>
          </a:xfrm>
          <a:prstGeom prst="rect">
            <a:avLst/>
          </a:prstGeom>
        </p:spPr>
      </p:pic>
      <p:sp>
        <p:nvSpPr>
          <p:cNvPr id="11" name="Text 5"/>
          <p:cNvSpPr/>
          <p:nvPr/>
        </p:nvSpPr>
        <p:spPr>
          <a:xfrm>
            <a:off x="1051560" y="3072384"/>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Present a working game confidently to the class</a:t>
            </a:r>
            <a:endParaRPr lang="en-US" sz="1450" dirty="0"/>
          </a:p>
        </p:txBody>
      </p:sp>
      <p:pic>
        <p:nvPicPr>
          <p:cNvPr id="12" name="Image 4" descr="icons/check.png">    </p:cNvPr>
          <p:cNvPicPr>
            <a:picLocks noChangeAspect="1"/>
          </p:cNvPicPr>
          <p:nvPr/>
        </p:nvPicPr>
        <p:blipFill>
          <a:blip r:embed="rId5"/>
          <a:stretch>
            <a:fillRect/>
          </a:stretch>
        </p:blipFill>
        <p:spPr>
          <a:xfrm>
            <a:off x="548640" y="3666744"/>
            <a:ext cx="384048" cy="384048"/>
          </a:xfrm>
          <a:prstGeom prst="rect">
            <a:avLst/>
          </a:prstGeom>
        </p:spPr>
      </p:pic>
      <p:sp>
        <p:nvSpPr>
          <p:cNvPr id="13" name="Text 6"/>
          <p:cNvSpPr/>
          <p:nvPr/>
        </p:nvSpPr>
        <p:spPr>
          <a:xfrm>
            <a:off x="1051560" y="3639312"/>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Reach the Level 3 Refined milestone</a:t>
            </a:r>
            <a:endParaRPr lang="en-US" sz="1450" dirty="0"/>
          </a:p>
        </p:txBody>
      </p:sp>
      <p:sp>
        <p:nvSpPr>
          <p:cNvPr id="14" name="Shape 7"/>
          <p:cNvSpPr/>
          <p:nvPr/>
        </p:nvSpPr>
        <p:spPr>
          <a:xfrm>
            <a:off x="6949440" y="1508760"/>
            <a:ext cx="4709160" cy="4206240"/>
          </a:xfrm>
          <a:prstGeom prst="roundRect">
            <a:avLst>
              <a:gd name="adj" fmla="val 2609"/>
            </a:avLst>
          </a:prstGeom>
          <a:solidFill>
            <a:srgbClr val="EDF2F8"/>
          </a:solidFill>
          <a:ln/>
        </p:spPr>
      </p:sp>
      <p:sp>
        <p:nvSpPr>
          <p:cNvPr id="15" name="Text 8"/>
          <p:cNvSpPr/>
          <p:nvPr/>
        </p:nvSpPr>
        <p:spPr>
          <a:xfrm>
            <a:off x="7223760" y="1691640"/>
            <a:ext cx="420624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Today Is Different</a:t>
            </a:r>
            <a:endParaRPr lang="en-US" sz="1500" dirty="0"/>
          </a:p>
        </p:txBody>
      </p:sp>
      <p:sp>
        <p:nvSpPr>
          <p:cNvPr id="16" name="Text 9"/>
          <p:cNvSpPr/>
          <p:nvPr/>
        </p:nvSpPr>
        <p:spPr>
          <a:xfrm>
            <a:off x="7223760" y="2148840"/>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7" name="Text 10"/>
          <p:cNvSpPr/>
          <p:nvPr/>
        </p:nvSpPr>
        <p:spPr>
          <a:xfrm>
            <a:off x="7498080" y="2148840"/>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No lecture demo, no new mechanics today</a:t>
            </a:r>
            <a:endParaRPr lang="en-US" sz="1250" dirty="0"/>
          </a:p>
        </p:txBody>
      </p:sp>
      <p:sp>
        <p:nvSpPr>
          <p:cNvPr id="18" name="Text 11"/>
          <p:cNvSpPr/>
          <p:nvPr/>
        </p:nvSpPr>
        <p:spPr>
          <a:xfrm>
            <a:off x="7223760" y="2807208"/>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9" name="Text 12"/>
          <p:cNvSpPr/>
          <p:nvPr/>
        </p:nvSpPr>
        <p:spPr>
          <a:xfrm>
            <a:off x="7498080" y="2807208"/>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A workshop-and-showcase day</a:t>
            </a:r>
            <a:endParaRPr lang="en-US" sz="1250" dirty="0"/>
          </a:p>
        </p:txBody>
      </p:sp>
      <p:sp>
        <p:nvSpPr>
          <p:cNvPr id="20" name="Text 13"/>
          <p:cNvSpPr/>
          <p:nvPr/>
        </p:nvSpPr>
        <p:spPr>
          <a:xfrm>
            <a:off x="7223760" y="3465576"/>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1" name="Text 14"/>
          <p:cNvSpPr/>
          <p:nvPr/>
        </p:nvSpPr>
        <p:spPr>
          <a:xfrm>
            <a:off x="7498080" y="3465576"/>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No new assets - this IS the capstone</a:t>
            </a:r>
            <a:endParaRPr lang="en-US" sz="1250" dirty="0"/>
          </a:p>
        </p:txBody>
      </p:sp>
      <p:sp>
        <p:nvSpPr>
          <p:cNvPr id="22" name="Text 15"/>
          <p:cNvSpPr/>
          <p:nvPr/>
        </p:nvSpPr>
        <p:spPr>
          <a:xfrm>
            <a:off x="7223760" y="4123944"/>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3" name="Text 16"/>
          <p:cNvSpPr/>
          <p:nvPr/>
        </p:nvSpPr>
        <p:spPr>
          <a:xfrm>
            <a:off x="7498080" y="4123944"/>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Bring: your own Lesson 14 project, nothing else</a:t>
            </a:r>
            <a:endParaRPr lang="en-US" sz="1250" dirty="0"/>
          </a:p>
        </p:txBody>
      </p:sp>
      <p:sp>
        <p:nvSpPr>
          <p:cNvPr id="24" name="Text 17"/>
          <p:cNvSpPr/>
          <p:nvPr/>
        </p:nvSpPr>
        <p:spPr>
          <a:xfrm>
            <a:off x="7223760" y="4782312"/>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5" name="Text 18"/>
          <p:cNvSpPr/>
          <p:nvPr/>
        </p:nvSpPr>
        <p:spPr>
          <a:xfrm>
            <a:off x="7498080" y="4782312"/>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Demo laptop on standby, backup only</a:t>
            </a:r>
            <a:endParaRPr lang="en-US" sz="1250" dirty="0"/>
          </a:p>
        </p:txBody>
      </p:sp>
      <p:sp>
        <p:nvSpPr>
          <p:cNvPr id="26" name="Text 19"/>
          <p:cNvSpPr/>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IGDA framework tie-in:  Production - scoping, finishing, and presenting a project (intermediate); all Five Disciplines, in review.</a:t>
            </a:r>
            <a:endParaRPr lang="en-US" sz="1150" dirty="0"/>
          </a:p>
        </p:txBody>
      </p:sp>
      <p:sp>
        <p:nvSpPr>
          <p:cNvPr id="27" name="Text 20"/>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8" name="Text 21"/>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15</a:t>
            </a:r>
            <a:endParaRPr lang="en-US" sz="1000" dirty="0"/>
          </a:p>
        </p:txBody>
      </p:sp>
      <p:sp>
        <p:nvSpPr>
          <p:cNvPr id="29" name="Text 22"/>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Today's Agenda</a:t>
            </a:r>
            <a:endParaRPr lang="en-US" sz="3800" dirty="0"/>
          </a:p>
        </p:txBody>
      </p:sp>
      <p:pic>
        <p:nvPicPr>
          <p:cNvPr id="4" name="Image 1" descr="icons/production.png">    </p:cNvPr>
          <p:cNvPicPr>
            <a:picLocks noChangeAspect="1"/>
          </p:cNvPicPr>
          <p:nvPr/>
        </p:nvPicPr>
        <p:blipFill>
          <a:blip r:embed="rId2"/>
          <a:stretch>
            <a:fillRect/>
          </a:stretch>
        </p:blipFill>
        <p:spPr>
          <a:xfrm>
            <a:off x="10607040" y="365760"/>
            <a:ext cx="822960" cy="822960"/>
          </a:xfrm>
          <a:prstGeom prst="rect">
            <a:avLst/>
          </a:prstGeom>
        </p:spPr>
      </p:pic>
      <p:sp>
        <p:nvSpPr>
          <p:cNvPr id="5" name="Shape 1"/>
          <p:cNvSpPr/>
          <p:nvPr/>
        </p:nvSpPr>
        <p:spPr>
          <a:xfrm>
            <a:off x="548640" y="1280160"/>
            <a:ext cx="11064240" cy="512064"/>
          </a:xfrm>
          <a:prstGeom prst="roundRect">
            <a:avLst>
              <a:gd name="adj" fmla="val 14286"/>
            </a:avLst>
          </a:prstGeom>
          <a:solidFill>
            <a:srgbClr val="FFFFFF"/>
          </a:solidFill>
          <a:ln w="12700">
            <a:solidFill>
              <a:srgbClr val="DCE3EC"/>
            </a:solidFill>
            <a:prstDash val="solid"/>
          </a:ln>
        </p:spPr>
      </p:sp>
      <p:sp>
        <p:nvSpPr>
          <p:cNvPr id="6" name="Text 2"/>
          <p:cNvSpPr/>
          <p:nvPr/>
        </p:nvSpPr>
        <p:spPr>
          <a:xfrm>
            <a:off x="822960" y="1280160"/>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0:00 - 0:10</a:t>
            </a:r>
            <a:endParaRPr lang="en-US" sz="1300" dirty="0"/>
          </a:p>
        </p:txBody>
      </p:sp>
      <p:sp>
        <p:nvSpPr>
          <p:cNvPr id="7" name="Text 3"/>
          <p:cNvSpPr/>
          <p:nvPr/>
        </p:nvSpPr>
        <p:spPr>
          <a:xfrm>
            <a:off x="3017520" y="1280160"/>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Welcome back, capstone reflection, milestone framing</a:t>
            </a:r>
            <a:endParaRPr lang="en-US" sz="1230" dirty="0"/>
          </a:p>
        </p:txBody>
      </p:sp>
      <p:sp>
        <p:nvSpPr>
          <p:cNvPr id="8" name="Shape 4"/>
          <p:cNvSpPr/>
          <p:nvPr/>
        </p:nvSpPr>
        <p:spPr>
          <a:xfrm>
            <a:off x="548640" y="1883664"/>
            <a:ext cx="11064240" cy="420624"/>
          </a:xfrm>
          <a:prstGeom prst="roundRect">
            <a:avLst>
              <a:gd name="adj" fmla="val 17391"/>
            </a:avLst>
          </a:prstGeom>
          <a:solidFill>
            <a:srgbClr val="C99A2E"/>
          </a:solidFill>
          <a:ln w="12700">
            <a:solidFill>
              <a:srgbClr val="DCE3EC"/>
            </a:solidFill>
            <a:prstDash val="solid"/>
          </a:ln>
        </p:spPr>
      </p:sp>
      <p:sp>
        <p:nvSpPr>
          <p:cNvPr id="9" name="Text 5"/>
          <p:cNvSpPr/>
          <p:nvPr/>
        </p:nvSpPr>
        <p:spPr>
          <a:xfrm>
            <a:off x="822960" y="1883664"/>
            <a:ext cx="2103120" cy="420624"/>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POLISH TIME</a:t>
            </a:r>
            <a:endParaRPr lang="en-US" sz="1250" dirty="0"/>
          </a:p>
        </p:txBody>
      </p:sp>
      <p:sp>
        <p:nvSpPr>
          <p:cNvPr id="10" name="Text 6"/>
          <p:cNvSpPr/>
          <p:nvPr/>
        </p:nvSpPr>
        <p:spPr>
          <a:xfrm>
            <a:off x="3017520" y="1883664"/>
            <a:ext cx="8412480" cy="420624"/>
          </a:xfrm>
          <a:prstGeom prst="rect">
            <a:avLst/>
          </a:prstGeom>
          <a:noFill/>
          <a:ln/>
        </p:spPr>
        <p:txBody>
          <a:bodyPr wrap="square" lIns="0" tIns="0" rIns="0" bIns="0" rtlCol="0" anchor="ctr"/>
          <a:lstStyle/>
          <a:p>
            <a:pPr indent="0" marL="0">
              <a:buNone/>
            </a:pPr>
            <a:r>
              <a:rPr lang="en-US" sz="1250" b="1" i="1" dirty="0">
                <a:solidFill>
                  <a:srgbClr val="16305C"/>
                </a:solidFill>
                <a:latin typeface="Calibri" pitchFamily="34" charset="0"/>
                <a:ea typeface="Calibri" pitchFamily="34" charset="-122"/>
                <a:cs typeface="Calibri" pitchFamily="34" charset="-120"/>
              </a:rPr>
              <a:t>— Work the Full Capstone Checklist —</a:t>
            </a:r>
            <a:endParaRPr lang="en-US" sz="1250" dirty="0"/>
          </a:p>
        </p:txBody>
      </p:sp>
      <p:sp>
        <p:nvSpPr>
          <p:cNvPr id="11" name="Shape 7"/>
          <p:cNvSpPr/>
          <p:nvPr/>
        </p:nvSpPr>
        <p:spPr>
          <a:xfrm>
            <a:off x="548640" y="2395728"/>
            <a:ext cx="11064240" cy="512064"/>
          </a:xfrm>
          <a:prstGeom prst="roundRect">
            <a:avLst>
              <a:gd name="adj" fmla="val 14286"/>
            </a:avLst>
          </a:prstGeom>
          <a:solidFill>
            <a:srgbClr val="FFFFFF"/>
          </a:solidFill>
          <a:ln w="12700">
            <a:solidFill>
              <a:srgbClr val="DCE3EC"/>
            </a:solidFill>
            <a:prstDash val="solid"/>
          </a:ln>
        </p:spPr>
      </p:sp>
      <p:sp>
        <p:nvSpPr>
          <p:cNvPr id="12" name="Text 8"/>
          <p:cNvSpPr/>
          <p:nvPr/>
        </p:nvSpPr>
        <p:spPr>
          <a:xfrm>
            <a:off x="822960" y="2395728"/>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0:10 - 0:55</a:t>
            </a:r>
            <a:endParaRPr lang="en-US" sz="1300" dirty="0"/>
          </a:p>
        </p:txBody>
      </p:sp>
      <p:sp>
        <p:nvSpPr>
          <p:cNvPr id="13" name="Text 9"/>
          <p:cNvSpPr/>
          <p:nvPr/>
        </p:nvSpPr>
        <p:spPr>
          <a:xfrm>
            <a:off x="3017520" y="2395728"/>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Fix, tune, and finish - checklist first, extras second</a:t>
            </a:r>
            <a:endParaRPr lang="en-US" sz="1230" dirty="0"/>
          </a:p>
        </p:txBody>
      </p:sp>
      <p:sp>
        <p:nvSpPr>
          <p:cNvPr id="14" name="Shape 10"/>
          <p:cNvSpPr/>
          <p:nvPr/>
        </p:nvSpPr>
        <p:spPr>
          <a:xfrm>
            <a:off x="548640" y="2999232"/>
            <a:ext cx="11064240" cy="512064"/>
          </a:xfrm>
          <a:prstGeom prst="roundRect">
            <a:avLst>
              <a:gd name="adj" fmla="val 14286"/>
            </a:avLst>
          </a:prstGeom>
          <a:solidFill>
            <a:srgbClr val="FFFFFF"/>
          </a:solidFill>
          <a:ln w="12700">
            <a:solidFill>
              <a:srgbClr val="DCE3EC"/>
            </a:solidFill>
            <a:prstDash val="solid"/>
          </a:ln>
        </p:spPr>
      </p:sp>
      <p:sp>
        <p:nvSpPr>
          <p:cNvPr id="15" name="Text 11"/>
          <p:cNvSpPr/>
          <p:nvPr/>
        </p:nvSpPr>
        <p:spPr>
          <a:xfrm>
            <a:off x="822960" y="2999232"/>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0:55 - 1:00</a:t>
            </a:r>
            <a:endParaRPr lang="en-US" sz="1300" dirty="0"/>
          </a:p>
        </p:txBody>
      </p:sp>
      <p:sp>
        <p:nvSpPr>
          <p:cNvPr id="16" name="Text 12"/>
          <p:cNvSpPr/>
          <p:nvPr/>
        </p:nvSpPr>
        <p:spPr>
          <a:xfrm>
            <a:off x="3017520" y="2999232"/>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Presentation logistics, running order / sign-up</a:t>
            </a:r>
            <a:endParaRPr lang="en-US" sz="1230" dirty="0"/>
          </a:p>
        </p:txBody>
      </p:sp>
      <p:sp>
        <p:nvSpPr>
          <p:cNvPr id="17" name="Shape 13"/>
          <p:cNvSpPr/>
          <p:nvPr/>
        </p:nvSpPr>
        <p:spPr>
          <a:xfrm>
            <a:off x="548640" y="3602736"/>
            <a:ext cx="11064240" cy="420624"/>
          </a:xfrm>
          <a:prstGeom prst="roundRect">
            <a:avLst>
              <a:gd name="adj" fmla="val 17391"/>
            </a:avLst>
          </a:prstGeom>
          <a:solidFill>
            <a:srgbClr val="C99A2E"/>
          </a:solidFill>
          <a:ln w="12700">
            <a:solidFill>
              <a:srgbClr val="DCE3EC"/>
            </a:solidFill>
            <a:prstDash val="solid"/>
          </a:ln>
        </p:spPr>
      </p:sp>
      <p:sp>
        <p:nvSpPr>
          <p:cNvPr id="18" name="Text 14"/>
          <p:cNvSpPr/>
          <p:nvPr/>
        </p:nvSpPr>
        <p:spPr>
          <a:xfrm>
            <a:off x="822960" y="3602736"/>
            <a:ext cx="2103120" cy="420624"/>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PRESENTATIONS</a:t>
            </a:r>
            <a:endParaRPr lang="en-US" sz="1250" dirty="0"/>
          </a:p>
        </p:txBody>
      </p:sp>
      <p:sp>
        <p:nvSpPr>
          <p:cNvPr id="19" name="Text 15"/>
          <p:cNvSpPr/>
          <p:nvPr/>
        </p:nvSpPr>
        <p:spPr>
          <a:xfrm>
            <a:off x="3017520" y="3602736"/>
            <a:ext cx="8412480" cy="420624"/>
          </a:xfrm>
          <a:prstGeom prst="rect">
            <a:avLst/>
          </a:prstGeom>
          <a:noFill/>
          <a:ln/>
        </p:spPr>
        <p:txBody>
          <a:bodyPr wrap="square" lIns="0" tIns="0" rIns="0" bIns="0" rtlCol="0" anchor="ctr"/>
          <a:lstStyle/>
          <a:p>
            <a:pPr indent="0" marL="0">
              <a:buNone/>
            </a:pPr>
            <a:r>
              <a:rPr lang="en-US" sz="1250" b="1" i="1" dirty="0">
                <a:solidFill>
                  <a:srgbClr val="16305C"/>
                </a:solidFill>
                <a:latin typeface="Calibri" pitchFamily="34" charset="0"/>
                <a:ea typeface="Calibri" pitchFamily="34" charset="-122"/>
                <a:cs typeface="Calibri" pitchFamily="34" charset="-120"/>
              </a:rPr>
              <a:t>— About 2 Minutes Each —</a:t>
            </a:r>
            <a:endParaRPr lang="en-US" sz="1250" dirty="0"/>
          </a:p>
        </p:txBody>
      </p:sp>
      <p:sp>
        <p:nvSpPr>
          <p:cNvPr id="20" name="Shape 16"/>
          <p:cNvSpPr/>
          <p:nvPr/>
        </p:nvSpPr>
        <p:spPr>
          <a:xfrm>
            <a:off x="548640" y="4114800"/>
            <a:ext cx="11064240" cy="512064"/>
          </a:xfrm>
          <a:prstGeom prst="roundRect">
            <a:avLst>
              <a:gd name="adj" fmla="val 14286"/>
            </a:avLst>
          </a:prstGeom>
          <a:solidFill>
            <a:srgbClr val="FFFFFF"/>
          </a:solidFill>
          <a:ln w="12700">
            <a:solidFill>
              <a:srgbClr val="DCE3EC"/>
            </a:solidFill>
            <a:prstDash val="solid"/>
          </a:ln>
        </p:spPr>
      </p:sp>
      <p:sp>
        <p:nvSpPr>
          <p:cNvPr id="21" name="Text 17"/>
          <p:cNvSpPr/>
          <p:nvPr/>
        </p:nvSpPr>
        <p:spPr>
          <a:xfrm>
            <a:off x="822960" y="4114800"/>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1:00 - 1:50</a:t>
            </a:r>
            <a:endParaRPr lang="en-US" sz="1300" dirty="0"/>
          </a:p>
        </p:txBody>
      </p:sp>
      <p:sp>
        <p:nvSpPr>
          <p:cNvPr id="22" name="Text 18"/>
          <p:cNvSpPr/>
          <p:nvPr/>
        </p:nvSpPr>
        <p:spPr>
          <a:xfrm>
            <a:off x="3017520" y="4114800"/>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Play a round, name your game, show your feature</a:t>
            </a:r>
            <a:endParaRPr lang="en-US" sz="1230" dirty="0"/>
          </a:p>
        </p:txBody>
      </p:sp>
      <p:sp>
        <p:nvSpPr>
          <p:cNvPr id="23" name="Shape 19"/>
          <p:cNvSpPr/>
          <p:nvPr/>
        </p:nvSpPr>
        <p:spPr>
          <a:xfrm>
            <a:off x="548640" y="4718304"/>
            <a:ext cx="11064240" cy="512064"/>
          </a:xfrm>
          <a:prstGeom prst="roundRect">
            <a:avLst>
              <a:gd name="adj" fmla="val 14286"/>
            </a:avLst>
          </a:prstGeom>
          <a:solidFill>
            <a:srgbClr val="FFFFFF"/>
          </a:solidFill>
          <a:ln w="12700">
            <a:solidFill>
              <a:srgbClr val="DCE3EC"/>
            </a:solidFill>
            <a:prstDash val="solid"/>
          </a:ln>
        </p:spPr>
      </p:sp>
      <p:sp>
        <p:nvSpPr>
          <p:cNvPr id="24" name="Text 20"/>
          <p:cNvSpPr/>
          <p:nvPr/>
        </p:nvSpPr>
        <p:spPr>
          <a:xfrm>
            <a:off x="822960" y="4718304"/>
            <a:ext cx="2103120" cy="512064"/>
          </a:xfrm>
          <a:prstGeom prst="rect">
            <a:avLst/>
          </a:prstGeom>
          <a:noFill/>
          <a:ln/>
        </p:spPr>
        <p:txBody>
          <a:bodyPr wrap="square" lIns="0" tIns="0" rIns="0" bIns="0" rtlCol="0" anchor="ctr"/>
          <a:lstStyle/>
          <a:p>
            <a:pPr indent="0" marL="0">
              <a:buNone/>
            </a:pPr>
            <a:r>
              <a:rPr lang="en-US" sz="1300" b="1" dirty="0">
                <a:solidFill>
                  <a:srgbClr val="1C4A86"/>
                </a:solidFill>
                <a:latin typeface="Calibri" pitchFamily="34" charset="0"/>
                <a:ea typeface="Calibri" pitchFamily="34" charset="-122"/>
                <a:cs typeface="Calibri" pitchFamily="34" charset="-120"/>
              </a:rPr>
              <a:t>1:50 - 2:00</a:t>
            </a:r>
            <a:endParaRPr lang="en-US" sz="1300" dirty="0"/>
          </a:p>
        </p:txBody>
      </p:sp>
      <p:sp>
        <p:nvSpPr>
          <p:cNvPr id="25" name="Text 21"/>
          <p:cNvSpPr/>
          <p:nvPr/>
        </p:nvSpPr>
        <p:spPr>
          <a:xfrm>
            <a:off x="3017520" y="4718304"/>
            <a:ext cx="8412480" cy="512064"/>
          </a:xfrm>
          <a:prstGeom prst="rect">
            <a:avLst/>
          </a:prstGeom>
          <a:noFill/>
          <a:ln/>
        </p:spPr>
        <p:txBody>
          <a:bodyPr wrap="square" lIns="0" tIns="0" rIns="0" bIns="0" rtlCol="0" anchor="ctr"/>
          <a:lstStyle/>
          <a:p>
            <a:pPr indent="0" marL="0">
              <a:buNone/>
            </a:pPr>
            <a:r>
              <a:rPr lang="en-US" sz="1230" dirty="0">
                <a:solidFill>
                  <a:srgbClr val="222222"/>
                </a:solidFill>
                <a:latin typeface="Calibri" pitchFamily="34" charset="0"/>
                <a:ea typeface="Calibri" pitchFamily="34" charset="-122"/>
                <a:cs typeface="Calibri" pitchFamily="34" charset="-120"/>
              </a:rPr>
              <a:t>Closing celebration, look ahead to Semester 2</a:t>
            </a:r>
            <a:endParaRPr lang="en-US" sz="1230" dirty="0"/>
          </a:p>
        </p:txBody>
      </p:sp>
      <p:sp>
        <p:nvSpPr>
          <p:cNvPr id="26" name="Text 22"/>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7" name="Text 23"/>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15</a:t>
            </a:r>
            <a:endParaRPr lang="en-US" sz="1000" dirty="0"/>
          </a:p>
        </p:txBody>
      </p:sp>
      <p:sp>
        <p:nvSpPr>
          <p:cNvPr id="28" name="Text 24"/>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title_boo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Welcome Back</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Fifteen weeks. A real, finished game.</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15</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Capstone Reflection</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51560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Today is different from every other day this semester:</a:t>
            </a:r>
            <a:endParaRPr lang="en-US" sz="1600" dirty="0"/>
          </a:p>
        </p:txBody>
      </p:sp>
      <p:pic>
        <p:nvPicPr>
          <p:cNvPr id="7" name="Image 1" descr="icons/check.png">    </p:cNvPr>
          <p:cNvPicPr>
            <a:picLocks noChangeAspect="1"/>
          </p:cNvPicPr>
          <p:nvPr/>
        </p:nvPicPr>
        <p:blipFill>
          <a:blip r:embed="rId2"/>
          <a:stretch>
            <a:fillRect/>
          </a:stretch>
        </p:blipFill>
        <p:spPr>
          <a:xfrm>
            <a:off x="548640" y="1828800"/>
            <a:ext cx="365760" cy="365760"/>
          </a:xfrm>
          <a:prstGeom prst="rect">
            <a:avLst/>
          </a:prstGeom>
        </p:spPr>
      </p:pic>
      <p:sp>
        <p:nvSpPr>
          <p:cNvPr id="8" name="Text 4"/>
          <p:cNvSpPr/>
          <p:nvPr/>
        </p:nvSpPr>
        <p:spPr>
          <a:xfrm>
            <a:off x="1051560" y="175564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No new code to learn - today you finish, and today you show what you built</a:t>
            </a:r>
            <a:endParaRPr lang="en-US" sz="1500" dirty="0"/>
          </a:p>
        </p:txBody>
      </p:sp>
      <p:pic>
        <p:nvPicPr>
          <p:cNvPr id="9" name="Image 2" descr="icons/check.png">    </p:cNvPr>
          <p:cNvPicPr>
            <a:picLocks noChangeAspect="1"/>
          </p:cNvPicPr>
          <p:nvPr/>
        </p:nvPicPr>
        <p:blipFill>
          <a:blip r:embed="rId3"/>
          <a:stretch>
            <a:fillRect/>
          </a:stretch>
        </p:blipFill>
        <p:spPr>
          <a:xfrm>
            <a:off x="548640" y="2606040"/>
            <a:ext cx="365760" cy="365760"/>
          </a:xfrm>
          <a:prstGeom prst="rect">
            <a:avLst/>
          </a:prstGeom>
        </p:spPr>
      </p:pic>
      <p:sp>
        <p:nvSpPr>
          <p:cNvPr id="10" name="Text 5"/>
          <p:cNvSpPr/>
          <p:nvPr/>
        </p:nvSpPr>
        <p:spPr>
          <a:xfrm>
            <a:off x="1051560" y="253288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Since Lesson 1, you've built a game that moves, shoots, scores, wins, loses, sounds, reacts, and escalates</a:t>
            </a:r>
            <a:endParaRPr lang="en-US" sz="1500" dirty="0"/>
          </a:p>
        </p:txBody>
      </p:sp>
      <p:pic>
        <p:nvPicPr>
          <p:cNvPr id="11" name="Image 3" descr="icons/check.png">    </p:cNvPr>
          <p:cNvPicPr>
            <a:picLocks noChangeAspect="1"/>
          </p:cNvPicPr>
          <p:nvPr/>
        </p:nvPicPr>
        <p:blipFill>
          <a:blip r:embed="rId4"/>
          <a:stretch>
            <a:fillRect/>
          </a:stretch>
        </p:blipFill>
        <p:spPr>
          <a:xfrm>
            <a:off x="548640" y="3383280"/>
            <a:ext cx="365760" cy="365760"/>
          </a:xfrm>
          <a:prstGeom prst="rect">
            <a:avLst/>
          </a:prstGeom>
        </p:spPr>
      </p:pic>
      <p:sp>
        <p:nvSpPr>
          <p:cNvPr id="12" name="Text 6"/>
          <p:cNvSpPr/>
          <p:nvPr/>
        </p:nvSpPr>
        <p:spPr>
          <a:xfrm>
            <a:off x="1051560" y="331012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About 45 minutes of polish time, then about 2-minute presentations - no slides, no stress</a:t>
            </a:r>
            <a:endParaRPr lang="en-US" sz="1500" dirty="0"/>
          </a:p>
        </p:txBody>
      </p:sp>
      <p:sp>
        <p:nvSpPr>
          <p:cNvPr id="13" name="Shape 7"/>
          <p:cNvSpPr/>
          <p:nvPr/>
        </p:nvSpPr>
        <p:spPr>
          <a:xfrm>
            <a:off x="548640" y="4343400"/>
            <a:ext cx="11064240" cy="1371600"/>
          </a:xfrm>
          <a:prstGeom prst="roundRect">
            <a:avLst>
              <a:gd name="adj" fmla="val 8000"/>
            </a:avLst>
          </a:prstGeom>
          <a:solidFill>
            <a:srgbClr val="EDF2F8"/>
          </a:solidFill>
          <a:ln/>
        </p:spPr>
      </p:sp>
      <p:pic>
        <p:nvPicPr>
          <p:cNvPr id="14" name="Image 4" descr="icons/book.png">    </p:cNvPr>
          <p:cNvPicPr>
            <a:picLocks noChangeAspect="1"/>
          </p:cNvPicPr>
          <p:nvPr/>
        </p:nvPicPr>
        <p:blipFill>
          <a:blip r:embed="rId5"/>
          <a:stretch>
            <a:fillRect/>
          </a:stretch>
        </p:blipFill>
        <p:spPr>
          <a:xfrm>
            <a:off x="777240" y="4572000"/>
            <a:ext cx="548640" cy="548640"/>
          </a:xfrm>
          <a:prstGeom prst="rect">
            <a:avLst/>
          </a:prstGeom>
        </p:spPr>
      </p:pic>
      <p:sp>
        <p:nvSpPr>
          <p:cNvPr id="15" name="Text 8"/>
          <p:cNvSpPr/>
          <p:nvPr/>
        </p:nvSpPr>
        <p:spPr>
          <a:xfrm>
            <a:off x="1508760" y="4526280"/>
            <a:ext cx="9875520" cy="9601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Open your own project from last week today - this IS your capstone. There's nothing separate to submit, and nothing new to bring.</a:t>
            </a:r>
            <a:endParaRPr lang="en-US" sz="1400" dirty="0"/>
          </a:p>
        </p:txBody>
      </p:sp>
      <p:sp>
        <p:nvSpPr>
          <p:cNvPr id="17"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8"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15</a:t>
            </a:r>
            <a:endParaRPr lang="en-US" sz="1000" dirty="0"/>
          </a:p>
        </p:txBody>
      </p:sp>
      <p:sp>
        <p:nvSpPr>
          <p:cNvPr id="19"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title_wrench.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Polish Time</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Checklist first. Extras only after that.</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45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15</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Polish Time</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45 min</a:t>
            </a:r>
            <a:endParaRPr lang="en-US" sz="1200" dirty="0"/>
          </a:p>
        </p:txBody>
      </p:sp>
      <p:sp>
        <p:nvSpPr>
          <p:cNvPr id="6" name="Text 3"/>
          <p:cNvSpPr/>
          <p:nvPr/>
        </p:nvSpPr>
        <p:spPr>
          <a:xfrm>
            <a:off x="548640" y="1325880"/>
            <a:ext cx="10881360" cy="5486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Work your Handout's checklist top to bottom - in priority order:</a:t>
            </a:r>
            <a:endParaRPr lang="en-US" sz="1500" dirty="0"/>
          </a:p>
        </p:txBody>
      </p:sp>
      <p:sp>
        <p:nvSpPr>
          <p:cNvPr id="7" name="Shape 4"/>
          <p:cNvSpPr/>
          <p:nvPr/>
        </p:nvSpPr>
        <p:spPr>
          <a:xfrm>
            <a:off x="548640" y="2103120"/>
            <a:ext cx="502920" cy="502920"/>
          </a:xfrm>
          <a:prstGeom prst="ellipse">
            <a:avLst/>
          </a:prstGeom>
          <a:solidFill>
            <a:srgbClr val="C99A2E"/>
          </a:solidFill>
          <a:ln/>
        </p:spPr>
      </p:sp>
      <p:sp>
        <p:nvSpPr>
          <p:cNvPr id="8" name="Text 5"/>
          <p:cNvSpPr/>
          <p:nvPr/>
        </p:nvSpPr>
        <p:spPr>
          <a:xfrm>
            <a:off x="548640" y="2103120"/>
            <a:ext cx="502920" cy="502920"/>
          </a:xfrm>
          <a:prstGeom prst="rect">
            <a:avLst/>
          </a:prstGeom>
          <a:noFill/>
          <a:ln/>
        </p:spPr>
        <p:txBody>
          <a:bodyPr wrap="square" lIns="0" tIns="0" rIns="0" bIns="0" rtlCol="0" anchor="ctr"/>
          <a:lstStyle/>
          <a:p>
            <a:pPr algn="ctr" indent="0" marL="0">
              <a:buNone/>
            </a:pPr>
            <a:r>
              <a:rPr lang="en-US" sz="2000" b="1" dirty="0">
                <a:solidFill>
                  <a:srgbClr val="16305C"/>
                </a:solidFill>
                <a:latin typeface="Cambria" pitchFamily="34" charset="0"/>
                <a:ea typeface="Cambria" pitchFamily="34" charset="-122"/>
                <a:cs typeface="Cambria" pitchFamily="34" charset="-120"/>
              </a:rPr>
              <a:t>1</a:t>
            </a:r>
            <a:endParaRPr lang="en-US" sz="2000" dirty="0"/>
          </a:p>
        </p:txBody>
      </p:sp>
      <p:sp>
        <p:nvSpPr>
          <p:cNvPr id="9" name="Shape 6"/>
          <p:cNvSpPr/>
          <p:nvPr/>
        </p:nvSpPr>
        <p:spPr>
          <a:xfrm>
            <a:off x="1234440" y="2011680"/>
            <a:ext cx="10378440" cy="1005840"/>
          </a:xfrm>
          <a:prstGeom prst="roundRect">
            <a:avLst>
              <a:gd name="adj" fmla="val 9091"/>
            </a:avLst>
          </a:prstGeom>
          <a:solidFill>
            <a:srgbClr val="EDF2F8"/>
          </a:solidFill>
          <a:ln w="12700">
            <a:solidFill>
              <a:srgbClr val="DCE3EC"/>
            </a:solidFill>
            <a:prstDash val="solid"/>
          </a:ln>
        </p:spPr>
      </p:sp>
      <p:sp>
        <p:nvSpPr>
          <p:cNvPr id="10" name="Text 7"/>
          <p:cNvSpPr/>
          <p:nvPr/>
        </p:nvSpPr>
        <p:spPr>
          <a:xfrm>
            <a:off x="1463040" y="2084832"/>
            <a:ext cx="9966960" cy="41148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Fix anything broken or unchecked</a:t>
            </a:r>
            <a:endParaRPr lang="en-US" sz="1450" dirty="0"/>
          </a:p>
        </p:txBody>
      </p:sp>
      <p:sp>
        <p:nvSpPr>
          <p:cNvPr id="11" name="Text 8"/>
          <p:cNvSpPr/>
          <p:nvPr/>
        </p:nvSpPr>
        <p:spPr>
          <a:xfrm>
            <a:off x="1463040" y="2468880"/>
            <a:ext cx="9966960" cy="45720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A complete, simple game beats a broken ambitious one.</a:t>
            </a:r>
            <a:endParaRPr lang="en-US" sz="1250" dirty="0"/>
          </a:p>
        </p:txBody>
      </p:sp>
      <p:sp>
        <p:nvSpPr>
          <p:cNvPr id="12" name="Shape 9"/>
          <p:cNvSpPr/>
          <p:nvPr/>
        </p:nvSpPr>
        <p:spPr>
          <a:xfrm>
            <a:off x="548640" y="3291840"/>
            <a:ext cx="502920" cy="502920"/>
          </a:xfrm>
          <a:prstGeom prst="ellipse">
            <a:avLst/>
          </a:prstGeom>
          <a:solidFill>
            <a:srgbClr val="C99A2E"/>
          </a:solidFill>
          <a:ln/>
        </p:spPr>
      </p:sp>
      <p:sp>
        <p:nvSpPr>
          <p:cNvPr id="13" name="Text 10"/>
          <p:cNvSpPr/>
          <p:nvPr/>
        </p:nvSpPr>
        <p:spPr>
          <a:xfrm>
            <a:off x="548640" y="3291840"/>
            <a:ext cx="502920" cy="502920"/>
          </a:xfrm>
          <a:prstGeom prst="rect">
            <a:avLst/>
          </a:prstGeom>
          <a:noFill/>
          <a:ln/>
        </p:spPr>
        <p:txBody>
          <a:bodyPr wrap="square" lIns="0" tIns="0" rIns="0" bIns="0" rtlCol="0" anchor="ctr"/>
          <a:lstStyle/>
          <a:p>
            <a:pPr algn="ctr" indent="0" marL="0">
              <a:buNone/>
            </a:pPr>
            <a:r>
              <a:rPr lang="en-US" sz="2000" b="1" dirty="0">
                <a:solidFill>
                  <a:srgbClr val="16305C"/>
                </a:solidFill>
                <a:latin typeface="Cambria" pitchFamily="34" charset="0"/>
                <a:ea typeface="Cambria" pitchFamily="34" charset="-122"/>
                <a:cs typeface="Cambria" pitchFamily="34" charset="-120"/>
              </a:rPr>
              <a:t>2</a:t>
            </a:r>
            <a:endParaRPr lang="en-US" sz="2000" dirty="0"/>
          </a:p>
        </p:txBody>
      </p:sp>
      <p:sp>
        <p:nvSpPr>
          <p:cNvPr id="14" name="Shape 11"/>
          <p:cNvSpPr/>
          <p:nvPr/>
        </p:nvSpPr>
        <p:spPr>
          <a:xfrm>
            <a:off x="1234440" y="3200400"/>
            <a:ext cx="10378440" cy="1005840"/>
          </a:xfrm>
          <a:prstGeom prst="roundRect">
            <a:avLst>
              <a:gd name="adj" fmla="val 9091"/>
            </a:avLst>
          </a:prstGeom>
          <a:solidFill>
            <a:srgbClr val="EDF2F8"/>
          </a:solidFill>
          <a:ln w="12700">
            <a:solidFill>
              <a:srgbClr val="DCE3EC"/>
            </a:solidFill>
            <a:prstDash val="solid"/>
          </a:ln>
        </p:spPr>
      </p:sp>
      <p:sp>
        <p:nvSpPr>
          <p:cNvPr id="15" name="Text 12"/>
          <p:cNvSpPr/>
          <p:nvPr/>
        </p:nvSpPr>
        <p:spPr>
          <a:xfrm>
            <a:off x="1463040" y="3273552"/>
            <a:ext cx="9966960" cy="41148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Tune anything unfair or confusing</a:t>
            </a:r>
            <a:endParaRPr lang="en-US" sz="1450" dirty="0"/>
          </a:p>
        </p:txBody>
      </p:sp>
      <p:sp>
        <p:nvSpPr>
          <p:cNvPr id="16" name="Text 13"/>
          <p:cNvSpPr/>
          <p:nvPr/>
        </p:nvSpPr>
        <p:spPr>
          <a:xfrm>
            <a:off x="1463040" y="3657600"/>
            <a:ext cx="9966960" cy="45720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Difficulty, text clarity, sound volume/timing.</a:t>
            </a:r>
            <a:endParaRPr lang="en-US" sz="1250" dirty="0"/>
          </a:p>
        </p:txBody>
      </p:sp>
      <p:sp>
        <p:nvSpPr>
          <p:cNvPr id="17" name="Shape 14"/>
          <p:cNvSpPr/>
          <p:nvPr/>
        </p:nvSpPr>
        <p:spPr>
          <a:xfrm>
            <a:off x="548640" y="4480560"/>
            <a:ext cx="502920" cy="502920"/>
          </a:xfrm>
          <a:prstGeom prst="ellipse">
            <a:avLst/>
          </a:prstGeom>
          <a:solidFill>
            <a:srgbClr val="C99A2E"/>
          </a:solidFill>
          <a:ln/>
        </p:spPr>
      </p:sp>
      <p:sp>
        <p:nvSpPr>
          <p:cNvPr id="18" name="Text 15"/>
          <p:cNvSpPr/>
          <p:nvPr/>
        </p:nvSpPr>
        <p:spPr>
          <a:xfrm>
            <a:off x="548640" y="4480560"/>
            <a:ext cx="502920" cy="502920"/>
          </a:xfrm>
          <a:prstGeom prst="rect">
            <a:avLst/>
          </a:prstGeom>
          <a:noFill/>
          <a:ln/>
        </p:spPr>
        <p:txBody>
          <a:bodyPr wrap="square" lIns="0" tIns="0" rIns="0" bIns="0" rtlCol="0" anchor="ctr"/>
          <a:lstStyle/>
          <a:p>
            <a:pPr algn="ctr" indent="0" marL="0">
              <a:buNone/>
            </a:pPr>
            <a:r>
              <a:rPr lang="en-US" sz="2000" b="1" dirty="0">
                <a:solidFill>
                  <a:srgbClr val="16305C"/>
                </a:solidFill>
                <a:latin typeface="Cambria" pitchFamily="34" charset="0"/>
                <a:ea typeface="Cambria" pitchFamily="34" charset="-122"/>
                <a:cs typeface="Cambria" pitchFamily="34" charset="-120"/>
              </a:rPr>
              <a:t>3</a:t>
            </a:r>
            <a:endParaRPr lang="en-US" sz="2000" dirty="0"/>
          </a:p>
        </p:txBody>
      </p:sp>
      <p:sp>
        <p:nvSpPr>
          <p:cNvPr id="19" name="Shape 16"/>
          <p:cNvSpPr/>
          <p:nvPr/>
        </p:nvSpPr>
        <p:spPr>
          <a:xfrm>
            <a:off x="1234440" y="4389120"/>
            <a:ext cx="10378440" cy="1005840"/>
          </a:xfrm>
          <a:prstGeom prst="roundRect">
            <a:avLst>
              <a:gd name="adj" fmla="val 9091"/>
            </a:avLst>
          </a:prstGeom>
          <a:solidFill>
            <a:srgbClr val="EDF2F8"/>
          </a:solidFill>
          <a:ln w="12700">
            <a:solidFill>
              <a:srgbClr val="DCE3EC"/>
            </a:solidFill>
            <a:prstDash val="solid"/>
          </a:ln>
        </p:spPr>
      </p:sp>
      <p:sp>
        <p:nvSpPr>
          <p:cNvPr id="20" name="Text 17"/>
          <p:cNvSpPr/>
          <p:nvPr/>
        </p:nvSpPr>
        <p:spPr>
          <a:xfrm>
            <a:off x="1463040" y="4462272"/>
            <a:ext cx="9966960" cy="41148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Only then: your Lesson 14 feature</a:t>
            </a:r>
            <a:endParaRPr lang="en-US" sz="1450" dirty="0"/>
          </a:p>
        </p:txBody>
      </p:sp>
      <p:sp>
        <p:nvSpPr>
          <p:cNvPr id="21" name="Text 18"/>
          <p:cNvSpPr/>
          <p:nvPr/>
        </p:nvSpPr>
        <p:spPr>
          <a:xfrm>
            <a:off x="1463040" y="4846320"/>
            <a:ext cx="9966960" cy="457200"/>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Or any extra polish, if time and energy remain.</a:t>
            </a:r>
            <a:endParaRPr lang="en-US" sz="1250" dirty="0"/>
          </a:p>
        </p:txBody>
      </p:sp>
      <p:sp>
        <p:nvSpPr>
          <p:cNvPr id="23" name="Text 1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4" name="Text 2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15</a:t>
            </a:r>
            <a:endParaRPr lang="en-US" sz="1000" dirty="0"/>
          </a:p>
        </p:txBody>
      </p:sp>
      <p:sp>
        <p:nvSpPr>
          <p:cNvPr id="25" name="Text 2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title_shiel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Milestone Moment</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What Level 3 Refined actually means.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15</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Level 3 Refined</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Shape 3"/>
          <p:cNvSpPr/>
          <p:nvPr/>
        </p:nvSpPr>
        <p:spPr>
          <a:xfrm>
            <a:off x="548640" y="1325880"/>
            <a:ext cx="11064240" cy="1554480"/>
          </a:xfrm>
          <a:prstGeom prst="roundRect">
            <a:avLst>
              <a:gd name="adj" fmla="val 7059"/>
            </a:avLst>
          </a:prstGeom>
          <a:solidFill>
            <a:srgbClr val="EDF2F8"/>
          </a:solidFill>
          <a:ln/>
        </p:spPr>
      </p:sp>
      <p:sp>
        <p:nvSpPr>
          <p:cNvPr id="7" name="Text 4"/>
          <p:cNvSpPr/>
          <p:nvPr/>
        </p:nvSpPr>
        <p:spPr>
          <a:xfrm>
            <a:off x="822960" y="1508760"/>
            <a:ext cx="10515600" cy="11887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Level 1 MVP (Lesson 6) meant a complete, playable loop. Level 2 Complete (Lesson 11) meant real depth. Level 3 Refined means feature-complete, tested, and polished enough to comfortably share outside of class.</a:t>
            </a:r>
            <a:endParaRPr lang="en-US" sz="1400" dirty="0"/>
          </a:p>
        </p:txBody>
      </p:sp>
      <p:sp>
        <p:nvSpPr>
          <p:cNvPr id="8" name="Shape 5"/>
          <p:cNvSpPr/>
          <p:nvPr/>
        </p:nvSpPr>
        <p:spPr>
          <a:xfrm>
            <a:off x="548640" y="3063240"/>
            <a:ext cx="11064240" cy="2331720"/>
          </a:xfrm>
          <a:prstGeom prst="roundRect">
            <a:avLst>
              <a:gd name="adj" fmla="val 4706"/>
            </a:avLst>
          </a:prstGeom>
          <a:solidFill>
            <a:srgbClr val="0F2C52"/>
          </a:solidFill>
          <a:ln w="12700">
            <a:solidFill>
              <a:srgbClr val="C99A2E"/>
            </a:solidFill>
            <a:prstDash val="solid"/>
          </a:ln>
        </p:spPr>
      </p:sp>
      <p:sp>
        <p:nvSpPr>
          <p:cNvPr id="9" name="Text 6"/>
          <p:cNvSpPr/>
          <p:nvPr/>
        </p:nvSpPr>
        <p:spPr>
          <a:xfrm>
            <a:off x="822960" y="3246120"/>
            <a:ext cx="10515600" cy="1097280"/>
          </a:xfrm>
          <a:prstGeom prst="rect">
            <a:avLst/>
          </a:prstGeom>
          <a:noFill/>
          <a:ln/>
        </p:spPr>
        <p:txBody>
          <a:bodyPr wrap="square" lIns="0" tIns="0" rIns="0" bIns="0" rtlCol="0" anchor="ctr"/>
          <a:lstStyle/>
          <a:p>
            <a:pPr indent="0" marL="0">
              <a:buNone/>
            </a:pPr>
            <a:r>
              <a:rPr lang="en-US" sz="1450" i="1" dirty="0">
                <a:solidFill>
                  <a:srgbClr val="F4F0E6"/>
                </a:solidFill>
                <a:latin typeface="Calibri" pitchFamily="34" charset="0"/>
                <a:ea typeface="Calibri" pitchFamily="34" charset="-122"/>
                <a:cs typeface="Calibri" pitchFamily="34" charset="-120"/>
              </a:rPr>
              <a:t>That's not a claim that everything is perfect. It's a claim that your game is DONE - a real, working, presentable arcade game, built by you, over fifteen weeks, in an engine you chose.</a:t>
            </a:r>
            <a:endParaRPr lang="en-US" sz="1450" dirty="0"/>
          </a:p>
        </p:txBody>
      </p:sp>
      <p:sp>
        <p:nvSpPr>
          <p:cNvPr id="10" name="Text 7"/>
          <p:cNvSpPr/>
          <p:nvPr/>
        </p:nvSpPr>
        <p:spPr>
          <a:xfrm>
            <a:off x="822960" y="4389120"/>
            <a:ext cx="10515600" cy="914400"/>
          </a:xfrm>
          <a:prstGeom prst="rect">
            <a:avLst/>
          </a:prstGeom>
          <a:noFill/>
          <a:ln/>
        </p:spPr>
        <p:txBody>
          <a:bodyPr wrap="square" lIns="0" tIns="0" rIns="0" bIns="0" rtlCol="0" anchor="ctr"/>
          <a:lstStyle/>
          <a:p>
            <a:pPr indent="0" marL="0">
              <a:buNone/>
            </a:pPr>
            <a:r>
              <a:rPr lang="en-US" sz="1400" b="1" dirty="0">
                <a:solidFill>
                  <a:srgbClr val="E8C25A"/>
                </a:solidFill>
                <a:latin typeface="Calibri" pitchFamily="34" charset="0"/>
                <a:ea typeface="Calibri" pitchFamily="34" charset="-122"/>
                <a:cs typeface="Calibri" pitchFamily="34" charset="-120"/>
              </a:rPr>
              <a:t>However far up the Level ladder you got, a finished game is today's whole point - not a perfect one.</a:t>
            </a:r>
            <a:endParaRPr lang="en-US" sz="1400" dirty="0"/>
          </a:p>
        </p:txBody>
      </p:sp>
      <p:sp>
        <p:nvSpPr>
          <p:cNvPr id="12" name="Text 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3" name="Text 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15</a:t>
            </a:r>
            <a:endParaRPr lang="en-US" sz="1000" dirty="0"/>
          </a:p>
        </p:txBody>
      </p:sp>
      <p:sp>
        <p:nvSpPr>
          <p:cNvPr id="14" name="Text 1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title_controll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Presentations</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Play a round. Tell us about it. That's it.</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15</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96012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Presenting Your Game</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50 min</a:t>
            </a:r>
            <a:endParaRPr lang="en-US" sz="1200" dirty="0"/>
          </a:p>
        </p:txBody>
      </p:sp>
      <p:sp>
        <p:nvSpPr>
          <p:cNvPr id="6" name="Text 3"/>
          <p:cNvSpPr/>
          <p:nvPr/>
        </p:nvSpPr>
        <p:spPr>
          <a:xfrm>
            <a:off x="548640" y="1280160"/>
            <a:ext cx="10881360" cy="45720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About 2 minutes each. No slides, no notes required - just play while you talk.</a:t>
            </a:r>
            <a:endParaRPr lang="en-US" sz="1450" dirty="0"/>
          </a:p>
        </p:txBody>
      </p:sp>
      <p:sp>
        <p:nvSpPr>
          <p:cNvPr id="7" name="Shape 4"/>
          <p:cNvSpPr/>
          <p:nvPr/>
        </p:nvSpPr>
        <p:spPr>
          <a:xfrm>
            <a:off x="548640" y="1965960"/>
            <a:ext cx="411480" cy="411480"/>
          </a:xfrm>
          <a:prstGeom prst="ellipse">
            <a:avLst/>
          </a:prstGeom>
          <a:solidFill>
            <a:srgbClr val="C99A2E"/>
          </a:solidFill>
          <a:ln/>
        </p:spPr>
      </p:sp>
      <p:sp>
        <p:nvSpPr>
          <p:cNvPr id="8" name="Text 5"/>
          <p:cNvSpPr/>
          <p:nvPr/>
        </p:nvSpPr>
        <p:spPr>
          <a:xfrm>
            <a:off x="548640" y="1965960"/>
            <a:ext cx="411480" cy="411480"/>
          </a:xfrm>
          <a:prstGeom prst="rect">
            <a:avLst/>
          </a:prstGeom>
          <a:noFill/>
          <a:ln/>
        </p:spPr>
        <p:txBody>
          <a:bodyPr wrap="square" lIns="0" tIns="0" rIns="0" bIns="0" rtlCol="0" anchor="ctr"/>
          <a:lstStyle/>
          <a:p>
            <a:pPr algn="ctr" indent="0" marL="0">
              <a:buNone/>
            </a:pPr>
            <a:r>
              <a:rPr lang="en-US" sz="1600" b="1" dirty="0">
                <a:solidFill>
                  <a:srgbClr val="16305C"/>
                </a:solidFill>
                <a:latin typeface="Cambria" pitchFamily="34" charset="0"/>
                <a:ea typeface="Cambria" pitchFamily="34" charset="-122"/>
                <a:cs typeface="Cambria" pitchFamily="34" charset="-120"/>
              </a:rPr>
              <a:t>1</a:t>
            </a:r>
            <a:endParaRPr lang="en-US" sz="1600" dirty="0"/>
          </a:p>
        </p:txBody>
      </p:sp>
      <p:sp>
        <p:nvSpPr>
          <p:cNvPr id="9" name="Text 6"/>
          <p:cNvSpPr/>
          <p:nvPr/>
        </p:nvSpPr>
        <p:spPr>
          <a:xfrm>
            <a:off x="1143000" y="1920240"/>
            <a:ext cx="10241280" cy="54864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Name your game, and its core mechanic, in one sentence</a:t>
            </a:r>
            <a:endParaRPr lang="en-US" sz="1450" dirty="0"/>
          </a:p>
        </p:txBody>
      </p:sp>
      <p:sp>
        <p:nvSpPr>
          <p:cNvPr id="10" name="Shape 7"/>
          <p:cNvSpPr/>
          <p:nvPr/>
        </p:nvSpPr>
        <p:spPr>
          <a:xfrm>
            <a:off x="548640" y="2743200"/>
            <a:ext cx="411480" cy="411480"/>
          </a:xfrm>
          <a:prstGeom prst="ellipse">
            <a:avLst/>
          </a:prstGeom>
          <a:solidFill>
            <a:srgbClr val="C99A2E"/>
          </a:solidFill>
          <a:ln/>
        </p:spPr>
      </p:sp>
      <p:sp>
        <p:nvSpPr>
          <p:cNvPr id="11" name="Text 8"/>
          <p:cNvSpPr/>
          <p:nvPr/>
        </p:nvSpPr>
        <p:spPr>
          <a:xfrm>
            <a:off x="548640" y="2743200"/>
            <a:ext cx="411480" cy="411480"/>
          </a:xfrm>
          <a:prstGeom prst="rect">
            <a:avLst/>
          </a:prstGeom>
          <a:noFill/>
          <a:ln/>
        </p:spPr>
        <p:txBody>
          <a:bodyPr wrap="square" lIns="0" tIns="0" rIns="0" bIns="0" rtlCol="0" anchor="ctr"/>
          <a:lstStyle/>
          <a:p>
            <a:pPr algn="ctr" indent="0" marL="0">
              <a:buNone/>
            </a:pPr>
            <a:r>
              <a:rPr lang="en-US" sz="1600" b="1" dirty="0">
                <a:solidFill>
                  <a:srgbClr val="16305C"/>
                </a:solidFill>
                <a:latin typeface="Cambria" pitchFamily="34" charset="0"/>
                <a:ea typeface="Cambria" pitchFamily="34" charset="-122"/>
                <a:cs typeface="Cambria" pitchFamily="34" charset="-120"/>
              </a:rPr>
              <a:t>2</a:t>
            </a:r>
            <a:endParaRPr lang="en-US" sz="1600" dirty="0"/>
          </a:p>
        </p:txBody>
      </p:sp>
      <p:sp>
        <p:nvSpPr>
          <p:cNvPr id="12" name="Text 9"/>
          <p:cNvSpPr/>
          <p:nvPr/>
        </p:nvSpPr>
        <p:spPr>
          <a:xfrm>
            <a:off x="1143000" y="2697480"/>
            <a:ext cx="10241280" cy="54864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Play a short round - a hit, a wave clear, a win or loss</a:t>
            </a:r>
            <a:endParaRPr lang="en-US" sz="1450" dirty="0"/>
          </a:p>
        </p:txBody>
      </p:sp>
      <p:sp>
        <p:nvSpPr>
          <p:cNvPr id="13" name="Shape 10"/>
          <p:cNvSpPr/>
          <p:nvPr/>
        </p:nvSpPr>
        <p:spPr>
          <a:xfrm>
            <a:off x="548640" y="3520440"/>
            <a:ext cx="411480" cy="411480"/>
          </a:xfrm>
          <a:prstGeom prst="ellipse">
            <a:avLst/>
          </a:prstGeom>
          <a:solidFill>
            <a:srgbClr val="C99A2E"/>
          </a:solidFill>
          <a:ln/>
        </p:spPr>
      </p:sp>
      <p:sp>
        <p:nvSpPr>
          <p:cNvPr id="14" name="Text 11"/>
          <p:cNvSpPr/>
          <p:nvPr/>
        </p:nvSpPr>
        <p:spPr>
          <a:xfrm>
            <a:off x="548640" y="3520440"/>
            <a:ext cx="411480" cy="411480"/>
          </a:xfrm>
          <a:prstGeom prst="rect">
            <a:avLst/>
          </a:prstGeom>
          <a:noFill/>
          <a:ln/>
        </p:spPr>
        <p:txBody>
          <a:bodyPr wrap="square" lIns="0" tIns="0" rIns="0" bIns="0" rtlCol="0" anchor="ctr"/>
          <a:lstStyle/>
          <a:p>
            <a:pPr algn="ctr" indent="0" marL="0">
              <a:buNone/>
            </a:pPr>
            <a:r>
              <a:rPr lang="en-US" sz="1600" b="1" dirty="0">
                <a:solidFill>
                  <a:srgbClr val="16305C"/>
                </a:solidFill>
                <a:latin typeface="Cambria" pitchFamily="34" charset="0"/>
                <a:ea typeface="Cambria" pitchFamily="34" charset="-122"/>
                <a:cs typeface="Cambria" pitchFamily="34" charset="-120"/>
              </a:rPr>
              <a:t>3</a:t>
            </a:r>
            <a:endParaRPr lang="en-US" sz="1600" dirty="0"/>
          </a:p>
        </p:txBody>
      </p:sp>
      <p:sp>
        <p:nvSpPr>
          <p:cNvPr id="15" name="Text 12"/>
          <p:cNvSpPr/>
          <p:nvPr/>
        </p:nvSpPr>
        <p:spPr>
          <a:xfrm>
            <a:off x="1143000" y="3474720"/>
            <a:ext cx="10241280" cy="54864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Point out your chosen Level 3 stretch feature specifically</a:t>
            </a:r>
            <a:endParaRPr lang="en-US" sz="1450" dirty="0"/>
          </a:p>
        </p:txBody>
      </p:sp>
      <p:sp>
        <p:nvSpPr>
          <p:cNvPr id="16" name="Shape 13"/>
          <p:cNvSpPr/>
          <p:nvPr/>
        </p:nvSpPr>
        <p:spPr>
          <a:xfrm>
            <a:off x="548640" y="4297680"/>
            <a:ext cx="411480" cy="411480"/>
          </a:xfrm>
          <a:prstGeom prst="ellipse">
            <a:avLst/>
          </a:prstGeom>
          <a:solidFill>
            <a:srgbClr val="C99A2E"/>
          </a:solidFill>
          <a:ln/>
        </p:spPr>
      </p:sp>
      <p:sp>
        <p:nvSpPr>
          <p:cNvPr id="17" name="Text 14"/>
          <p:cNvSpPr/>
          <p:nvPr/>
        </p:nvSpPr>
        <p:spPr>
          <a:xfrm>
            <a:off x="548640" y="4297680"/>
            <a:ext cx="411480" cy="411480"/>
          </a:xfrm>
          <a:prstGeom prst="rect">
            <a:avLst/>
          </a:prstGeom>
          <a:noFill/>
          <a:ln/>
        </p:spPr>
        <p:txBody>
          <a:bodyPr wrap="square" lIns="0" tIns="0" rIns="0" bIns="0" rtlCol="0" anchor="ctr"/>
          <a:lstStyle/>
          <a:p>
            <a:pPr algn="ctr" indent="0" marL="0">
              <a:buNone/>
            </a:pPr>
            <a:r>
              <a:rPr lang="en-US" sz="1600" b="1" dirty="0">
                <a:solidFill>
                  <a:srgbClr val="16305C"/>
                </a:solidFill>
                <a:latin typeface="Cambria" pitchFamily="34" charset="0"/>
                <a:ea typeface="Cambria" pitchFamily="34" charset="-122"/>
                <a:cs typeface="Cambria" pitchFamily="34" charset="-120"/>
              </a:rPr>
              <a:t>4</a:t>
            </a:r>
            <a:endParaRPr lang="en-US" sz="1600" dirty="0"/>
          </a:p>
        </p:txBody>
      </p:sp>
      <p:sp>
        <p:nvSpPr>
          <p:cNvPr id="18" name="Text 15"/>
          <p:cNvSpPr/>
          <p:nvPr/>
        </p:nvSpPr>
        <p:spPr>
          <a:xfrm>
            <a:off x="1143000" y="4251960"/>
            <a:ext cx="10241280" cy="54864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If something breaks live: say what it's supposed to do, and move on</a:t>
            </a:r>
            <a:endParaRPr lang="en-US" sz="1450" dirty="0"/>
          </a:p>
        </p:txBody>
      </p:sp>
      <p:sp>
        <p:nvSpPr>
          <p:cNvPr id="20" name="Text 16"/>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1" name="Text 17"/>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15</a:t>
            </a:r>
            <a:endParaRPr lang="en-US" sz="1000" dirty="0"/>
          </a:p>
        </p:txBody>
      </p:sp>
      <p:sp>
        <p:nvSpPr>
          <p:cNvPr id="22" name="Text 18"/>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b="1" dirty="0">
                <a:solidFill>
                  <a:srgbClr val="1C4A86"/>
                </a:solidFill>
                <a:latin typeface="Cambria" pitchFamily="34" charset="0"/>
                <a:ea typeface="Cambria" pitchFamily="34" charset="-122"/>
                <a:cs typeface="Cambria" pitchFamily="34" charset="-120"/>
              </a:rPr>
              <a:t>Polish &amp; Presentation Notes</a:t>
            </a:r>
            <a:endParaRPr lang="en-US" sz="3000" dirty="0"/>
          </a:p>
        </p:txBody>
      </p:sp>
      <p:pic>
        <p:nvPicPr>
          <p:cNvPr id="4" name="Image 1" descr="icons/wrench.png">    </p:cNvPr>
          <p:cNvPicPr>
            <a:picLocks noChangeAspect="1"/>
          </p:cNvPicPr>
          <p:nvPr/>
        </p:nvPicPr>
        <p:blipFill>
          <a:blip r:embed="rId2"/>
          <a:stretch>
            <a:fillRect/>
          </a:stretch>
        </p:blipFill>
        <p:spPr>
          <a:xfrm>
            <a:off x="10515600" y="365760"/>
            <a:ext cx="914400" cy="914400"/>
          </a:xfrm>
          <a:prstGeom prst="rect">
            <a:avLst/>
          </a:prstGeom>
        </p:spPr>
      </p:pic>
      <p:pic>
        <p:nvPicPr>
          <p:cNvPr id="5" name="Image 2" descr="icons/check.png">    </p:cNvPr>
          <p:cNvPicPr>
            <a:picLocks noChangeAspect="1"/>
          </p:cNvPicPr>
          <p:nvPr/>
        </p:nvPicPr>
        <p:blipFill>
          <a:blip r:embed="rId3"/>
          <a:stretch>
            <a:fillRect/>
          </a:stretch>
        </p:blipFill>
        <p:spPr>
          <a:xfrm>
            <a:off x="548640" y="1600200"/>
            <a:ext cx="384048" cy="384048"/>
          </a:xfrm>
          <a:prstGeom prst="rect">
            <a:avLst/>
          </a:prstGeom>
        </p:spPr>
      </p:pic>
      <p:sp>
        <p:nvSpPr>
          <p:cNvPr id="6" name="Text 1"/>
          <p:cNvSpPr/>
          <p:nvPr/>
        </p:nvSpPr>
        <p:spPr>
          <a:xfrm>
            <a:off x="1097280" y="146304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Redirect firmly toward fixing and tuning over adding anything new during polish time.</a:t>
            </a:r>
            <a:endParaRPr lang="en-US" sz="1350" dirty="0"/>
          </a:p>
        </p:txBody>
      </p:sp>
      <p:pic>
        <p:nvPicPr>
          <p:cNvPr id="7" name="Image 3" descr="icons/check.png">    </p:cNvPr>
          <p:cNvPicPr>
            <a:picLocks noChangeAspect="1"/>
          </p:cNvPicPr>
          <p:nvPr/>
        </p:nvPicPr>
        <p:blipFill>
          <a:blip r:embed="rId4"/>
          <a:stretch>
            <a:fillRect/>
          </a:stretch>
        </p:blipFill>
        <p:spPr>
          <a:xfrm>
            <a:off x="548640" y="2651760"/>
            <a:ext cx="384048" cy="384048"/>
          </a:xfrm>
          <a:prstGeom prst="rect">
            <a:avLst/>
          </a:prstGeom>
        </p:spPr>
      </p:pic>
      <p:sp>
        <p:nvSpPr>
          <p:cNvPr id="8" name="Text 2"/>
          <p:cNvSpPr/>
          <p:nvPr/>
        </p:nvSpPr>
        <p:spPr>
          <a:xfrm>
            <a:off x="1097280" y="251460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Triage: Core Mechanics broken, then Sound/Animation, then Difficulty/Level 3, in that order if time is short.</a:t>
            </a:r>
            <a:endParaRPr lang="en-US" sz="1350" dirty="0"/>
          </a:p>
        </p:txBody>
      </p:sp>
      <p:pic>
        <p:nvPicPr>
          <p:cNvPr id="9" name="Image 4" descr="icons/check.png">    </p:cNvPr>
          <p:cNvPicPr>
            <a:picLocks noChangeAspect="1"/>
          </p:cNvPicPr>
          <p:nvPr/>
        </p:nvPicPr>
        <p:blipFill>
          <a:blip r:embed="rId5"/>
          <a:stretch>
            <a:fillRect/>
          </a:stretch>
        </p:blipFill>
        <p:spPr>
          <a:xfrm>
            <a:off x="548640" y="3703320"/>
            <a:ext cx="384048" cy="384048"/>
          </a:xfrm>
          <a:prstGeom prst="rect">
            <a:avLst/>
          </a:prstGeom>
        </p:spPr>
      </p:pic>
      <p:sp>
        <p:nvSpPr>
          <p:cNvPr id="10" name="Text 3"/>
          <p:cNvSpPr/>
          <p:nvPr/>
        </p:nvSpPr>
        <p:spPr>
          <a:xfrm>
            <a:off x="1097280" y="356616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A confident presentation of a Level 1/2 game is a full success today - not every Level 3 item needs to be finished.</a:t>
            </a:r>
            <a:endParaRPr lang="en-US" sz="1350" dirty="0"/>
          </a:p>
        </p:txBody>
      </p:sp>
      <p:pic>
        <p:nvPicPr>
          <p:cNvPr id="11" name="Image 5" descr="icons/check.png">    </p:cNvPr>
          <p:cNvPicPr>
            <a:picLocks noChangeAspect="1"/>
          </p:cNvPicPr>
          <p:nvPr/>
        </p:nvPicPr>
        <p:blipFill>
          <a:blip r:embed="rId6"/>
          <a:stretch>
            <a:fillRect/>
          </a:stretch>
        </p:blipFill>
        <p:spPr>
          <a:xfrm>
            <a:off x="548640" y="4754880"/>
            <a:ext cx="384048" cy="384048"/>
          </a:xfrm>
          <a:prstGeom prst="rect">
            <a:avLst/>
          </a:prstGeom>
        </p:spPr>
      </p:pic>
      <p:sp>
        <p:nvSpPr>
          <p:cNvPr id="12" name="Text 4"/>
          <p:cNvSpPr/>
          <p:nvPr/>
        </p:nvSpPr>
        <p:spPr>
          <a:xfrm>
            <a:off x="1097280" y="4617720"/>
            <a:ext cx="10332720" cy="822960"/>
          </a:xfrm>
          <a:prstGeom prst="rect">
            <a:avLst/>
          </a:prstGeom>
          <a:noFill/>
          <a:ln/>
        </p:spPr>
        <p:txBody>
          <a:bodyPr wrap="square" lIns="0" tIns="0" rIns="0" bIns="0" rtlCol="0" anchor="ctr"/>
          <a:lstStyle/>
          <a:p>
            <a:pPr indent="0" marL="0">
              <a:buNone/>
            </a:pPr>
            <a:r>
              <a:rPr lang="en-US" sz="1350" dirty="0">
                <a:solidFill>
                  <a:srgbClr val="222222"/>
                </a:solidFill>
                <a:latin typeface="Calibri" pitchFamily="34" charset="0"/>
                <a:ea typeface="Calibri" pitchFamily="34" charset="-122"/>
                <a:cs typeface="Calibri" pitchFamily="34" charset="-120"/>
              </a:rPr>
              <a:t>Hold the 2-minute presentation limit firmly, with a warning at the halfway point.</a:t>
            </a:r>
            <a:endParaRPr lang="en-US" sz="1350" dirty="0"/>
          </a:p>
        </p:txBody>
      </p:sp>
      <p:sp>
        <p:nvSpPr>
          <p:cNvPr id="13" name="Text 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4" name="Text 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15</a:t>
            </a:r>
            <a:endParaRPr lang="en-US" sz="1000" dirty="0"/>
          </a:p>
        </p:txBody>
      </p:sp>
      <p:sp>
        <p:nvSpPr>
          <p:cNvPr id="15" name="Text 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b="1" dirty="0">
                <a:solidFill>
                  <a:srgbClr val="1C4A86"/>
                </a:solidFill>
                <a:latin typeface="Cambria" pitchFamily="34" charset="0"/>
                <a:ea typeface="Cambria" pitchFamily="34" charset="-122"/>
                <a:cs typeface="Cambria" pitchFamily="34" charset="-120"/>
              </a:rPr>
              <a:t>The Full Capstone, In Review</a:t>
            </a:r>
            <a:endParaRPr lang="en-US" sz="3000" dirty="0"/>
          </a:p>
        </p:txBody>
      </p:sp>
      <p:sp>
        <p:nvSpPr>
          <p:cNvPr id="4" name="Shape 1"/>
          <p:cNvSpPr/>
          <p:nvPr/>
        </p:nvSpPr>
        <p:spPr>
          <a:xfrm>
            <a:off x="548640" y="1371600"/>
            <a:ext cx="11064240" cy="960120"/>
          </a:xfrm>
          <a:prstGeom prst="roundRect">
            <a:avLst>
              <a:gd name="adj" fmla="val 9524"/>
            </a:avLst>
          </a:prstGeom>
          <a:solidFill>
            <a:srgbClr val="EDF2F8"/>
          </a:solidFill>
          <a:ln w="12700">
            <a:solidFill>
              <a:srgbClr val="DCE3EC"/>
            </a:solidFill>
            <a:prstDash val="solid"/>
          </a:ln>
        </p:spPr>
      </p:sp>
      <p:sp>
        <p:nvSpPr>
          <p:cNvPr id="5" name="Text 2"/>
          <p:cNvSpPr/>
          <p:nvPr/>
        </p:nvSpPr>
        <p:spPr>
          <a:xfrm>
            <a:off x="822960" y="1463040"/>
            <a:ext cx="2926080" cy="7772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Core Mechanics</a:t>
            </a:r>
            <a:endParaRPr lang="en-US" sz="1500" dirty="0"/>
          </a:p>
        </p:txBody>
      </p:sp>
      <p:sp>
        <p:nvSpPr>
          <p:cNvPr id="6" name="Text 3"/>
          <p:cNvSpPr/>
          <p:nvPr/>
        </p:nvSpPr>
        <p:spPr>
          <a:xfrm>
            <a:off x="3931920" y="1463040"/>
            <a:ext cx="7498080" cy="77724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Move, shoot, score, lives, win/lose, restart, waves (L2-11)</a:t>
            </a:r>
            <a:endParaRPr lang="en-US" sz="1300" dirty="0"/>
          </a:p>
        </p:txBody>
      </p:sp>
      <p:sp>
        <p:nvSpPr>
          <p:cNvPr id="7" name="Shape 4"/>
          <p:cNvSpPr/>
          <p:nvPr/>
        </p:nvSpPr>
        <p:spPr>
          <a:xfrm>
            <a:off x="548640" y="2468880"/>
            <a:ext cx="11064240" cy="960120"/>
          </a:xfrm>
          <a:prstGeom prst="roundRect">
            <a:avLst>
              <a:gd name="adj" fmla="val 9524"/>
            </a:avLst>
          </a:prstGeom>
          <a:solidFill>
            <a:srgbClr val="EDF2F8"/>
          </a:solidFill>
          <a:ln w="12700">
            <a:solidFill>
              <a:srgbClr val="DCE3EC"/>
            </a:solidFill>
            <a:prstDash val="solid"/>
          </a:ln>
        </p:spPr>
      </p:sp>
      <p:sp>
        <p:nvSpPr>
          <p:cNvPr id="8" name="Text 5"/>
          <p:cNvSpPr/>
          <p:nvPr/>
        </p:nvSpPr>
        <p:spPr>
          <a:xfrm>
            <a:off x="822960" y="2560320"/>
            <a:ext cx="2926080" cy="7772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Sound</a:t>
            </a:r>
            <a:endParaRPr lang="en-US" sz="1500" dirty="0"/>
          </a:p>
        </p:txBody>
      </p:sp>
      <p:sp>
        <p:nvSpPr>
          <p:cNvPr id="9" name="Text 6"/>
          <p:cNvSpPr/>
          <p:nvPr/>
        </p:nvSpPr>
        <p:spPr>
          <a:xfrm>
            <a:off x="3931920" y="2560320"/>
            <a:ext cx="7498080" cy="77724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Shoot, explosion, wave clear, game over (L12)</a:t>
            </a:r>
            <a:endParaRPr lang="en-US" sz="1300" dirty="0"/>
          </a:p>
        </p:txBody>
      </p:sp>
      <p:sp>
        <p:nvSpPr>
          <p:cNvPr id="10" name="Shape 7"/>
          <p:cNvSpPr/>
          <p:nvPr/>
        </p:nvSpPr>
        <p:spPr>
          <a:xfrm>
            <a:off x="548640" y="3566160"/>
            <a:ext cx="11064240" cy="960120"/>
          </a:xfrm>
          <a:prstGeom prst="roundRect">
            <a:avLst>
              <a:gd name="adj" fmla="val 9524"/>
            </a:avLst>
          </a:prstGeom>
          <a:solidFill>
            <a:srgbClr val="EDF2F8"/>
          </a:solidFill>
          <a:ln w="12700">
            <a:solidFill>
              <a:srgbClr val="DCE3EC"/>
            </a:solidFill>
            <a:prstDash val="solid"/>
          </a:ln>
        </p:spPr>
      </p:sp>
      <p:sp>
        <p:nvSpPr>
          <p:cNvPr id="11" name="Text 8"/>
          <p:cNvSpPr/>
          <p:nvPr/>
        </p:nvSpPr>
        <p:spPr>
          <a:xfrm>
            <a:off x="822960" y="3657600"/>
            <a:ext cx="2926080" cy="7772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Animation</a:t>
            </a:r>
            <a:endParaRPr lang="en-US" sz="1500" dirty="0"/>
          </a:p>
        </p:txBody>
      </p:sp>
      <p:sp>
        <p:nvSpPr>
          <p:cNvPr id="12" name="Text 9"/>
          <p:cNvSpPr/>
          <p:nvPr/>
        </p:nvSpPr>
        <p:spPr>
          <a:xfrm>
            <a:off x="3931920" y="3657600"/>
            <a:ext cx="7498080" cy="77724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Hit flash, explosion effect (L13)</a:t>
            </a:r>
            <a:endParaRPr lang="en-US" sz="1300" dirty="0"/>
          </a:p>
        </p:txBody>
      </p:sp>
      <p:sp>
        <p:nvSpPr>
          <p:cNvPr id="13" name="Shape 10"/>
          <p:cNvSpPr/>
          <p:nvPr/>
        </p:nvSpPr>
        <p:spPr>
          <a:xfrm>
            <a:off x="548640" y="4663440"/>
            <a:ext cx="11064240" cy="960120"/>
          </a:xfrm>
          <a:prstGeom prst="roundRect">
            <a:avLst>
              <a:gd name="adj" fmla="val 9524"/>
            </a:avLst>
          </a:prstGeom>
          <a:solidFill>
            <a:srgbClr val="EDF2F8"/>
          </a:solidFill>
          <a:ln w="12700">
            <a:solidFill>
              <a:srgbClr val="DCE3EC"/>
            </a:solidFill>
            <a:prstDash val="solid"/>
          </a:ln>
        </p:spPr>
      </p:sp>
      <p:sp>
        <p:nvSpPr>
          <p:cNvPr id="14" name="Text 11"/>
          <p:cNvSpPr/>
          <p:nvPr/>
        </p:nvSpPr>
        <p:spPr>
          <a:xfrm>
            <a:off x="822960" y="4754880"/>
            <a:ext cx="2926080" cy="77724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Difficulty</a:t>
            </a:r>
            <a:endParaRPr lang="en-US" sz="1500" dirty="0"/>
          </a:p>
        </p:txBody>
      </p:sp>
      <p:sp>
        <p:nvSpPr>
          <p:cNvPr id="15" name="Text 12"/>
          <p:cNvSpPr/>
          <p:nvPr/>
        </p:nvSpPr>
        <p:spPr>
          <a:xfrm>
            <a:off x="3931920" y="4754880"/>
            <a:ext cx="7498080" cy="777240"/>
          </a:xfrm>
          <a:prstGeom prst="rect">
            <a:avLst/>
          </a:prstGeom>
          <a:noFill/>
          <a:ln/>
        </p:spPr>
        <p:txBody>
          <a:bodyPr wrap="square" lIns="0" tIns="0" rIns="0" bIns="0" rtlCol="0" anchor="ctr"/>
          <a:lstStyle/>
          <a:p>
            <a:pPr indent="0" marL="0">
              <a:buNone/>
            </a:pPr>
            <a:r>
              <a:rPr lang="en-US" sz="1300" dirty="0">
                <a:solidFill>
                  <a:srgbClr val="222222"/>
                </a:solidFill>
                <a:latin typeface="Calibri" pitchFamily="34" charset="0"/>
                <a:ea typeface="Calibri" pitchFamily="34" charset="-122"/>
                <a:cs typeface="Calibri" pitchFamily="34" charset="-120"/>
              </a:rPr>
              <a:t>Enemy count and speed scale by wave (L14)</a:t>
            </a:r>
            <a:endParaRPr lang="en-US" sz="1300" dirty="0"/>
          </a:p>
        </p:txBody>
      </p:sp>
      <p:sp>
        <p:nvSpPr>
          <p:cNvPr id="16" name="Text 13"/>
          <p:cNvSpPr/>
          <p:nvPr/>
        </p:nvSpPr>
        <p:spPr>
          <a:xfrm>
            <a:off x="548640" y="5623560"/>
            <a:ext cx="11064240" cy="548640"/>
          </a:xfrm>
          <a:prstGeom prst="rect">
            <a:avLst/>
          </a:prstGeom>
          <a:noFill/>
          <a:ln/>
        </p:spPr>
        <p:txBody>
          <a:bodyPr wrap="square" lIns="0" tIns="0" rIns="0" bIns="0" rtlCol="0" anchor="ctr"/>
          <a:lstStyle/>
          <a:p>
            <a:pPr indent="0" marL="0">
              <a:buNone/>
            </a:pPr>
            <a:r>
              <a:rPr lang="en-US" sz="1300" i="1" dirty="0">
                <a:solidFill>
                  <a:srgbClr val="5A6472"/>
                </a:solidFill>
                <a:latin typeface="Calibri" pitchFamily="34" charset="0"/>
                <a:ea typeface="Calibri" pitchFamily="34" charset="-122"/>
                <a:cs typeface="Calibri" pitchFamily="34" charset="-120"/>
              </a:rPr>
              <a:t>Plus: one chosen Level 3 stretch feature - shields, a power-up, a bonus enemy, formation movement, or a title/game-over screen.</a:t>
            </a:r>
            <a:endParaRPr lang="en-US" sz="1300" dirty="0"/>
          </a:p>
        </p:txBody>
      </p:sp>
      <p:sp>
        <p:nvSpPr>
          <p:cNvPr id="17" name="Text 1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8" name="Text 1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15</a:t>
            </a:r>
            <a:endParaRPr lang="en-US" sz="1000" dirty="0"/>
          </a:p>
        </p:txBody>
      </p:sp>
      <p:sp>
        <p:nvSpPr>
          <p:cNvPr id="19" name="Text 1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10515600" cy="640080"/>
          </a:xfrm>
          <a:prstGeom prst="rect">
            <a:avLst/>
          </a:prstGeom>
          <a:noFill/>
          <a:ln/>
        </p:spPr>
        <p:txBody>
          <a:bodyPr wrap="square" lIns="0" tIns="0" rIns="0" bIns="0" rtlCol="0" anchor="ctr"/>
          <a:lstStyle/>
          <a:p>
            <a:pPr indent="0" marL="0">
              <a:buNone/>
            </a:pPr>
            <a:r>
              <a:rPr lang="en-US" sz="3000" b="1" dirty="0">
                <a:solidFill>
                  <a:srgbClr val="1C4A86"/>
                </a:solidFill>
                <a:latin typeface="Cambria" pitchFamily="34" charset="0"/>
                <a:ea typeface="Cambria" pitchFamily="34" charset="-122"/>
                <a:cs typeface="Cambria" pitchFamily="34" charset="-120"/>
              </a:rPr>
              <a:t>Looking Ahead: Semester 2</a:t>
            </a:r>
            <a:endParaRPr lang="en-US" sz="3000" dirty="0"/>
          </a:p>
        </p:txBody>
      </p:sp>
      <p:pic>
        <p:nvPicPr>
          <p:cNvPr id="4" name="Image 1" descr="icons/programming.png">    </p:cNvPr>
          <p:cNvPicPr>
            <a:picLocks noChangeAspect="1"/>
          </p:cNvPicPr>
          <p:nvPr/>
        </p:nvPicPr>
        <p:blipFill>
          <a:blip r:embed="rId2"/>
          <a:stretch>
            <a:fillRect/>
          </a:stretch>
        </p:blipFill>
        <p:spPr>
          <a:xfrm>
            <a:off x="10607040" y="365760"/>
            <a:ext cx="822960" cy="822960"/>
          </a:xfrm>
          <a:prstGeom prst="rect">
            <a:avLst/>
          </a:prstGeom>
        </p:spPr>
      </p:pic>
      <p:sp>
        <p:nvSpPr>
          <p:cNvPr id="5" name="Shape 1"/>
          <p:cNvSpPr/>
          <p:nvPr/>
        </p:nvSpPr>
        <p:spPr>
          <a:xfrm>
            <a:off x="548640" y="1463040"/>
            <a:ext cx="11064240" cy="2011680"/>
          </a:xfrm>
          <a:prstGeom prst="roundRect">
            <a:avLst>
              <a:gd name="adj" fmla="val 5455"/>
            </a:avLst>
          </a:prstGeom>
          <a:solidFill>
            <a:srgbClr val="EDF2F8"/>
          </a:solidFill>
          <a:ln/>
        </p:spPr>
      </p:sp>
      <p:sp>
        <p:nvSpPr>
          <p:cNvPr id="6" name="Text 2"/>
          <p:cNvSpPr/>
          <p:nvPr/>
        </p:nvSpPr>
        <p:spPr>
          <a:xfrm>
            <a:off x="822960" y="1645920"/>
            <a:ext cx="10515600" cy="164592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Semester 2 picks up in a very different place: state machines, enemy/AI behavior, physics, expanding scope with menus and save data, and eventually a much bigger capstone for the CoOp Expo. New this term: testing your own game (and having classmates try it) becomes an ongoing habit, not a one-time thing at the end.</a:t>
            </a:r>
            <a:endParaRPr lang="en-US" sz="1500" dirty="0"/>
          </a:p>
        </p:txBody>
      </p:sp>
      <p:sp>
        <p:nvSpPr>
          <p:cNvPr id="7" name="Shape 3"/>
          <p:cNvSpPr/>
          <p:nvPr/>
        </p:nvSpPr>
        <p:spPr>
          <a:xfrm>
            <a:off x="548640" y="3657600"/>
            <a:ext cx="11064240" cy="1463040"/>
          </a:xfrm>
          <a:prstGeom prst="roundRect">
            <a:avLst>
              <a:gd name="adj" fmla="val 7500"/>
            </a:avLst>
          </a:prstGeom>
          <a:solidFill>
            <a:srgbClr val="0F2C52"/>
          </a:solidFill>
          <a:ln w="12700">
            <a:solidFill>
              <a:srgbClr val="C99A2E"/>
            </a:solidFill>
            <a:prstDash val="solid"/>
          </a:ln>
        </p:spPr>
      </p:sp>
      <p:sp>
        <p:nvSpPr>
          <p:cNvPr id="8" name="Text 4"/>
          <p:cNvSpPr/>
          <p:nvPr/>
        </p:nvSpPr>
        <p:spPr>
          <a:xfrm>
            <a:off x="822960" y="3840480"/>
            <a:ext cx="10515600" cy="1097280"/>
          </a:xfrm>
          <a:prstGeom prst="rect">
            <a:avLst/>
          </a:prstGeom>
          <a:noFill/>
          <a:ln/>
        </p:spPr>
        <p:txBody>
          <a:bodyPr wrap="square" lIns="0" tIns="0" rIns="0" bIns="0" rtlCol="0" anchor="ctr"/>
          <a:lstStyle/>
          <a:p>
            <a:pPr indent="0" marL="0">
              <a:buNone/>
            </a:pPr>
            <a:r>
              <a:rPr lang="en-US" sz="1500" b="1" i="1" dirty="0">
                <a:solidFill>
                  <a:srgbClr val="E8C25A"/>
                </a:solidFill>
                <a:latin typeface="Calibri" pitchFamily="34" charset="0"/>
                <a:ea typeface="Calibri" pitchFamily="34" charset="-122"/>
                <a:cs typeface="Calibri" pitchFamily="34" charset="-120"/>
              </a:rPr>
              <a:t>Everything you built this semester stays exactly this valuable: it's proof you can take an idea all the way to done.</a:t>
            </a:r>
            <a:endParaRPr lang="en-US" sz="1500" dirty="0"/>
          </a:p>
        </p:txBody>
      </p:sp>
      <p:sp>
        <p:nvSpPr>
          <p:cNvPr id="10" name="Text 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1" name="Text 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15</a:t>
            </a:r>
            <a:endParaRPr lang="en-US" sz="1000" dirty="0"/>
          </a:p>
        </p:txBody>
      </p:sp>
      <p:sp>
        <p:nvSpPr>
          <p:cNvPr id="12" name="Text 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title_with_slh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2240280"/>
            <a:ext cx="12191695" cy="731520"/>
          </a:xfrm>
          <a:prstGeom prst="rect">
            <a:avLst/>
          </a:prstGeom>
          <a:noFill/>
          <a:ln/>
        </p:spPr>
        <p:txBody>
          <a:bodyPr wrap="square" lIns="0" tIns="0" rIns="0" bIns="0" rtlCol="0" anchor="ctr"/>
          <a:lstStyle/>
          <a:p>
            <a:pPr algn="ctr" indent="0" marL="0">
              <a:buNone/>
            </a:pPr>
            <a:r>
              <a:rPr lang="en-US" sz="4000" b="1" dirty="0">
                <a:solidFill>
                  <a:srgbClr val="E8C25A"/>
                </a:solidFill>
                <a:latin typeface="Cambria" pitchFamily="34" charset="0"/>
                <a:ea typeface="Cambria" pitchFamily="34" charset="-122"/>
                <a:cs typeface="Cambria" pitchFamily="34" charset="-120"/>
              </a:rPr>
              <a:t>Capstone Complete!</a:t>
            </a:r>
            <a:endParaRPr lang="en-US" sz="4000" dirty="0"/>
          </a:p>
        </p:txBody>
      </p:sp>
      <p:sp>
        <p:nvSpPr>
          <p:cNvPr id="4" name="Text 1"/>
          <p:cNvSpPr/>
          <p:nvPr/>
        </p:nvSpPr>
        <p:spPr>
          <a:xfrm>
            <a:off x="1371600" y="3063240"/>
            <a:ext cx="9448495" cy="548640"/>
          </a:xfrm>
          <a:prstGeom prst="rect">
            <a:avLst/>
          </a:prstGeom>
          <a:noFill/>
          <a:ln/>
        </p:spPr>
        <p:txBody>
          <a:bodyPr wrap="square" lIns="0" tIns="0" rIns="0" bIns="0" rtlCol="0" anchor="ctr"/>
          <a:lstStyle/>
          <a:p>
            <a:pPr algn="ctr" indent="0" marL="0">
              <a:buNone/>
            </a:pPr>
            <a:r>
              <a:rPr lang="en-US" sz="1600" dirty="0">
                <a:solidFill>
                  <a:srgbClr val="F4F0E6"/>
                </a:solidFill>
                <a:latin typeface="Calibri" pitchFamily="34" charset="0"/>
                <a:ea typeface="Calibri" pitchFamily="34" charset="-122"/>
                <a:cs typeface="Calibri" pitchFamily="34" charset="-120"/>
              </a:rPr>
              <a:t>Fifteen weeks, one idea, a real finished game - built and shown by you.</a:t>
            </a:r>
            <a:endParaRPr lang="en-US" sz="1600" dirty="0"/>
          </a:p>
        </p:txBody>
      </p:sp>
      <p:sp>
        <p:nvSpPr>
          <p:cNvPr id="5" name="Text 2"/>
          <p:cNvSpPr/>
          <p:nvPr/>
        </p:nvSpPr>
        <p:spPr>
          <a:xfrm>
            <a:off x="1371600" y="3657600"/>
            <a:ext cx="9448495" cy="548640"/>
          </a:xfrm>
          <a:prstGeom prst="rect">
            <a:avLst/>
          </a:prstGeom>
          <a:noFill/>
          <a:ln/>
        </p:spPr>
        <p:txBody>
          <a:bodyPr wrap="square" lIns="0" tIns="0" rIns="0" bIns="0" rtlCol="0" anchor="ctr"/>
          <a:lstStyle/>
          <a:p>
            <a:pPr algn="ctr" indent="0" marL="0">
              <a:buNone/>
            </a:pPr>
            <a:r>
              <a:rPr lang="en-US" sz="1500" dirty="0">
                <a:solidFill>
                  <a:srgbClr val="F4F0E6"/>
                </a:solidFill>
                <a:latin typeface="Calibri" pitchFamily="34" charset="0"/>
                <a:ea typeface="Calibri" pitchFamily="34" charset="-122"/>
                <a:cs typeface="Calibri" pitchFamily="34" charset="-120"/>
              </a:rPr>
              <a:t>Congratulations, Video Game Creation - Semester 1 is in the books.</a:t>
            </a:r>
            <a:endParaRPr lang="en-US" sz="1500" dirty="0"/>
          </a:p>
        </p:txBody>
      </p:sp>
      <p:sp>
        <p:nvSpPr>
          <p:cNvPr id="6" name="Text 3"/>
          <p:cNvSpPr/>
          <p:nvPr/>
        </p:nvSpPr>
        <p:spPr>
          <a:xfrm>
            <a:off x="1371600" y="4297680"/>
            <a:ext cx="9448495" cy="548640"/>
          </a:xfrm>
          <a:prstGeom prst="rect">
            <a:avLst/>
          </a:prstGeom>
          <a:noFill/>
          <a:ln/>
        </p:spPr>
        <p:txBody>
          <a:bodyPr wrap="square" lIns="0" tIns="0" rIns="0" bIns="0" rtlCol="0" anchor="ctr"/>
          <a:lstStyle/>
          <a:p>
            <a:pPr algn="ctr" indent="0" marL="0">
              <a:buNone/>
            </a:pPr>
            <a:r>
              <a:rPr lang="en-US" sz="1300" i="1" dirty="0">
                <a:solidFill>
                  <a:srgbClr val="9FB6D6"/>
                </a:solidFill>
                <a:latin typeface="Calibri" pitchFamily="34" charset="0"/>
                <a:ea typeface="Calibri" pitchFamily="34" charset="-122"/>
                <a:cs typeface="Calibri" pitchFamily="34" charset="-120"/>
              </a:rPr>
              <a:t>See you next semester for state machines, AI, and an even bigger build.</a:t>
            </a:r>
            <a:endParaRPr lang="en-US" sz="13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15</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2026-10-25T17:22:02Z</dcterms:created>
  <dcterms:modified xsi:type="dcterms:W3CDTF">2026-10-25T17:22:02Z</dcterms:modified>
</cp:coreProperties>
</file>