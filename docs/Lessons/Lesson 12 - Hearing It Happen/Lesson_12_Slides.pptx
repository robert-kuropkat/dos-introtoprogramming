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3.png"/><Relationship Id="rId5" Type="http://schemas.openxmlformats.org/officeDocument/2006/relationships/image" Target="../media/image-7-3.png"/><Relationship Id="rId6" Type="http://schemas.openxmlformats.org/officeDocument/2006/relationships/image" Target="../media/image-7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3.png"/><Relationship Id="rId5" Type="http://schemas.openxmlformats.org/officeDocument/2006/relationships/image" Target="../media/image-14-3.png"/><Relationship Id="rId6" Type="http://schemas.openxmlformats.org/officeDocument/2006/relationships/image" Target="../media/image-14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with_vg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029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O U T H   L A K E   H O M E   E D U C A T O R 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383280"/>
            <a:ext cx="12191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12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914400" y="41148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Hearing It Happen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0" y="4892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1, Week 12  -  Sound Effects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a Glance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 objectives &amp; materials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48640" y="15087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today, students will:</a:t>
            </a:r>
            <a:endParaRPr lang="en-US" sz="1600" dirty="0"/>
          </a:p>
        </p:txBody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938528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four sound cues into their exact matching code paths</a:t>
            </a:r>
            <a:endParaRPr lang="en-US" sz="1450" dirty="0"/>
          </a:p>
        </p:txBody>
      </p:sp>
      <p:pic>
        <p:nvPicPr>
          <p:cNvPr id="8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32888"/>
            <a:ext cx="384048" cy="3840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2505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why event-driven triggers need no replay guard</a:t>
            </a:r>
            <a:endParaRPr lang="en-US" sz="1450" dirty="0"/>
          </a:p>
        </p:txBody>
      </p:sp>
      <p:pic>
        <p:nvPicPr>
          <p:cNvPr id="10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99816"/>
            <a:ext cx="384048" cy="38404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307238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 five lessons' worth of optional sound ideas</a:t>
            </a:r>
            <a:endParaRPr lang="en-US" sz="1450" dirty="0"/>
          </a:p>
        </p:txBody>
      </p:sp>
      <p:pic>
        <p:nvPicPr>
          <p:cNvPr id="12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66744"/>
            <a:ext cx="384048" cy="38404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363931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full round and hear every outcome distinctly</a:t>
            </a:r>
            <a:endParaRPr lang="en-US" sz="1450" dirty="0"/>
          </a:p>
        </p:txBody>
      </p:sp>
      <p:sp>
        <p:nvSpPr>
          <p:cNvPr id="14" name="Shape 7"/>
          <p:cNvSpPr/>
          <p:nvPr/>
        </p:nvSpPr>
        <p:spPr>
          <a:xfrm>
            <a:off x="6949440" y="1508760"/>
            <a:ext cx="4709160" cy="4206240"/>
          </a:xfrm>
          <a:prstGeom prst="roundRect">
            <a:avLst>
              <a:gd name="adj" fmla="val 2609"/>
            </a:avLst>
          </a:prstGeom>
          <a:solidFill>
            <a:srgbClr val="EDF2F8"/>
          </a:solidFill>
          <a:ln/>
        </p:spPr>
      </p:sp>
      <p:sp>
        <p:nvSpPr>
          <p:cNvPr id="15" name="Text 8"/>
          <p:cNvSpPr/>
          <p:nvPr/>
        </p:nvSpPr>
        <p:spPr>
          <a:xfrm>
            <a:off x="722376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Using Today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7223760" y="214884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7498080" y="214884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laptop with all 8 engines, audio output working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7223760" y="2807208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7498080" y="280720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Godot, for the live lecture demo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7223760" y="3465576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7498080" y="346557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 sound assets: sfx_wave.wav, sfx_lose.wav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7223760" y="4123944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7498080" y="412394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reuses Lessons 2-6's optional sound ideas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7223760" y="4782312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7498080" y="478231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[YourName]Game project from Lesson 11 - not a new one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IGDA framework tie-in:  Audio - sound design fundamentals (introductory); Programming - event-driven triggers, code reuse (intermediate).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3800" dirty="0"/>
          </a:p>
        </p:txBody>
      </p:sp>
      <p:pic>
        <p:nvPicPr>
          <p:cNvPr id="4" name="Image 1" descr="icons/au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822960" cy="8229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28016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822960" y="128016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0:00 - 0:05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3017520" y="128016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back, Lesson 11 recap, the polish phase begins</a:t>
            </a:r>
            <a:endParaRPr lang="en-US" sz="1230" dirty="0"/>
          </a:p>
        </p:txBody>
      </p:sp>
      <p:sp>
        <p:nvSpPr>
          <p:cNvPr id="8" name="Shape 4"/>
          <p:cNvSpPr/>
          <p:nvPr/>
        </p:nvSpPr>
        <p:spPr>
          <a:xfrm>
            <a:off x="548640" y="18836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2960" y="188366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0:05 - 0:15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3017520" y="188366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Sound Payoff: Four Sounds, Four Existing Moments</a:t>
            </a:r>
            <a:endParaRPr lang="en-US" sz="1230" dirty="0"/>
          </a:p>
        </p:txBody>
      </p:sp>
      <p:sp>
        <p:nvSpPr>
          <p:cNvPr id="11" name="Shape 7"/>
          <p:cNvSpPr/>
          <p:nvPr/>
        </p:nvSpPr>
        <p:spPr>
          <a:xfrm>
            <a:off x="548640" y="248716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248716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0:15 - 0:35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017520" y="24871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Sound for Three Outcomes</a:t>
            </a:r>
            <a:endParaRPr lang="en-US" sz="1230" dirty="0"/>
          </a:p>
        </p:txBody>
      </p:sp>
      <p:sp>
        <p:nvSpPr>
          <p:cNvPr id="14" name="Shape 10"/>
          <p:cNvSpPr/>
          <p:nvPr/>
        </p:nvSpPr>
        <p:spPr>
          <a:xfrm>
            <a:off x="548640" y="309067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309067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0:35 - 0:45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17520" y="3090672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None of Today's Sounds Need a Retrigger Guard</a:t>
            </a:r>
            <a:endParaRPr lang="en-US" sz="1230" dirty="0"/>
          </a:p>
        </p:txBody>
      </p:sp>
      <p:sp>
        <p:nvSpPr>
          <p:cNvPr id="17" name="Shape 13"/>
          <p:cNvSpPr/>
          <p:nvPr/>
        </p:nvSpPr>
        <p:spPr>
          <a:xfrm>
            <a:off x="548640" y="369417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2960" y="36941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0:45 - 0:55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3017520" y="3694176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lab exercise, hand out engine-specific handouts</a:t>
            </a:r>
            <a:endParaRPr lang="en-US" sz="1230" dirty="0"/>
          </a:p>
        </p:txBody>
      </p:sp>
      <p:sp>
        <p:nvSpPr>
          <p:cNvPr id="20" name="Shape 16"/>
          <p:cNvSpPr/>
          <p:nvPr/>
        </p:nvSpPr>
        <p:spPr>
          <a:xfrm>
            <a:off x="548640" y="4297680"/>
            <a:ext cx="11064240" cy="420624"/>
          </a:xfrm>
          <a:prstGeom prst="roundRect">
            <a:avLst>
              <a:gd name="adj" fmla="val 17391"/>
            </a:avLst>
          </a:prstGeom>
          <a:solidFill>
            <a:srgbClr val="C99A2E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22960" y="429768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TIME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017520" y="4297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Hearing It Happen —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548640" y="480974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2960" y="480974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0:55 - 1:50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3017520" y="480974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up all four sounds, test a full round by ear</a:t>
            </a:r>
            <a:endParaRPr lang="en-US" sz="1230" dirty="0"/>
          </a:p>
        </p:txBody>
      </p:sp>
      <p:sp>
        <p:nvSpPr>
          <p:cNvPr id="26" name="Shape 22"/>
          <p:cNvSpPr/>
          <p:nvPr/>
        </p:nvSpPr>
        <p:spPr>
          <a:xfrm>
            <a:off x="548640" y="541324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22960" y="541324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1:50 - 2:00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3017520" y="541324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check: play a round for the class</a:t>
            </a:r>
            <a:endParaRPr lang="en-US" sz="1230" dirty="0"/>
          </a:p>
        </p:txBody>
      </p:sp>
      <p:sp>
        <p:nvSpPr>
          <p:cNvPr id="29" name="Text 25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Back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Complete is done. The polish phase begins.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Back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of Lesson 11:</a:t>
            </a:r>
            <a:endParaRPr lang="en-US" sz="1600" dirty="0"/>
          </a:p>
        </p:txBody>
      </p:sp>
      <p:pic>
        <p:nvPicPr>
          <p:cNvPr id="7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175564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Complete reached - a real, replayable game with multiple waves</a:t>
            </a:r>
            <a:endParaRPr lang="en-US" sz="1500" dirty="0"/>
          </a:p>
        </p:txBody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0604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253288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mechanics from here through Lesson 15 - just making the loop feel good</a:t>
            </a:r>
            <a:endParaRPr lang="en-US" sz="1500" dirty="0"/>
          </a:p>
        </p:txBody>
      </p:sp>
      <p:pic>
        <p:nvPicPr>
          <p:cNvPr id="11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83280"/>
            <a:ext cx="365760" cy="36576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51560" y="33101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sound. Next: animation, difficulty scaling, and a final polish pass</a:t>
            </a:r>
            <a:endParaRPr lang="en-US" sz="1500" dirty="0"/>
          </a:p>
        </p:txBody>
      </p:sp>
      <p:sp>
        <p:nvSpPr>
          <p:cNvPr id="13" name="Shape 7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DF2F8"/>
          </a:solidFill>
          <a:ln/>
        </p:spPr>
      </p:sp>
      <p:pic>
        <p:nvPicPr>
          <p:cNvPr id="14" name="Image 4" descr="icons/audi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572000"/>
            <a:ext cx="548640" cy="54864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508760" y="452628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own project from last week today, not a new one. Two new sound files are provided - sfx_wave.wav and sfx_lose.wav - everything else may already be in your project from earlier optional ideas.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7" name="Text 10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18" name="Text 11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Sound Payoff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sounds, four moments you already built.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Sounds, Four Existing Moments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DF2F8"/>
          </a:solidFill>
          <a:ln/>
        </p:spPr>
      </p:sp>
      <p:pic>
        <p:nvPicPr>
          <p:cNvPr id="7" name="Image 1" descr="icons/desig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Lesson 2, five lessons quietly offered an optional 'add a sound' idea. Today, four sounds become required for everyone - shoot, explosion, wave clear, and game over - matching the capstone's Level 3 feature list exactly.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48640" y="3063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logic today - just one more line at each of four places you already built.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3794760"/>
            <a:ext cx="11064240" cy="1691640"/>
          </a:xfrm>
          <a:prstGeom prst="roundRect">
            <a:avLst>
              <a:gd name="adj" fmla="val 6486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23360"/>
            <a:ext cx="329184" cy="32918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07008" y="4005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Shoot - when you fire</a:t>
            </a:r>
            <a:endParaRPr lang="en-US" sz="1400" dirty="0"/>
          </a:p>
        </p:txBody>
      </p:sp>
      <p:pic>
        <p:nvPicPr>
          <p:cNvPr id="13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023360"/>
            <a:ext cx="329184" cy="32918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601968" y="4005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Explosion - when a hit lands</a:t>
            </a:r>
            <a:endParaRPr lang="en-US" sz="1400" dirty="0"/>
          </a:p>
        </p:txBody>
      </p:sp>
      <p:pic>
        <p:nvPicPr>
          <p:cNvPr id="15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663440"/>
            <a:ext cx="329184" cy="32918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07008" y="46451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Clear - a non-final wave ends</a:t>
            </a:r>
            <a:endParaRPr lang="en-US" sz="1400" dirty="0"/>
          </a:p>
        </p:txBody>
      </p:sp>
      <p:pic>
        <p:nvPicPr>
          <p:cNvPr id="17" name="Image 5" descr="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4663440"/>
            <a:ext cx="329184" cy="329184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6601968" y="46451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Over - lives reach zero</a:t>
            </a:r>
            <a:endParaRPr lang="en-US" sz="1400" dirty="0"/>
          </a:p>
        </p:txBody>
      </p:sp>
      <p:sp>
        <p:nvSpPr>
          <p:cNvPr id="19" name="Text 11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20" name="Text 12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21" name="Text 13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programm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Shared Sound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outcomes, one player, three interchangeable clips.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Outcomes, One Player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Shoot and hit sounds are easy - one sound each, already wired since Lessons 3-4. The interesting part: win, wave-clear, and lose can never happen at the same time, so they can share ONE sound player.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EDF2F8"/>
          </a:solidFill>
          <a:ln/>
        </p:spPr>
      </p:sp>
      <p:pic>
        <p:nvPicPr>
          <p:cNvPr id="8" name="Image 1" descr="icons/programm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6032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468880"/>
            <a:ext cx="9966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demo: one AudioStreamPlayer2D, RoundSound, added to the main scene. In the exact branches Lesson 11 already built - true-win, wave-advance, and Lesson 8's lose case - set RoundSound's stream and call play().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48640" y="406908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4251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node, three interchangeable clips - the same reuse idea from every lesson this semester, just applied to a sound resource instead of a function. Unity: the same idea with PlayOneShot() and one shared AudioSource.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wre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Retrigger Guard Needed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today's four sounds are safe by construction.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 Retrigger Guard?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EDF2F8"/>
          </a:solidFill>
          <a:ln/>
        </p:spPr>
      </p:sp>
      <p:pic>
        <p:nvPicPr>
          <p:cNvPr id="7" name="Image 1" descr="icons/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9966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2's beep-beep needed an explicit stop call because it was continuous. Today's four sounds are one-shot - they finish on their own. But there's a second reason they're safe: every one lives inside a branch that only runs once per actual event.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48640" y="310896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pic>
        <p:nvPicPr>
          <p:cNvPr id="10" name="Image 2" descr="icon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19272"/>
            <a:ext cx="502920" cy="502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3246120"/>
            <a:ext cx="9966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TIC-80 note: Lesson 6's optional win sound may have needed a hasWon guard flag back then, since the check ran every frame. Lesson 10/11's restructuring moved it into a one-time hit branch - that old guard flag can be removed now if it's still there.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structure, built for one reason, quietly solves a second problem later.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p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Exercise &amp; Lab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Hearing It Happen - wiring up four sounds.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Hearing It Happen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four sounds into the exact branches that already represent their events - built on top of your existing project.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1 - Minimal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3152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sounds play at the correct moment, at least once each.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- a complete finish for today.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97680" y="210312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8056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2 - Complete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48056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fire reliably every time, none interfere with each other.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8056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works end to end.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46720" y="210312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3 - Refined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22960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optional win sound, pitch/volume variety, or tidy the code.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22960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share.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42976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pic>
        <p:nvPicPr>
          <p:cNvPr id="20" name="Image 1" descr="icons/au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498848"/>
            <a:ext cx="502920" cy="5029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63040" y="44074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full round OUT LOUD today - a shot, a hit, an early wave clear, and separately a loss - and confirm all four sound genuinely different from each other.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Time Notes</a:t>
            </a:r>
            <a:endParaRPr lang="en-US" sz="3400" dirty="0"/>
          </a:p>
        </p:txBody>
      </p:sp>
      <p:pic>
        <p:nvPicPr>
          <p:cNvPr id="4" name="Image 1" descr="icons/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14400" cy="914400"/>
          </a:xfrm>
          <a:prstGeom prst="rect">
            <a:avLst/>
          </a:prstGeom>
        </p:spPr>
      </p:pic>
      <p:pic>
        <p:nvPicPr>
          <p:cNvPr id="5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384048" cy="38404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97280" y="1463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 students who skipped the optional Lessons 2/3/4/6 ideas that today's Handout gives them full instructions, not just "add two sounds."</a:t>
            </a:r>
            <a:endParaRPr lang="en-US" sz="1350" dirty="0"/>
          </a:p>
        </p:txBody>
      </p:sp>
      <p:pic>
        <p:nvPicPr>
          <p:cNvPr id="7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51760"/>
            <a:ext cx="384048" cy="384048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097280" y="2514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 a sound call placed outside the correct if/else branch - causes two round-ending sounds to play together on the same frame.</a:t>
            </a:r>
            <a:endParaRPr lang="en-US" sz="1350" dirty="0"/>
          </a:p>
        </p:txBody>
      </p:sp>
      <p:pic>
        <p:nvPicPr>
          <p:cNvPr id="9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03320"/>
            <a:ext cx="384048" cy="384048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1097280" y="3566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as you circulate this week, not just watch the screen - a wrong or missing sound is often faster to catch by ear than by reading code.</a:t>
            </a:r>
            <a:endParaRPr lang="en-US" sz="1350" dirty="0"/>
          </a:p>
        </p:txBody>
      </p:sp>
      <p:pic>
        <p:nvPicPr>
          <p:cNvPr id="11" name="Image 5" descr="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754880"/>
            <a:ext cx="384048" cy="384048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097280" y="46177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lighter week - if a cluster finishes early, point them at Level 3 ideas rather than moving ahead to next week's material.</a:t>
            </a:r>
            <a:endParaRPr lang="en-US" sz="1350" dirty="0"/>
          </a:p>
        </p:txBody>
      </p:sp>
      <p:sp>
        <p:nvSpPr>
          <p:cNvPr id="13" name="Text 5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4" name="Text 6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15" name="Text 7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with_sl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24028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Sounds Like a Game!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371600" y="306324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shot, an explosion, a wave clear, a game over - four moments, four distinct cues.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371600" y="365760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basic animation - an explosion effect, a hit flash/reaction.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371600" y="429768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playtesting a full round at home if you'd like - try a Level 3 sound idea if you haven't already.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2026-08-01T23:26:30Z</dcterms:created>
  <dcterms:modified xsi:type="dcterms:W3CDTF">2026-08-01T23:26:30Z</dcterms:modified>
</cp:coreProperties>
</file>